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5" r:id="rId10"/>
    <p:sldId id="266" r:id="rId11"/>
    <p:sldId id="267" r:id="rId12"/>
    <p:sldId id="270" r:id="rId13"/>
    <p:sldId id="272" r:id="rId14"/>
    <p:sldId id="276" r:id="rId15"/>
    <p:sldId id="278" r:id="rId16"/>
    <p:sldId id="280" r:id="rId17"/>
    <p:sldId id="291" r:id="rId18"/>
    <p:sldId id="292" r:id="rId19"/>
    <p:sldId id="293"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04" autoAdjust="0"/>
    <p:restoredTop sz="94610"/>
  </p:normalViewPr>
  <p:slideViewPr>
    <p:cSldViewPr snapToGrid="0" snapToObjects="1">
      <p:cViewPr>
        <p:scale>
          <a:sx n="93" d="100"/>
          <a:sy n="93" d="100"/>
        </p:scale>
        <p:origin x="163" y="-2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806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deck as a file-by-file map rather than only a theory presentation.,Tell freshers that Spring Boot is built on Spring Framework; understanding the layers makes the folder structure easier to remember.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as an agenda. The deck deliberately separates “standard Maven folders” from “Spring architectural packages”.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Spring Framework provides the programming/configuration model and core technologies. Spring Boot adds conventions and automation so applications can start quickly.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Avoid defining Spring as only a web framework. The core is the IoC container; web, data, transaction and testing modules build around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“inversion”: instead of your class creating or locating dependencies, the container creates and supplies them.,Use constructor injection as the fresher default.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most important diagrams in the deck. “Configuration metadata” tells Spring what to create and how objects relate.,In modern Spring, annotations and Java configuration are most common.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bean is not a special Java type. It is normal object managed by Spring.,For ordinary Spring applications, developers usually interact conceptually with ApplicationContext.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folder name itself does not make Spring manage a class; annotations or explicit @Bean registration do.,Repository interfaces extending Spring Data repositories do not need an explicit @Repository annotation in typical Boot apps.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prevents a common fresher confusion: controller/service folders are conventions, while src/main/java is part of the Maven project layout.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Maven can override these defaults, but sticking to them makes projects predictable for teams and tools.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real systems may use package-by-feature/domain rather than package-by-layer. This deck uses layered folders because it is easier for freshers to learn.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ask learners a few placement questions: validation? business logic? DB query? HTTP path?</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that Boot does not bypass the Spring container. It configures the container.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official example is package-by-feature (customer/order). This is a useful contrast to the layered folder structure used in many beginner tutorials.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freshers, start with five core files. Then introduce DTO/exception/config as the project grows.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Maven reads pom.xml from the project directory. Boot dependency management prevents version mismatches across many libraries.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can be used as a troubleshooting checklist during lab exercises.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 this into a quick class activity by naming pieces of code and asking learners which folder they would choose.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the teaching section here before the sources. Ask learners to explain the entire picture in their own words.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8FAF7"/>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6DB33F"/>
          </a:solidFill>
          <a:ln w="12700">
            <a:solidFill>
              <a:srgbClr val="6DB33F"/>
            </a:solidFill>
            <a:prstDash val="solid"/>
          </a:ln>
        </p:spPr>
      </p:sp>
      <p:sp>
        <p:nvSpPr>
          <p:cNvPr id="3" name="Text 1"/>
          <p:cNvSpPr/>
          <p:nvPr/>
        </p:nvSpPr>
        <p:spPr>
          <a:xfrm>
            <a:off x="411480" y="6510528"/>
            <a:ext cx="4663440" cy="164592"/>
          </a:xfrm>
          <a:prstGeom prst="rect">
            <a:avLst/>
          </a:prstGeom>
          <a:noFill/>
          <a:ln/>
        </p:spPr>
        <p:txBody>
          <a:bodyPr wrap="square" lIns="0" tIns="0" rIns="0" bIns="0" rtlCol="0" anchor="ctr"/>
          <a:lstStyle/>
          <a:p>
            <a:pPr marL="0" indent="0">
              <a:buNone/>
            </a:pPr>
            <a:r>
              <a:rPr lang="en-US" sz="850" dirty="0">
                <a:solidFill>
                  <a:srgbClr val="64748B"/>
                </a:solidFill>
                <a:latin typeface="Arial" pitchFamily="34" charset="0"/>
                <a:ea typeface="Arial" pitchFamily="34" charset="-122"/>
                <a:cs typeface="Arial" pitchFamily="34" charset="-120"/>
              </a:rPr>
              <a:t>Spring Framework &amp; Spring Boot</a:t>
            </a:r>
            <a:endParaRPr lang="en-US" sz="850" dirty="0"/>
          </a:p>
        </p:txBody>
      </p:sp>
      <p:sp>
        <p:nvSpPr>
          <p:cNvPr id="25" name="Slide Number Placeholder 0"/>
          <p:cNvSpPr>
            <a:spLocks noGrp="1"/>
          </p:cNvSpPr>
          <p:nvPr>
            <p:ph type="sldNum" sz="quarter" idx="4294967295"/>
          </p:nvPr>
        </p:nvSpPr>
        <p:spPr>
          <a:xfrm>
            <a:off x="11384280" y="6473952"/>
            <a:ext cx="384048"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latin typeface="Arial"/>
                <a:ea typeface="Arial"/>
                <a:cs typeface="Aria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473952"/>
            <a:ext cx="384048"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latin typeface="Arial"/>
                <a:ea typeface="Arial"/>
                <a:cs typeface="Aria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8F1"/>
        </a:solidFill>
        <a:effectLst/>
      </p:bgPr>
    </p:bg>
    <p:spTree>
      <p:nvGrpSpPr>
        <p:cNvPr id="1" name=""/>
        <p:cNvGrpSpPr/>
        <p:nvPr/>
      </p:nvGrpSpPr>
      <p:grpSpPr>
        <a:xfrm>
          <a:off x="0" y="0"/>
          <a:ext cx="0" cy="0"/>
          <a:chOff x="0" y="0"/>
          <a:chExt cx="0" cy="0"/>
        </a:xfrm>
      </p:grpSpPr>
      <p:sp>
        <p:nvSpPr>
          <p:cNvPr id="2" name="Shape 0"/>
          <p:cNvSpPr/>
          <p:nvPr/>
        </p:nvSpPr>
        <p:spPr>
          <a:xfrm>
            <a:off x="8641080" y="685800"/>
            <a:ext cx="2834640" cy="2834640"/>
          </a:xfrm>
          <a:prstGeom prst="ellipse">
            <a:avLst/>
          </a:prstGeom>
          <a:solidFill>
            <a:srgbClr val="E9F5E4"/>
          </a:solidFill>
          <a:ln w="12700">
            <a:solidFill>
              <a:srgbClr val="D7E9CF"/>
            </a:solidFill>
            <a:prstDash val="solid"/>
          </a:ln>
        </p:spPr>
      </p:sp>
      <p:sp>
        <p:nvSpPr>
          <p:cNvPr id="3" name="Shape 1"/>
          <p:cNvSpPr/>
          <p:nvPr/>
        </p:nvSpPr>
        <p:spPr>
          <a:xfrm rot="1200000">
            <a:off x="8961120" y="914400"/>
            <a:ext cx="2194560" cy="2057400"/>
          </a:xfrm>
          <a:prstGeom prst="arc">
            <a:avLst/>
          </a:prstGeom>
          <a:solidFill>
            <a:srgbClr val="6DB33F">
              <a:alpha val="90000"/>
            </a:srgbClr>
          </a:solidFill>
          <a:ln w="25400">
            <a:solidFill>
              <a:srgbClr val="6DB33F"/>
            </a:solidFill>
            <a:prstDash val="solid"/>
          </a:ln>
        </p:spPr>
      </p:sp>
      <p:sp>
        <p:nvSpPr>
          <p:cNvPr id="4" name="Text 2"/>
          <p:cNvSpPr/>
          <p:nvPr/>
        </p:nvSpPr>
        <p:spPr>
          <a:xfrm>
            <a:off x="8915400" y="3611880"/>
            <a:ext cx="2377440" cy="365760"/>
          </a:xfrm>
          <a:prstGeom prst="rect">
            <a:avLst/>
          </a:prstGeom>
          <a:noFill/>
          <a:ln/>
        </p:spPr>
        <p:txBody>
          <a:bodyPr wrap="square" lIns="0" tIns="0" rIns="0" bIns="0" rtlCol="0" anchor="ctr"/>
          <a:lstStyle/>
          <a:p>
            <a:pPr marL="0" indent="0" algn="ctr">
              <a:buNone/>
            </a:pPr>
            <a:r>
              <a:rPr lang="en-US" sz="1700" b="1" dirty="0">
                <a:solidFill>
                  <a:srgbClr val="3E7D20"/>
                </a:solidFill>
              </a:rPr>
              <a:t>SPRING</a:t>
            </a:r>
            <a:endParaRPr lang="en-US" sz="1700" dirty="0"/>
          </a:p>
        </p:txBody>
      </p:sp>
      <p:sp>
        <p:nvSpPr>
          <p:cNvPr id="5" name="Text 3"/>
          <p:cNvSpPr/>
          <p:nvPr/>
        </p:nvSpPr>
        <p:spPr>
          <a:xfrm>
            <a:off x="658368" y="1024128"/>
            <a:ext cx="7223760" cy="1417320"/>
          </a:xfrm>
          <a:prstGeom prst="rect">
            <a:avLst/>
          </a:prstGeom>
          <a:noFill/>
          <a:ln/>
        </p:spPr>
        <p:txBody>
          <a:bodyPr wrap="square" lIns="0" tIns="0" rIns="0" bIns="0" rtlCol="0" anchor="ctr">
            <a:normAutofit/>
          </a:bodyPr>
          <a:lstStyle/>
          <a:p>
            <a:pPr marL="0" indent="0">
              <a:buNone/>
            </a:pPr>
            <a:r>
              <a:rPr lang="en-US" sz="3400" b="1" dirty="0">
                <a:solidFill>
                  <a:srgbClr val="1F2937"/>
                </a:solidFill>
              </a:rPr>
              <a:t>Spring Framework &amp;</a:t>
            </a:r>
            <a:endParaRPr lang="en-US" sz="3400" dirty="0"/>
          </a:p>
          <a:p>
            <a:pPr marL="0" indent="0">
              <a:buNone/>
            </a:pPr>
            <a:r>
              <a:rPr lang="en-US" sz="3400" b="1" dirty="0">
                <a:solidFill>
                  <a:srgbClr val="1F2937"/>
                </a:solidFill>
              </a:rPr>
              <a:t>Spring Boot</a:t>
            </a:r>
            <a:endParaRPr lang="en-US" sz="3400" dirty="0"/>
          </a:p>
        </p:txBody>
      </p:sp>
      <p:sp>
        <p:nvSpPr>
          <p:cNvPr id="6" name="Text 4"/>
          <p:cNvSpPr/>
          <p:nvPr/>
        </p:nvSpPr>
        <p:spPr>
          <a:xfrm>
            <a:off x="694944" y="2624328"/>
            <a:ext cx="7132320" cy="502920"/>
          </a:xfrm>
          <a:prstGeom prst="rect">
            <a:avLst/>
          </a:prstGeom>
          <a:noFill/>
          <a:ln/>
        </p:spPr>
        <p:txBody>
          <a:bodyPr wrap="square" lIns="0" tIns="0" rIns="0" bIns="0" rtlCol="0" anchor="ctr">
            <a:normAutofit/>
          </a:bodyPr>
          <a:lstStyle/>
          <a:p>
            <a:pPr marL="0" indent="0">
              <a:buNone/>
            </a:pPr>
            <a:r>
              <a:rPr lang="en-US" sz="1800" b="1" dirty="0">
                <a:solidFill>
                  <a:srgbClr val="3E7D20"/>
                </a:solidFill>
              </a:rPr>
              <a:t>Architecture</a:t>
            </a:r>
            <a:endParaRPr lang="en-US" sz="1800" dirty="0"/>
          </a:p>
        </p:txBody>
      </p:sp>
      <p:sp>
        <p:nvSpPr>
          <p:cNvPr id="8" name="Shape 6"/>
          <p:cNvSpPr/>
          <p:nvPr/>
        </p:nvSpPr>
        <p:spPr>
          <a:xfrm>
            <a:off x="694944" y="4343400"/>
            <a:ext cx="1463040" cy="438912"/>
          </a:xfrm>
          <a:prstGeom prst="roundRect">
            <a:avLst>
              <a:gd name="adj" fmla="val 10417"/>
            </a:avLst>
          </a:prstGeom>
          <a:solidFill>
            <a:srgbClr val="EAF2FF"/>
          </a:solidFill>
          <a:ln w="12700">
            <a:solidFill>
              <a:srgbClr val="2563EB"/>
            </a:solidFill>
            <a:prstDash val="solid"/>
          </a:ln>
        </p:spPr>
      </p:sp>
      <p:sp>
        <p:nvSpPr>
          <p:cNvPr id="9" name="Text 7"/>
          <p:cNvSpPr/>
          <p:nvPr/>
        </p:nvSpPr>
        <p:spPr>
          <a:xfrm>
            <a:off x="758952" y="4389120"/>
            <a:ext cx="1335024" cy="347472"/>
          </a:xfrm>
          <a:prstGeom prst="rect">
            <a:avLst/>
          </a:prstGeom>
          <a:noFill/>
          <a:ln/>
        </p:spPr>
        <p:txBody>
          <a:bodyPr wrap="square" lIns="254" tIns="254" rIns="254" bIns="254" rtlCol="0" anchor="ctr">
            <a:normAutofit/>
          </a:bodyPr>
          <a:lstStyle/>
          <a:p>
            <a:pPr marL="0" indent="0" algn="ctr">
              <a:buNone/>
            </a:pPr>
            <a:r>
              <a:rPr lang="en-US" sz="1300" b="1" dirty="0">
                <a:solidFill>
                  <a:srgbClr val="2563EB"/>
                </a:solidFill>
                <a:latin typeface="Arial" pitchFamily="34" charset="0"/>
                <a:ea typeface="Arial" pitchFamily="34" charset="-122"/>
                <a:cs typeface="Arial" pitchFamily="34" charset="-120"/>
              </a:rPr>
              <a:t>Java 21</a:t>
            </a:r>
            <a:endParaRPr lang="en-US" sz="1300" dirty="0"/>
          </a:p>
        </p:txBody>
      </p:sp>
      <p:sp>
        <p:nvSpPr>
          <p:cNvPr id="10" name="Shape 8"/>
          <p:cNvSpPr/>
          <p:nvPr/>
        </p:nvSpPr>
        <p:spPr>
          <a:xfrm>
            <a:off x="2331720" y="4343400"/>
            <a:ext cx="1600200" cy="438912"/>
          </a:xfrm>
          <a:prstGeom prst="roundRect">
            <a:avLst>
              <a:gd name="adj" fmla="val 10417"/>
            </a:avLst>
          </a:prstGeom>
          <a:solidFill>
            <a:srgbClr val="FFF4DB"/>
          </a:solidFill>
          <a:ln w="12700">
            <a:solidFill>
              <a:srgbClr val="F0C36C"/>
            </a:solidFill>
            <a:prstDash val="solid"/>
          </a:ln>
        </p:spPr>
      </p:sp>
      <p:sp>
        <p:nvSpPr>
          <p:cNvPr id="11" name="Text 9"/>
          <p:cNvSpPr/>
          <p:nvPr/>
        </p:nvSpPr>
        <p:spPr>
          <a:xfrm>
            <a:off x="2395728" y="4389120"/>
            <a:ext cx="1472184" cy="347472"/>
          </a:xfrm>
          <a:prstGeom prst="rect">
            <a:avLst/>
          </a:prstGeom>
          <a:noFill/>
          <a:ln/>
        </p:spPr>
        <p:txBody>
          <a:bodyPr wrap="square" lIns="254" tIns="254" rIns="254" bIns="254" rtlCol="0" anchor="ctr">
            <a:normAutofit/>
          </a:bodyPr>
          <a:lstStyle/>
          <a:p>
            <a:pPr marL="0" indent="0" algn="ctr">
              <a:buNone/>
            </a:pPr>
            <a:r>
              <a:rPr lang="en-US" sz="1300" b="1" dirty="0">
                <a:solidFill>
                  <a:srgbClr val="A16207"/>
                </a:solidFill>
                <a:latin typeface="Arial" pitchFamily="34" charset="0"/>
                <a:ea typeface="Arial" pitchFamily="34" charset="-122"/>
                <a:cs typeface="Arial" pitchFamily="34" charset="-120"/>
              </a:rPr>
              <a:t>Maven</a:t>
            </a:r>
            <a:endParaRPr lang="en-US" sz="1300" dirty="0"/>
          </a:p>
        </p:txBody>
      </p:sp>
      <p:sp>
        <p:nvSpPr>
          <p:cNvPr id="12" name="Shape 10"/>
          <p:cNvSpPr/>
          <p:nvPr/>
        </p:nvSpPr>
        <p:spPr>
          <a:xfrm>
            <a:off x="4105656" y="4343400"/>
            <a:ext cx="1828800" cy="438912"/>
          </a:xfrm>
          <a:prstGeom prst="roundRect">
            <a:avLst>
              <a:gd name="adj" fmla="val 10417"/>
            </a:avLst>
          </a:prstGeom>
          <a:solidFill>
            <a:srgbClr val="F2EBFF"/>
          </a:solidFill>
          <a:ln w="12700">
            <a:solidFill>
              <a:srgbClr val="D8C4FF"/>
            </a:solidFill>
            <a:prstDash val="solid"/>
          </a:ln>
        </p:spPr>
      </p:sp>
      <p:sp>
        <p:nvSpPr>
          <p:cNvPr id="13" name="Text 11"/>
          <p:cNvSpPr/>
          <p:nvPr/>
        </p:nvSpPr>
        <p:spPr>
          <a:xfrm>
            <a:off x="4169664" y="4389120"/>
            <a:ext cx="1700784" cy="347472"/>
          </a:xfrm>
          <a:prstGeom prst="rect">
            <a:avLst/>
          </a:prstGeom>
          <a:noFill/>
          <a:ln/>
        </p:spPr>
        <p:txBody>
          <a:bodyPr wrap="square" lIns="254" tIns="254" rIns="254" bIns="254" rtlCol="0" anchor="ctr">
            <a:normAutofit/>
          </a:bodyPr>
          <a:lstStyle/>
          <a:p>
            <a:pPr marL="0" indent="0" algn="ctr">
              <a:buNone/>
            </a:pPr>
            <a:r>
              <a:rPr lang="en-US" sz="1300" b="1" dirty="0">
                <a:solidFill>
                  <a:srgbClr val="7C3AED"/>
                </a:solidFill>
                <a:latin typeface="Arial" pitchFamily="34" charset="0"/>
                <a:ea typeface="Arial" pitchFamily="34" charset="-122"/>
                <a:cs typeface="Arial" pitchFamily="34" charset="-120"/>
              </a:rPr>
              <a:t>Spring MVC</a:t>
            </a:r>
            <a:endParaRPr lang="en-US" sz="1300" dirty="0"/>
          </a:p>
        </p:txBody>
      </p:sp>
      <p:sp>
        <p:nvSpPr>
          <p:cNvPr id="14" name="Shape 12"/>
          <p:cNvSpPr/>
          <p:nvPr/>
        </p:nvSpPr>
        <p:spPr>
          <a:xfrm>
            <a:off x="6108192" y="4343400"/>
            <a:ext cx="1828800" cy="438912"/>
          </a:xfrm>
          <a:prstGeom prst="roundRect">
            <a:avLst>
              <a:gd name="adj" fmla="val 10417"/>
            </a:avLst>
          </a:prstGeom>
          <a:solidFill>
            <a:srgbClr val="E6F7F4"/>
          </a:solidFill>
          <a:ln w="12700">
            <a:solidFill>
              <a:srgbClr val="B9E8DF"/>
            </a:solidFill>
            <a:prstDash val="solid"/>
          </a:ln>
        </p:spPr>
      </p:sp>
      <p:sp>
        <p:nvSpPr>
          <p:cNvPr id="15" name="Text 13"/>
          <p:cNvSpPr/>
          <p:nvPr/>
        </p:nvSpPr>
        <p:spPr>
          <a:xfrm>
            <a:off x="6172200" y="4389120"/>
            <a:ext cx="1700784" cy="347472"/>
          </a:xfrm>
          <a:prstGeom prst="rect">
            <a:avLst/>
          </a:prstGeom>
          <a:noFill/>
          <a:ln/>
        </p:spPr>
        <p:txBody>
          <a:bodyPr wrap="square" lIns="254" tIns="254" rIns="254" bIns="254" rtlCol="0" anchor="ctr">
            <a:normAutofit/>
          </a:bodyPr>
          <a:lstStyle/>
          <a:p>
            <a:pPr marL="0" indent="0" algn="ctr">
              <a:buNone/>
            </a:pPr>
            <a:r>
              <a:rPr lang="en-US" sz="1300" b="1" dirty="0">
                <a:solidFill>
                  <a:srgbClr val="0F766E"/>
                </a:solidFill>
                <a:latin typeface="Arial" pitchFamily="34" charset="0"/>
                <a:ea typeface="Arial" pitchFamily="34" charset="-122"/>
                <a:cs typeface="Arial" pitchFamily="34" charset="-120"/>
              </a:rPr>
              <a:t>Spring Data</a:t>
            </a:r>
            <a:endParaRPr lang="en-US" sz="1300" dirty="0"/>
          </a:p>
        </p:txBody>
      </p:sp>
      <p:sp>
        <p:nvSpPr>
          <p:cNvPr id="25" name="Slide Number Placeholder 0"/>
          <p:cNvSpPr>
            <a:spLocks noGrp="1"/>
          </p:cNvSpPr>
          <p:nvPr>
            <p:ph type="sldNum" sz="quarter" idx="4294967295"/>
          </p:nvPr>
        </p:nvSpPr>
        <p:spPr>
          <a:xfrm>
            <a:off x="11384280" y="6473952"/>
            <a:ext cx="384048"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latin typeface="Arial"/>
                <a:ea typeface="Arial"/>
                <a:cs typeface="Arial"/>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310896"/>
            <a:ext cx="11064240" cy="475488"/>
          </a:xfrm>
          <a:prstGeom prst="rect">
            <a:avLst/>
          </a:prstGeom>
          <a:noFill/>
          <a:ln/>
        </p:spPr>
        <p:txBody>
          <a:bodyPr wrap="square" lIns="0" tIns="0" rIns="0" bIns="0" rtlCol="0" anchor="ctr">
            <a:normAutofit/>
          </a:bodyPr>
          <a:lstStyle/>
          <a:p>
            <a:pPr marL="0" indent="0">
              <a:buNone/>
            </a:pPr>
            <a:r>
              <a:rPr lang="en-US" sz="2700" b="1" dirty="0">
                <a:solidFill>
                  <a:srgbClr val="1F2937"/>
                </a:solidFill>
                <a:latin typeface="Arial" pitchFamily="34" charset="0"/>
                <a:ea typeface="Arial" pitchFamily="34" charset="-122"/>
                <a:cs typeface="Arial" pitchFamily="34" charset="-120"/>
              </a:rPr>
              <a:t>What you will understand by the end</a:t>
            </a:r>
            <a:endParaRPr lang="en-US" sz="2700" dirty="0"/>
          </a:p>
        </p:txBody>
      </p:sp>
      <p:sp>
        <p:nvSpPr>
          <p:cNvPr id="4" name="Shape 2"/>
          <p:cNvSpPr/>
          <p:nvPr/>
        </p:nvSpPr>
        <p:spPr>
          <a:xfrm>
            <a:off x="594360" y="1325880"/>
            <a:ext cx="3383280" cy="1874520"/>
          </a:xfrm>
          <a:prstGeom prst="roundRect">
            <a:avLst>
              <a:gd name="adj" fmla="val 3902"/>
            </a:avLst>
          </a:prstGeom>
          <a:solidFill>
            <a:srgbClr val="FFFFFF"/>
          </a:solidFill>
          <a:ln w="12700">
            <a:solidFill>
              <a:srgbClr val="D8E2D2"/>
            </a:solidFill>
            <a:prstDash val="solid"/>
          </a:ln>
          <a:effectLst>
            <a:outerShdw blurRad="19050" dist="50800" dir="2700000" algn="bl" rotWithShape="0">
              <a:srgbClr val="D1D5DB">
                <a:alpha val="12000"/>
              </a:srgbClr>
            </a:outerShdw>
          </a:effectLst>
        </p:spPr>
      </p:sp>
      <p:sp>
        <p:nvSpPr>
          <p:cNvPr id="5" name="Shape 3"/>
          <p:cNvSpPr/>
          <p:nvPr/>
        </p:nvSpPr>
        <p:spPr>
          <a:xfrm>
            <a:off x="594360" y="1325880"/>
            <a:ext cx="73152" cy="1874520"/>
          </a:xfrm>
          <a:prstGeom prst="rect">
            <a:avLst/>
          </a:prstGeom>
          <a:solidFill>
            <a:srgbClr val="6DB33F"/>
          </a:solidFill>
          <a:ln w="12700">
            <a:solidFill>
              <a:srgbClr val="6DB33F"/>
            </a:solidFill>
            <a:prstDash val="solid"/>
          </a:ln>
        </p:spPr>
      </p:sp>
      <p:sp>
        <p:nvSpPr>
          <p:cNvPr id="6" name="Shape 4"/>
          <p:cNvSpPr/>
          <p:nvPr/>
        </p:nvSpPr>
        <p:spPr>
          <a:xfrm>
            <a:off x="758952" y="1490472"/>
            <a:ext cx="438912" cy="438912"/>
          </a:xfrm>
          <a:prstGeom prst="ellipse">
            <a:avLst/>
          </a:prstGeom>
          <a:solidFill>
            <a:srgbClr val="6DB33F"/>
          </a:solidFill>
          <a:ln w="12700">
            <a:solidFill>
              <a:srgbClr val="6DB33F"/>
            </a:solidFill>
            <a:prstDash val="solid"/>
          </a:ln>
        </p:spPr>
      </p:sp>
      <p:sp>
        <p:nvSpPr>
          <p:cNvPr id="7" name="Text 5"/>
          <p:cNvSpPr/>
          <p:nvPr/>
        </p:nvSpPr>
        <p:spPr>
          <a:xfrm>
            <a:off x="758952" y="1527048"/>
            <a:ext cx="438912" cy="292608"/>
          </a:xfrm>
          <a:prstGeom prst="rect">
            <a:avLst/>
          </a:prstGeom>
          <a:noFill/>
          <a:ln/>
        </p:spPr>
        <p:txBody>
          <a:bodyPr wrap="square" lIns="0" tIns="0" rIns="0" bIns="0" rtlCol="0" anchor="ctr"/>
          <a:lstStyle/>
          <a:p>
            <a:pPr marL="0" indent="0" algn="ctr">
              <a:buNone/>
            </a:pPr>
            <a:r>
              <a:rPr lang="en-US" sz="1500" b="1" dirty="0">
                <a:solidFill>
                  <a:srgbClr val="FFFFFF"/>
                </a:solidFill>
              </a:rPr>
              <a:t>1</a:t>
            </a:r>
            <a:endParaRPr lang="en-US" sz="1500" dirty="0"/>
          </a:p>
        </p:txBody>
      </p:sp>
      <p:sp>
        <p:nvSpPr>
          <p:cNvPr id="8" name="Text 6"/>
          <p:cNvSpPr/>
          <p:nvPr/>
        </p:nvSpPr>
        <p:spPr>
          <a:xfrm>
            <a:off x="1307592" y="1472184"/>
            <a:ext cx="2505456" cy="310896"/>
          </a:xfrm>
          <a:prstGeom prst="rect">
            <a:avLst/>
          </a:prstGeom>
          <a:noFill/>
          <a:ln/>
        </p:spPr>
        <p:txBody>
          <a:bodyPr wrap="square" lIns="0" tIns="0" rIns="0" bIns="0" rtlCol="0" anchor="ctr">
            <a:normAutofit/>
          </a:bodyPr>
          <a:lstStyle/>
          <a:p>
            <a:pPr marL="0" indent="0">
              <a:buNone/>
            </a:pPr>
            <a:r>
              <a:rPr lang="en-US" sz="1650" b="1" dirty="0">
                <a:solidFill>
                  <a:srgbClr val="1F2937"/>
                </a:solidFill>
              </a:rPr>
              <a:t>1. Spring Framework</a:t>
            </a:r>
            <a:endParaRPr lang="en-US" sz="1650" dirty="0"/>
          </a:p>
        </p:txBody>
      </p:sp>
      <p:sp>
        <p:nvSpPr>
          <p:cNvPr id="9" name="Text 7"/>
          <p:cNvSpPr/>
          <p:nvPr/>
        </p:nvSpPr>
        <p:spPr>
          <a:xfrm>
            <a:off x="777240" y="1984248"/>
            <a:ext cx="3017520" cy="1069848"/>
          </a:xfrm>
          <a:prstGeom prst="rect">
            <a:avLst/>
          </a:prstGeom>
          <a:noFill/>
          <a:ln/>
        </p:spPr>
        <p:txBody>
          <a:bodyPr wrap="square" lIns="254" tIns="254" rIns="254" bIns="254" rtlCol="0" anchor="t">
            <a:normAutofit/>
          </a:bodyPr>
          <a:lstStyle/>
          <a:p>
            <a:pPr marL="0" indent="0">
              <a:buNone/>
            </a:pPr>
            <a:r>
              <a:rPr lang="en-US" sz="1280" dirty="0">
                <a:solidFill>
                  <a:srgbClr val="64748B"/>
                </a:solidFill>
              </a:rPr>
              <a:t>IoC, Dependency Injection, beans, ApplicationContext, modules, MVC request flow.</a:t>
            </a:r>
            <a:endParaRPr lang="en-US" sz="1280" dirty="0"/>
          </a:p>
        </p:txBody>
      </p:sp>
      <p:sp>
        <p:nvSpPr>
          <p:cNvPr id="10" name="Shape 8"/>
          <p:cNvSpPr/>
          <p:nvPr/>
        </p:nvSpPr>
        <p:spPr>
          <a:xfrm>
            <a:off x="4407408" y="1325880"/>
            <a:ext cx="3383280" cy="1874520"/>
          </a:xfrm>
          <a:prstGeom prst="roundRect">
            <a:avLst>
              <a:gd name="adj" fmla="val 3902"/>
            </a:avLst>
          </a:prstGeom>
          <a:solidFill>
            <a:srgbClr val="FFFFFF"/>
          </a:solidFill>
          <a:ln w="12700">
            <a:solidFill>
              <a:srgbClr val="D8E2D2"/>
            </a:solidFill>
            <a:prstDash val="solid"/>
          </a:ln>
          <a:effectLst>
            <a:outerShdw blurRad="19050" dist="50800" dir="2700000" algn="bl" rotWithShape="0">
              <a:srgbClr val="D1D5DB">
                <a:alpha val="12000"/>
              </a:srgbClr>
            </a:outerShdw>
          </a:effectLst>
        </p:spPr>
      </p:sp>
      <p:sp>
        <p:nvSpPr>
          <p:cNvPr id="11" name="Shape 9"/>
          <p:cNvSpPr/>
          <p:nvPr/>
        </p:nvSpPr>
        <p:spPr>
          <a:xfrm>
            <a:off x="4407408" y="1325880"/>
            <a:ext cx="73152" cy="1874520"/>
          </a:xfrm>
          <a:prstGeom prst="rect">
            <a:avLst/>
          </a:prstGeom>
          <a:solidFill>
            <a:srgbClr val="2563EB"/>
          </a:solidFill>
          <a:ln w="12700">
            <a:solidFill>
              <a:srgbClr val="2563EB"/>
            </a:solidFill>
            <a:prstDash val="solid"/>
          </a:ln>
        </p:spPr>
      </p:sp>
      <p:sp>
        <p:nvSpPr>
          <p:cNvPr id="12" name="Shape 10"/>
          <p:cNvSpPr/>
          <p:nvPr/>
        </p:nvSpPr>
        <p:spPr>
          <a:xfrm>
            <a:off x="4572000" y="1490472"/>
            <a:ext cx="438912" cy="438912"/>
          </a:xfrm>
          <a:prstGeom prst="ellipse">
            <a:avLst/>
          </a:prstGeom>
          <a:solidFill>
            <a:srgbClr val="2563EB"/>
          </a:solidFill>
          <a:ln w="12700">
            <a:solidFill>
              <a:srgbClr val="2563EB"/>
            </a:solidFill>
            <a:prstDash val="solid"/>
          </a:ln>
        </p:spPr>
      </p:sp>
      <p:sp>
        <p:nvSpPr>
          <p:cNvPr id="13" name="Text 11"/>
          <p:cNvSpPr/>
          <p:nvPr/>
        </p:nvSpPr>
        <p:spPr>
          <a:xfrm>
            <a:off x="4572000" y="1527048"/>
            <a:ext cx="438912" cy="292608"/>
          </a:xfrm>
          <a:prstGeom prst="rect">
            <a:avLst/>
          </a:prstGeom>
          <a:noFill/>
          <a:ln/>
        </p:spPr>
        <p:txBody>
          <a:bodyPr wrap="square" lIns="0" tIns="0" rIns="0" bIns="0" rtlCol="0" anchor="ctr"/>
          <a:lstStyle/>
          <a:p>
            <a:pPr marL="0" indent="0" algn="ctr">
              <a:buNone/>
            </a:pPr>
            <a:r>
              <a:rPr lang="en-US" sz="1500" b="1" dirty="0">
                <a:solidFill>
                  <a:srgbClr val="FFFFFF"/>
                </a:solidFill>
              </a:rPr>
              <a:t>2</a:t>
            </a:r>
            <a:endParaRPr lang="en-US" sz="1500" dirty="0"/>
          </a:p>
        </p:txBody>
      </p:sp>
      <p:sp>
        <p:nvSpPr>
          <p:cNvPr id="14" name="Text 12"/>
          <p:cNvSpPr/>
          <p:nvPr/>
        </p:nvSpPr>
        <p:spPr>
          <a:xfrm>
            <a:off x="5120640" y="1472184"/>
            <a:ext cx="2505456" cy="310896"/>
          </a:xfrm>
          <a:prstGeom prst="rect">
            <a:avLst/>
          </a:prstGeom>
          <a:noFill/>
          <a:ln/>
        </p:spPr>
        <p:txBody>
          <a:bodyPr wrap="square" lIns="0" tIns="0" rIns="0" bIns="0" rtlCol="0" anchor="ctr">
            <a:normAutofit/>
          </a:bodyPr>
          <a:lstStyle/>
          <a:p>
            <a:pPr marL="0" indent="0">
              <a:buNone/>
            </a:pPr>
            <a:r>
              <a:rPr lang="en-US" sz="1650" b="1" dirty="0">
                <a:solidFill>
                  <a:srgbClr val="1F2937"/>
                </a:solidFill>
              </a:rPr>
              <a:t>2. Spring Boot</a:t>
            </a:r>
            <a:endParaRPr lang="en-US" sz="1650" dirty="0"/>
          </a:p>
        </p:txBody>
      </p:sp>
      <p:sp>
        <p:nvSpPr>
          <p:cNvPr id="15" name="Text 13"/>
          <p:cNvSpPr/>
          <p:nvPr/>
        </p:nvSpPr>
        <p:spPr>
          <a:xfrm>
            <a:off x="4590288" y="1984248"/>
            <a:ext cx="3017520" cy="1069848"/>
          </a:xfrm>
          <a:prstGeom prst="rect">
            <a:avLst/>
          </a:prstGeom>
          <a:noFill/>
          <a:ln/>
        </p:spPr>
        <p:txBody>
          <a:bodyPr wrap="square" lIns="254" tIns="254" rIns="254" bIns="254" rtlCol="0" anchor="t">
            <a:normAutofit/>
          </a:bodyPr>
          <a:lstStyle/>
          <a:p>
            <a:pPr marL="0" indent="0">
              <a:buNone/>
            </a:pPr>
            <a:r>
              <a:rPr lang="en-US" sz="1280" dirty="0">
                <a:solidFill>
                  <a:srgbClr val="64748B"/>
                </a:solidFill>
              </a:rPr>
              <a:t>Why Boot exists, auto-configuration, starters, embedded server, application startup.</a:t>
            </a:r>
            <a:endParaRPr lang="en-US" sz="1280" dirty="0"/>
          </a:p>
        </p:txBody>
      </p:sp>
      <p:sp>
        <p:nvSpPr>
          <p:cNvPr id="16" name="Shape 14"/>
          <p:cNvSpPr/>
          <p:nvPr/>
        </p:nvSpPr>
        <p:spPr>
          <a:xfrm>
            <a:off x="8211312" y="1325880"/>
            <a:ext cx="3383280" cy="1874520"/>
          </a:xfrm>
          <a:prstGeom prst="roundRect">
            <a:avLst>
              <a:gd name="adj" fmla="val 3902"/>
            </a:avLst>
          </a:prstGeom>
          <a:solidFill>
            <a:srgbClr val="FFFFFF"/>
          </a:solidFill>
          <a:ln w="12700">
            <a:solidFill>
              <a:srgbClr val="D8E2D2"/>
            </a:solidFill>
            <a:prstDash val="solid"/>
          </a:ln>
          <a:effectLst>
            <a:outerShdw blurRad="19050" dist="50800" dir="2700000" algn="bl" rotWithShape="0">
              <a:srgbClr val="D1D5DB">
                <a:alpha val="12000"/>
              </a:srgbClr>
            </a:outerShdw>
          </a:effectLst>
        </p:spPr>
      </p:sp>
      <p:sp>
        <p:nvSpPr>
          <p:cNvPr id="17" name="Shape 15"/>
          <p:cNvSpPr/>
          <p:nvPr/>
        </p:nvSpPr>
        <p:spPr>
          <a:xfrm>
            <a:off x="8211312" y="1325880"/>
            <a:ext cx="73152" cy="1874520"/>
          </a:xfrm>
          <a:prstGeom prst="rect">
            <a:avLst/>
          </a:prstGeom>
          <a:solidFill>
            <a:srgbClr val="7C3AED"/>
          </a:solidFill>
          <a:ln w="12700">
            <a:solidFill>
              <a:srgbClr val="7C3AED"/>
            </a:solidFill>
            <a:prstDash val="solid"/>
          </a:ln>
        </p:spPr>
      </p:sp>
      <p:sp>
        <p:nvSpPr>
          <p:cNvPr id="18" name="Shape 16"/>
          <p:cNvSpPr/>
          <p:nvPr/>
        </p:nvSpPr>
        <p:spPr>
          <a:xfrm>
            <a:off x="8375904" y="1490472"/>
            <a:ext cx="438912" cy="438912"/>
          </a:xfrm>
          <a:prstGeom prst="ellipse">
            <a:avLst/>
          </a:prstGeom>
          <a:solidFill>
            <a:srgbClr val="7C3AED"/>
          </a:solidFill>
          <a:ln w="12700">
            <a:solidFill>
              <a:srgbClr val="7C3AED"/>
            </a:solidFill>
            <a:prstDash val="solid"/>
          </a:ln>
        </p:spPr>
      </p:sp>
      <p:sp>
        <p:nvSpPr>
          <p:cNvPr id="19" name="Text 17"/>
          <p:cNvSpPr/>
          <p:nvPr/>
        </p:nvSpPr>
        <p:spPr>
          <a:xfrm>
            <a:off x="8375904" y="1527048"/>
            <a:ext cx="438912" cy="292608"/>
          </a:xfrm>
          <a:prstGeom prst="rect">
            <a:avLst/>
          </a:prstGeom>
          <a:noFill/>
          <a:ln/>
        </p:spPr>
        <p:txBody>
          <a:bodyPr wrap="square" lIns="0" tIns="0" rIns="0" bIns="0" rtlCol="0" anchor="ctr"/>
          <a:lstStyle/>
          <a:p>
            <a:pPr marL="0" indent="0" algn="ctr">
              <a:buNone/>
            </a:pPr>
            <a:r>
              <a:rPr lang="en-US" sz="1500" b="1" dirty="0">
                <a:solidFill>
                  <a:srgbClr val="FFFFFF"/>
                </a:solidFill>
              </a:rPr>
              <a:t>3</a:t>
            </a:r>
            <a:endParaRPr lang="en-US" sz="1500" dirty="0"/>
          </a:p>
        </p:txBody>
      </p:sp>
      <p:sp>
        <p:nvSpPr>
          <p:cNvPr id="20" name="Text 18"/>
          <p:cNvSpPr/>
          <p:nvPr/>
        </p:nvSpPr>
        <p:spPr>
          <a:xfrm>
            <a:off x="8924544" y="1472184"/>
            <a:ext cx="2505456" cy="310896"/>
          </a:xfrm>
          <a:prstGeom prst="rect">
            <a:avLst/>
          </a:prstGeom>
          <a:noFill/>
          <a:ln/>
        </p:spPr>
        <p:txBody>
          <a:bodyPr wrap="square" lIns="0" tIns="0" rIns="0" bIns="0" rtlCol="0" anchor="ctr">
            <a:normAutofit/>
          </a:bodyPr>
          <a:lstStyle/>
          <a:p>
            <a:pPr marL="0" indent="0">
              <a:buNone/>
            </a:pPr>
            <a:r>
              <a:rPr lang="en-US" sz="1650" b="1" dirty="0">
                <a:solidFill>
                  <a:srgbClr val="1F2937"/>
                </a:solidFill>
              </a:rPr>
              <a:t>3. Folder Structure</a:t>
            </a:r>
            <a:endParaRPr lang="en-US" sz="1650" dirty="0"/>
          </a:p>
        </p:txBody>
      </p:sp>
      <p:sp>
        <p:nvSpPr>
          <p:cNvPr id="21" name="Text 19"/>
          <p:cNvSpPr/>
          <p:nvPr/>
        </p:nvSpPr>
        <p:spPr>
          <a:xfrm>
            <a:off x="8394192" y="1984248"/>
            <a:ext cx="3017520" cy="1069848"/>
          </a:xfrm>
          <a:prstGeom prst="rect">
            <a:avLst/>
          </a:prstGeom>
          <a:noFill/>
          <a:ln/>
        </p:spPr>
        <p:txBody>
          <a:bodyPr wrap="square" lIns="254" tIns="254" rIns="254" bIns="254" rtlCol="0" anchor="t">
            <a:normAutofit/>
          </a:bodyPr>
          <a:lstStyle/>
          <a:p>
            <a:pPr marL="0" indent="0">
              <a:buNone/>
            </a:pPr>
            <a:r>
              <a:rPr lang="en-US" sz="1280" dirty="0">
                <a:solidFill>
                  <a:srgbClr val="64748B"/>
                </a:solidFill>
              </a:rPr>
              <a:t>Maven standard folders, root package, layer folders, resources and tests.</a:t>
            </a:r>
            <a:endParaRPr lang="en-US" sz="1280" dirty="0"/>
          </a:p>
        </p:txBody>
      </p:sp>
      <p:sp>
        <p:nvSpPr>
          <p:cNvPr id="22" name="Shape 20"/>
          <p:cNvSpPr/>
          <p:nvPr/>
        </p:nvSpPr>
        <p:spPr>
          <a:xfrm>
            <a:off x="2514600" y="3703320"/>
            <a:ext cx="3383280" cy="1783080"/>
          </a:xfrm>
          <a:prstGeom prst="roundRect">
            <a:avLst>
              <a:gd name="adj" fmla="val 4103"/>
            </a:avLst>
          </a:prstGeom>
          <a:solidFill>
            <a:srgbClr val="FFFFFF"/>
          </a:solidFill>
          <a:ln w="12700">
            <a:solidFill>
              <a:srgbClr val="D8E2D2"/>
            </a:solidFill>
            <a:prstDash val="solid"/>
          </a:ln>
          <a:effectLst>
            <a:outerShdw blurRad="19050" dist="50800" dir="2700000" algn="bl" rotWithShape="0">
              <a:srgbClr val="D1D5DB">
                <a:alpha val="12000"/>
              </a:srgbClr>
            </a:outerShdw>
          </a:effectLst>
        </p:spPr>
      </p:sp>
      <p:sp>
        <p:nvSpPr>
          <p:cNvPr id="23" name="Shape 21"/>
          <p:cNvSpPr/>
          <p:nvPr/>
        </p:nvSpPr>
        <p:spPr>
          <a:xfrm>
            <a:off x="2514600" y="3703320"/>
            <a:ext cx="73152" cy="1783080"/>
          </a:xfrm>
          <a:prstGeom prst="rect">
            <a:avLst/>
          </a:prstGeom>
          <a:solidFill>
            <a:srgbClr val="F59E0B"/>
          </a:solidFill>
          <a:ln w="12700">
            <a:solidFill>
              <a:srgbClr val="F59E0B"/>
            </a:solidFill>
            <a:prstDash val="solid"/>
          </a:ln>
        </p:spPr>
      </p:sp>
      <p:sp>
        <p:nvSpPr>
          <p:cNvPr id="24" name="Shape 22"/>
          <p:cNvSpPr/>
          <p:nvPr/>
        </p:nvSpPr>
        <p:spPr>
          <a:xfrm>
            <a:off x="2679192" y="3867912"/>
            <a:ext cx="438912" cy="438912"/>
          </a:xfrm>
          <a:prstGeom prst="ellipse">
            <a:avLst/>
          </a:prstGeom>
          <a:solidFill>
            <a:srgbClr val="F59E0B"/>
          </a:solidFill>
          <a:ln w="12700">
            <a:solidFill>
              <a:srgbClr val="F59E0B"/>
            </a:solidFill>
            <a:prstDash val="solid"/>
          </a:ln>
        </p:spPr>
      </p:sp>
      <p:sp>
        <p:nvSpPr>
          <p:cNvPr id="25" name="Text 23"/>
          <p:cNvSpPr/>
          <p:nvPr/>
        </p:nvSpPr>
        <p:spPr>
          <a:xfrm>
            <a:off x="2679192" y="3904488"/>
            <a:ext cx="438912" cy="292608"/>
          </a:xfrm>
          <a:prstGeom prst="rect">
            <a:avLst/>
          </a:prstGeom>
          <a:noFill/>
          <a:ln/>
        </p:spPr>
        <p:txBody>
          <a:bodyPr wrap="square" lIns="0" tIns="0" rIns="0" bIns="0" rtlCol="0" anchor="ctr"/>
          <a:lstStyle/>
          <a:p>
            <a:pPr marL="0" indent="0" algn="ctr">
              <a:buNone/>
            </a:pPr>
            <a:r>
              <a:rPr lang="en-US" sz="1500" b="1" dirty="0">
                <a:solidFill>
                  <a:srgbClr val="FFFFFF"/>
                </a:solidFill>
              </a:rPr>
              <a:t>4</a:t>
            </a:r>
            <a:endParaRPr lang="en-US" sz="1500" dirty="0"/>
          </a:p>
        </p:txBody>
      </p:sp>
      <p:sp>
        <p:nvSpPr>
          <p:cNvPr id="26" name="Text 24"/>
          <p:cNvSpPr/>
          <p:nvPr/>
        </p:nvSpPr>
        <p:spPr>
          <a:xfrm>
            <a:off x="3227832" y="3849624"/>
            <a:ext cx="2505456" cy="310896"/>
          </a:xfrm>
          <a:prstGeom prst="rect">
            <a:avLst/>
          </a:prstGeom>
          <a:noFill/>
          <a:ln/>
        </p:spPr>
        <p:txBody>
          <a:bodyPr wrap="square" lIns="0" tIns="0" rIns="0" bIns="0" rtlCol="0" anchor="ctr">
            <a:normAutofit/>
          </a:bodyPr>
          <a:lstStyle/>
          <a:p>
            <a:pPr marL="0" indent="0">
              <a:buNone/>
            </a:pPr>
            <a:r>
              <a:rPr lang="en-US" sz="1650" b="1" dirty="0">
                <a:solidFill>
                  <a:srgbClr val="1F2937"/>
                </a:solidFill>
              </a:rPr>
              <a:t>4. Every Important File</a:t>
            </a:r>
            <a:endParaRPr lang="en-US" sz="1650" dirty="0"/>
          </a:p>
        </p:txBody>
      </p:sp>
      <p:sp>
        <p:nvSpPr>
          <p:cNvPr id="27" name="Text 25"/>
          <p:cNvSpPr/>
          <p:nvPr/>
        </p:nvSpPr>
        <p:spPr>
          <a:xfrm>
            <a:off x="2697480" y="4361688"/>
            <a:ext cx="3017520" cy="978408"/>
          </a:xfrm>
          <a:prstGeom prst="rect">
            <a:avLst/>
          </a:prstGeom>
          <a:noFill/>
          <a:ln/>
        </p:spPr>
        <p:txBody>
          <a:bodyPr wrap="square" lIns="254" tIns="254" rIns="254" bIns="254" rtlCol="0" anchor="t">
            <a:normAutofit/>
          </a:bodyPr>
          <a:lstStyle/>
          <a:p>
            <a:pPr marL="0" indent="0">
              <a:buNone/>
            </a:pPr>
            <a:r>
              <a:rPr lang="en-US" sz="1280" dirty="0">
                <a:solidFill>
                  <a:srgbClr val="64748B"/>
                </a:solidFill>
              </a:rPr>
              <a:t>pom.xml, Application.java, properties/YAML, Controller, Service, Repository, Entity, DTO and more.</a:t>
            </a:r>
            <a:endParaRPr lang="en-US" sz="1280" dirty="0"/>
          </a:p>
        </p:txBody>
      </p:sp>
      <p:sp>
        <p:nvSpPr>
          <p:cNvPr id="28" name="Shape 26"/>
          <p:cNvSpPr/>
          <p:nvPr/>
        </p:nvSpPr>
        <p:spPr>
          <a:xfrm>
            <a:off x="6309360" y="3703320"/>
            <a:ext cx="3383280" cy="1783080"/>
          </a:xfrm>
          <a:prstGeom prst="roundRect">
            <a:avLst>
              <a:gd name="adj" fmla="val 4103"/>
            </a:avLst>
          </a:prstGeom>
          <a:solidFill>
            <a:srgbClr val="FFFFFF"/>
          </a:solidFill>
          <a:ln w="12700">
            <a:solidFill>
              <a:srgbClr val="D8E2D2"/>
            </a:solidFill>
            <a:prstDash val="solid"/>
          </a:ln>
          <a:effectLst>
            <a:outerShdw blurRad="19050" dist="50800" dir="2700000" algn="bl" rotWithShape="0">
              <a:srgbClr val="D1D5DB">
                <a:alpha val="12000"/>
              </a:srgbClr>
            </a:outerShdw>
          </a:effectLst>
        </p:spPr>
      </p:sp>
      <p:sp>
        <p:nvSpPr>
          <p:cNvPr id="29" name="Shape 27"/>
          <p:cNvSpPr/>
          <p:nvPr/>
        </p:nvSpPr>
        <p:spPr>
          <a:xfrm>
            <a:off x="6309360" y="3703320"/>
            <a:ext cx="73152" cy="1783080"/>
          </a:xfrm>
          <a:prstGeom prst="rect">
            <a:avLst/>
          </a:prstGeom>
          <a:solidFill>
            <a:srgbClr val="0F766E"/>
          </a:solidFill>
          <a:ln w="12700">
            <a:solidFill>
              <a:srgbClr val="0F766E"/>
            </a:solidFill>
            <a:prstDash val="solid"/>
          </a:ln>
        </p:spPr>
      </p:sp>
      <p:sp>
        <p:nvSpPr>
          <p:cNvPr id="30" name="Shape 28"/>
          <p:cNvSpPr/>
          <p:nvPr/>
        </p:nvSpPr>
        <p:spPr>
          <a:xfrm>
            <a:off x="6473952" y="3867912"/>
            <a:ext cx="438912" cy="438912"/>
          </a:xfrm>
          <a:prstGeom prst="ellipse">
            <a:avLst/>
          </a:prstGeom>
          <a:solidFill>
            <a:srgbClr val="0F766E"/>
          </a:solidFill>
          <a:ln w="12700">
            <a:solidFill>
              <a:srgbClr val="0F766E"/>
            </a:solidFill>
            <a:prstDash val="solid"/>
          </a:ln>
        </p:spPr>
      </p:sp>
      <p:sp>
        <p:nvSpPr>
          <p:cNvPr id="31" name="Text 29"/>
          <p:cNvSpPr/>
          <p:nvPr/>
        </p:nvSpPr>
        <p:spPr>
          <a:xfrm>
            <a:off x="6473952" y="3904488"/>
            <a:ext cx="438912" cy="292608"/>
          </a:xfrm>
          <a:prstGeom prst="rect">
            <a:avLst/>
          </a:prstGeom>
          <a:noFill/>
          <a:ln/>
        </p:spPr>
        <p:txBody>
          <a:bodyPr wrap="square" lIns="0" tIns="0" rIns="0" bIns="0" rtlCol="0" anchor="ctr"/>
          <a:lstStyle/>
          <a:p>
            <a:pPr marL="0" indent="0" algn="ctr">
              <a:buNone/>
            </a:pPr>
            <a:r>
              <a:rPr lang="en-US" sz="1500" b="1" dirty="0">
                <a:solidFill>
                  <a:srgbClr val="FFFFFF"/>
                </a:solidFill>
              </a:rPr>
              <a:t>5</a:t>
            </a:r>
            <a:endParaRPr lang="en-US" sz="1500" dirty="0"/>
          </a:p>
        </p:txBody>
      </p:sp>
      <p:sp>
        <p:nvSpPr>
          <p:cNvPr id="32" name="Text 30"/>
          <p:cNvSpPr/>
          <p:nvPr/>
        </p:nvSpPr>
        <p:spPr>
          <a:xfrm>
            <a:off x="7022592" y="3849624"/>
            <a:ext cx="2505456" cy="310896"/>
          </a:xfrm>
          <a:prstGeom prst="rect">
            <a:avLst/>
          </a:prstGeom>
          <a:noFill/>
          <a:ln/>
        </p:spPr>
        <p:txBody>
          <a:bodyPr wrap="square" lIns="0" tIns="0" rIns="0" bIns="0" rtlCol="0" anchor="ctr">
            <a:normAutofit/>
          </a:bodyPr>
          <a:lstStyle/>
          <a:p>
            <a:pPr marL="0" indent="0">
              <a:buNone/>
            </a:pPr>
            <a:r>
              <a:rPr lang="en-US" sz="1650" b="1" dirty="0">
                <a:solidFill>
                  <a:srgbClr val="1F2937"/>
                </a:solidFill>
              </a:rPr>
              <a:t>5. End-to-End Example</a:t>
            </a:r>
            <a:endParaRPr lang="en-US" sz="1650" dirty="0"/>
          </a:p>
        </p:txBody>
      </p:sp>
      <p:sp>
        <p:nvSpPr>
          <p:cNvPr id="33" name="Text 31"/>
          <p:cNvSpPr/>
          <p:nvPr/>
        </p:nvSpPr>
        <p:spPr>
          <a:xfrm>
            <a:off x="6492240" y="4361688"/>
            <a:ext cx="3017520" cy="978408"/>
          </a:xfrm>
          <a:prstGeom prst="rect">
            <a:avLst/>
          </a:prstGeom>
          <a:noFill/>
          <a:ln/>
        </p:spPr>
        <p:txBody>
          <a:bodyPr wrap="square" lIns="254" tIns="254" rIns="254" bIns="254" rtlCol="0" anchor="t">
            <a:normAutofit/>
          </a:bodyPr>
          <a:lstStyle/>
          <a:p>
            <a:pPr marL="0" indent="0">
              <a:buNone/>
            </a:pPr>
            <a:r>
              <a:rPr lang="en-US" sz="1280" dirty="0">
                <a:solidFill>
                  <a:srgbClr val="64748B"/>
                </a:solidFill>
              </a:rPr>
              <a:t>Employee REST/JPA project mapped to MySQL so each file has a real purpose.</a:t>
            </a:r>
            <a:endParaRPr lang="en-US" sz="1280" dirty="0"/>
          </a:p>
        </p:txBody>
      </p:sp>
      <p:sp>
        <p:nvSpPr>
          <p:cNvPr id="34" name="Slide Number Placeholder 0"/>
          <p:cNvSpPr>
            <a:spLocks noGrp="1"/>
          </p:cNvSpPr>
          <p:nvPr>
            <p:ph type="sldNum" sz="quarter" idx="4294967295"/>
          </p:nvPr>
        </p:nvSpPr>
        <p:spPr>
          <a:xfrm>
            <a:off x="11384280" y="6473952"/>
            <a:ext cx="384048"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latin typeface="Arial"/>
                <a:ea typeface="Arial"/>
                <a:cs typeface="Aria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310896"/>
            <a:ext cx="11064240" cy="475488"/>
          </a:xfrm>
          <a:prstGeom prst="rect">
            <a:avLst/>
          </a:prstGeom>
          <a:noFill/>
          <a:ln/>
        </p:spPr>
        <p:txBody>
          <a:bodyPr wrap="square" lIns="0" tIns="0" rIns="0" bIns="0" rtlCol="0" anchor="ctr">
            <a:normAutofit/>
          </a:bodyPr>
          <a:lstStyle/>
          <a:p>
            <a:pPr marL="0" indent="0">
              <a:buNone/>
            </a:pPr>
            <a:r>
              <a:rPr lang="en-US" sz="2700" b="1" dirty="0">
                <a:solidFill>
                  <a:srgbClr val="1F2937"/>
                </a:solidFill>
                <a:latin typeface="Arial" pitchFamily="34" charset="0"/>
                <a:ea typeface="Arial" pitchFamily="34" charset="-122"/>
                <a:cs typeface="Arial" pitchFamily="34" charset="-120"/>
              </a:rPr>
              <a:t>Spring ecosystem at a glance</a:t>
            </a:r>
            <a:endParaRPr lang="en-US" sz="2700" dirty="0"/>
          </a:p>
        </p:txBody>
      </p:sp>
      <p:sp>
        <p:nvSpPr>
          <p:cNvPr id="3" name="Text 1"/>
          <p:cNvSpPr/>
          <p:nvPr/>
        </p:nvSpPr>
        <p:spPr>
          <a:xfrm>
            <a:off x="530352" y="804672"/>
            <a:ext cx="10881360" cy="310896"/>
          </a:xfrm>
          <a:prstGeom prst="rect">
            <a:avLst/>
          </a:prstGeom>
          <a:noFill/>
          <a:ln/>
        </p:spPr>
        <p:txBody>
          <a:bodyPr wrap="square" lIns="0" tIns="0" rIns="0" bIns="0" rtlCol="0" anchor="ctr">
            <a:normAutofit/>
          </a:bodyPr>
          <a:lstStyle/>
          <a:p>
            <a:pPr marL="0" indent="0">
              <a:buNone/>
            </a:pPr>
            <a:r>
              <a:rPr lang="en-US" sz="1250" dirty="0">
                <a:solidFill>
                  <a:srgbClr val="64748B"/>
                </a:solidFill>
                <a:latin typeface="Arial" pitchFamily="34" charset="0"/>
                <a:ea typeface="Arial" pitchFamily="34" charset="-122"/>
                <a:cs typeface="Arial" pitchFamily="34" charset="-120"/>
              </a:rPr>
              <a:t>Spring Framework is the foundation; Spring Boot accelerates application setup and runtime</a:t>
            </a:r>
            <a:endParaRPr lang="en-US" sz="1250" dirty="0"/>
          </a:p>
        </p:txBody>
      </p:sp>
      <p:sp>
        <p:nvSpPr>
          <p:cNvPr id="4" name="Shape 2"/>
          <p:cNvSpPr/>
          <p:nvPr/>
        </p:nvSpPr>
        <p:spPr>
          <a:xfrm>
            <a:off x="3977640" y="1371600"/>
            <a:ext cx="4251960" cy="566928"/>
          </a:xfrm>
          <a:prstGeom prst="roundRect">
            <a:avLst>
              <a:gd name="adj" fmla="val 8065"/>
            </a:avLst>
          </a:prstGeom>
          <a:solidFill>
            <a:srgbClr val="FFFFFF"/>
          </a:solidFill>
          <a:ln w="12700">
            <a:solidFill>
              <a:srgbClr val="CBD5E1"/>
            </a:solidFill>
            <a:prstDash val="solid"/>
          </a:ln>
        </p:spPr>
      </p:sp>
      <p:sp>
        <p:nvSpPr>
          <p:cNvPr id="5" name="Text 3"/>
          <p:cNvSpPr/>
          <p:nvPr/>
        </p:nvSpPr>
        <p:spPr>
          <a:xfrm>
            <a:off x="4041648" y="1417320"/>
            <a:ext cx="4123944" cy="475488"/>
          </a:xfrm>
          <a:prstGeom prst="rect">
            <a:avLst/>
          </a:prstGeom>
          <a:noFill/>
          <a:ln/>
        </p:spPr>
        <p:txBody>
          <a:bodyPr wrap="square" lIns="254" tIns="254" rIns="254" bIns="254" rtlCol="0" anchor="ctr">
            <a:normAutofit/>
          </a:bodyPr>
          <a:lstStyle/>
          <a:p>
            <a:pPr marL="0" indent="0" algn="ctr">
              <a:buNone/>
            </a:pPr>
            <a:r>
              <a:rPr lang="en-US" sz="2000" b="1" dirty="0">
                <a:solidFill>
                  <a:srgbClr val="1F2937"/>
                </a:solidFill>
                <a:latin typeface="Arial" pitchFamily="34" charset="0"/>
                <a:ea typeface="Arial" pitchFamily="34" charset="-122"/>
                <a:cs typeface="Arial" pitchFamily="34" charset="-120"/>
              </a:rPr>
              <a:t>Your Java Application</a:t>
            </a:r>
            <a:endParaRPr lang="en-US" sz="2000" dirty="0"/>
          </a:p>
        </p:txBody>
      </p:sp>
      <p:sp>
        <p:nvSpPr>
          <p:cNvPr id="6" name="Shape 4"/>
          <p:cNvSpPr/>
          <p:nvPr/>
        </p:nvSpPr>
        <p:spPr>
          <a:xfrm>
            <a:off x="6108192" y="1938528"/>
            <a:ext cx="0" cy="457200"/>
          </a:xfrm>
          <a:prstGeom prst="line">
            <a:avLst/>
          </a:prstGeom>
          <a:noFill/>
          <a:ln w="31750">
            <a:solidFill>
              <a:srgbClr val="6DB33F"/>
            </a:solidFill>
            <a:prstDash val="solid"/>
            <a:tailEnd type="triangle"/>
          </a:ln>
        </p:spPr>
      </p:sp>
      <p:sp>
        <p:nvSpPr>
          <p:cNvPr id="7" name="Shape 5"/>
          <p:cNvSpPr/>
          <p:nvPr/>
        </p:nvSpPr>
        <p:spPr>
          <a:xfrm>
            <a:off x="3611880" y="2432304"/>
            <a:ext cx="4983480" cy="658368"/>
          </a:xfrm>
          <a:prstGeom prst="roundRect">
            <a:avLst>
              <a:gd name="adj" fmla="val 6944"/>
            </a:avLst>
          </a:prstGeom>
          <a:solidFill>
            <a:srgbClr val="EAF7E3"/>
          </a:solidFill>
          <a:ln w="12700">
            <a:solidFill>
              <a:srgbClr val="A8D98E"/>
            </a:solidFill>
            <a:prstDash val="solid"/>
          </a:ln>
        </p:spPr>
      </p:sp>
      <p:sp>
        <p:nvSpPr>
          <p:cNvPr id="8" name="Text 6"/>
          <p:cNvSpPr/>
          <p:nvPr/>
        </p:nvSpPr>
        <p:spPr>
          <a:xfrm>
            <a:off x="3675888" y="2478024"/>
            <a:ext cx="4855464" cy="566928"/>
          </a:xfrm>
          <a:prstGeom prst="rect">
            <a:avLst/>
          </a:prstGeom>
          <a:noFill/>
          <a:ln/>
        </p:spPr>
        <p:txBody>
          <a:bodyPr wrap="square" lIns="254" tIns="254" rIns="254" bIns="254" rtlCol="0" anchor="ctr">
            <a:normAutofit/>
          </a:bodyPr>
          <a:lstStyle/>
          <a:p>
            <a:pPr marL="0" indent="0" algn="ctr">
              <a:buNone/>
            </a:pPr>
            <a:r>
              <a:rPr lang="en-US" sz="2200" b="1" dirty="0">
                <a:solidFill>
                  <a:srgbClr val="3E7D20"/>
                </a:solidFill>
                <a:latin typeface="Arial" pitchFamily="34" charset="0"/>
                <a:ea typeface="Arial" pitchFamily="34" charset="-122"/>
                <a:cs typeface="Arial" pitchFamily="34" charset="-120"/>
              </a:rPr>
              <a:t>Spring Boot</a:t>
            </a:r>
            <a:endParaRPr lang="en-US" sz="2200" dirty="0"/>
          </a:p>
        </p:txBody>
      </p:sp>
      <p:sp>
        <p:nvSpPr>
          <p:cNvPr id="9" name="Shape 7"/>
          <p:cNvSpPr/>
          <p:nvPr/>
        </p:nvSpPr>
        <p:spPr>
          <a:xfrm>
            <a:off x="6108192" y="3090672"/>
            <a:ext cx="0" cy="438912"/>
          </a:xfrm>
          <a:prstGeom prst="line">
            <a:avLst/>
          </a:prstGeom>
          <a:noFill/>
          <a:ln w="31750">
            <a:solidFill>
              <a:srgbClr val="6DB33F"/>
            </a:solidFill>
            <a:prstDash val="solid"/>
            <a:tailEnd type="triangle"/>
          </a:ln>
        </p:spPr>
      </p:sp>
      <p:sp>
        <p:nvSpPr>
          <p:cNvPr id="10" name="Shape 8"/>
          <p:cNvSpPr/>
          <p:nvPr/>
        </p:nvSpPr>
        <p:spPr>
          <a:xfrm>
            <a:off x="3154680" y="3566160"/>
            <a:ext cx="5897880" cy="713232"/>
          </a:xfrm>
          <a:prstGeom prst="roundRect">
            <a:avLst>
              <a:gd name="adj" fmla="val 6410"/>
            </a:avLst>
          </a:prstGeom>
          <a:solidFill>
            <a:srgbClr val="F3F4F6"/>
          </a:solidFill>
          <a:ln w="12700">
            <a:solidFill>
              <a:srgbClr val="CBD5E1"/>
            </a:solidFill>
            <a:prstDash val="solid"/>
          </a:ln>
        </p:spPr>
      </p:sp>
      <p:sp>
        <p:nvSpPr>
          <p:cNvPr id="11" name="Text 9"/>
          <p:cNvSpPr/>
          <p:nvPr/>
        </p:nvSpPr>
        <p:spPr>
          <a:xfrm>
            <a:off x="3218688" y="3611880"/>
            <a:ext cx="5769864" cy="621792"/>
          </a:xfrm>
          <a:prstGeom prst="rect">
            <a:avLst/>
          </a:prstGeom>
          <a:noFill/>
          <a:ln/>
        </p:spPr>
        <p:txBody>
          <a:bodyPr wrap="square" lIns="254" tIns="254" rIns="254" bIns="254" rtlCol="0" anchor="ctr">
            <a:normAutofit/>
          </a:bodyPr>
          <a:lstStyle/>
          <a:p>
            <a:pPr marL="0" indent="0" algn="ctr">
              <a:buNone/>
            </a:pPr>
            <a:r>
              <a:rPr lang="en-US" sz="2300" b="1" dirty="0">
                <a:solidFill>
                  <a:srgbClr val="1F2937"/>
                </a:solidFill>
                <a:latin typeface="Arial" pitchFamily="34" charset="0"/>
                <a:ea typeface="Arial" pitchFamily="34" charset="-122"/>
                <a:cs typeface="Arial" pitchFamily="34" charset="-120"/>
              </a:rPr>
              <a:t>Spring Framework</a:t>
            </a:r>
            <a:endParaRPr lang="en-US" sz="2300" dirty="0"/>
          </a:p>
        </p:txBody>
      </p:sp>
      <p:sp>
        <p:nvSpPr>
          <p:cNvPr id="12" name="Shape 10"/>
          <p:cNvSpPr/>
          <p:nvPr/>
        </p:nvSpPr>
        <p:spPr>
          <a:xfrm>
            <a:off x="1051560" y="4736592"/>
            <a:ext cx="1417320" cy="530352"/>
          </a:xfrm>
          <a:prstGeom prst="roundRect">
            <a:avLst>
              <a:gd name="adj" fmla="val 8621"/>
            </a:avLst>
          </a:prstGeom>
          <a:solidFill>
            <a:srgbClr val="EAF2FF"/>
          </a:solidFill>
          <a:ln w="12700">
            <a:solidFill>
              <a:srgbClr val="D1D5DB"/>
            </a:solidFill>
            <a:prstDash val="solid"/>
          </a:ln>
        </p:spPr>
      </p:sp>
      <p:sp>
        <p:nvSpPr>
          <p:cNvPr id="13" name="Text 11"/>
          <p:cNvSpPr/>
          <p:nvPr/>
        </p:nvSpPr>
        <p:spPr>
          <a:xfrm>
            <a:off x="1115568" y="4782312"/>
            <a:ext cx="1289304" cy="438912"/>
          </a:xfrm>
          <a:prstGeom prst="rect">
            <a:avLst/>
          </a:prstGeom>
          <a:noFill/>
          <a:ln/>
        </p:spPr>
        <p:txBody>
          <a:bodyPr wrap="square" lIns="254" tIns="254" rIns="254" bIns="254" rtlCol="0" anchor="ctr">
            <a:normAutofit/>
          </a:bodyPr>
          <a:lstStyle/>
          <a:p>
            <a:pPr marL="0" indent="0" algn="ctr">
              <a:buNone/>
            </a:pPr>
            <a:r>
              <a:rPr lang="en-US" sz="1220" b="1" dirty="0">
                <a:solidFill>
                  <a:srgbClr val="2563EB"/>
                </a:solidFill>
                <a:latin typeface="Arial" pitchFamily="34" charset="0"/>
                <a:ea typeface="Arial" pitchFamily="34" charset="-122"/>
                <a:cs typeface="Arial" pitchFamily="34" charset="-120"/>
              </a:rPr>
              <a:t>Spring MVC</a:t>
            </a:r>
            <a:endParaRPr lang="en-US" sz="1220" dirty="0"/>
          </a:p>
        </p:txBody>
      </p:sp>
      <p:sp>
        <p:nvSpPr>
          <p:cNvPr id="14" name="Shape 12"/>
          <p:cNvSpPr/>
          <p:nvPr/>
        </p:nvSpPr>
        <p:spPr>
          <a:xfrm>
            <a:off x="2880360" y="4736592"/>
            <a:ext cx="1417320" cy="530352"/>
          </a:xfrm>
          <a:prstGeom prst="roundRect">
            <a:avLst>
              <a:gd name="adj" fmla="val 8621"/>
            </a:avLst>
          </a:prstGeom>
          <a:solidFill>
            <a:srgbClr val="E6F7F4"/>
          </a:solidFill>
          <a:ln w="12700">
            <a:solidFill>
              <a:srgbClr val="D1D5DB"/>
            </a:solidFill>
            <a:prstDash val="solid"/>
          </a:ln>
        </p:spPr>
      </p:sp>
      <p:sp>
        <p:nvSpPr>
          <p:cNvPr id="15" name="Text 13"/>
          <p:cNvSpPr/>
          <p:nvPr/>
        </p:nvSpPr>
        <p:spPr>
          <a:xfrm>
            <a:off x="2944368" y="4782312"/>
            <a:ext cx="1289304" cy="438912"/>
          </a:xfrm>
          <a:prstGeom prst="rect">
            <a:avLst/>
          </a:prstGeom>
          <a:noFill/>
          <a:ln/>
        </p:spPr>
        <p:txBody>
          <a:bodyPr wrap="square" lIns="254" tIns="254" rIns="254" bIns="254" rtlCol="0" anchor="ctr">
            <a:normAutofit/>
          </a:bodyPr>
          <a:lstStyle/>
          <a:p>
            <a:pPr marL="0" indent="0" algn="ctr">
              <a:buNone/>
            </a:pPr>
            <a:r>
              <a:rPr lang="en-US" sz="1220" b="1" dirty="0">
                <a:solidFill>
                  <a:srgbClr val="0F766E"/>
                </a:solidFill>
                <a:latin typeface="Arial" pitchFamily="34" charset="0"/>
                <a:ea typeface="Arial" pitchFamily="34" charset="-122"/>
                <a:cs typeface="Arial" pitchFamily="34" charset="-120"/>
              </a:rPr>
              <a:t>Spring Data</a:t>
            </a:r>
            <a:endParaRPr lang="en-US" sz="1220" dirty="0"/>
          </a:p>
        </p:txBody>
      </p:sp>
      <p:sp>
        <p:nvSpPr>
          <p:cNvPr id="16" name="Shape 14"/>
          <p:cNvSpPr/>
          <p:nvPr/>
        </p:nvSpPr>
        <p:spPr>
          <a:xfrm>
            <a:off x="4709160" y="4736592"/>
            <a:ext cx="1417320" cy="530352"/>
          </a:xfrm>
          <a:prstGeom prst="roundRect">
            <a:avLst>
              <a:gd name="adj" fmla="val 8621"/>
            </a:avLst>
          </a:prstGeom>
          <a:solidFill>
            <a:srgbClr val="F2EBFF"/>
          </a:solidFill>
          <a:ln w="12700">
            <a:solidFill>
              <a:srgbClr val="D1D5DB"/>
            </a:solidFill>
            <a:prstDash val="solid"/>
          </a:ln>
        </p:spPr>
      </p:sp>
      <p:sp>
        <p:nvSpPr>
          <p:cNvPr id="17" name="Text 15"/>
          <p:cNvSpPr/>
          <p:nvPr/>
        </p:nvSpPr>
        <p:spPr>
          <a:xfrm>
            <a:off x="4773168" y="4782312"/>
            <a:ext cx="1289304" cy="438912"/>
          </a:xfrm>
          <a:prstGeom prst="rect">
            <a:avLst/>
          </a:prstGeom>
          <a:noFill/>
          <a:ln/>
        </p:spPr>
        <p:txBody>
          <a:bodyPr wrap="square" lIns="254" tIns="254" rIns="254" bIns="254" rtlCol="0" anchor="ctr">
            <a:normAutofit/>
          </a:bodyPr>
          <a:lstStyle/>
          <a:p>
            <a:pPr marL="0" indent="0" algn="ctr">
              <a:buNone/>
            </a:pPr>
            <a:r>
              <a:rPr lang="en-US" sz="1220" b="1" dirty="0">
                <a:solidFill>
                  <a:srgbClr val="7C3AED"/>
                </a:solidFill>
                <a:latin typeface="Arial" pitchFamily="34" charset="0"/>
                <a:ea typeface="Arial" pitchFamily="34" charset="-122"/>
                <a:cs typeface="Arial" pitchFamily="34" charset="-120"/>
              </a:rPr>
              <a:t>Spring Security</a:t>
            </a:r>
            <a:endParaRPr lang="en-US" sz="1220" dirty="0"/>
          </a:p>
        </p:txBody>
      </p:sp>
      <p:sp>
        <p:nvSpPr>
          <p:cNvPr id="18" name="Shape 16"/>
          <p:cNvSpPr/>
          <p:nvPr/>
        </p:nvSpPr>
        <p:spPr>
          <a:xfrm>
            <a:off x="6537960" y="4736592"/>
            <a:ext cx="1417320" cy="530352"/>
          </a:xfrm>
          <a:prstGeom prst="roundRect">
            <a:avLst>
              <a:gd name="adj" fmla="val 8621"/>
            </a:avLst>
          </a:prstGeom>
          <a:solidFill>
            <a:srgbClr val="FFF4DB"/>
          </a:solidFill>
          <a:ln w="12700">
            <a:solidFill>
              <a:srgbClr val="D1D5DB"/>
            </a:solidFill>
            <a:prstDash val="solid"/>
          </a:ln>
        </p:spPr>
      </p:sp>
      <p:sp>
        <p:nvSpPr>
          <p:cNvPr id="19" name="Text 17"/>
          <p:cNvSpPr/>
          <p:nvPr/>
        </p:nvSpPr>
        <p:spPr>
          <a:xfrm>
            <a:off x="6601968" y="4782312"/>
            <a:ext cx="1289304" cy="438912"/>
          </a:xfrm>
          <a:prstGeom prst="rect">
            <a:avLst/>
          </a:prstGeom>
          <a:noFill/>
          <a:ln/>
        </p:spPr>
        <p:txBody>
          <a:bodyPr wrap="square" lIns="254" tIns="254" rIns="254" bIns="254" rtlCol="0" anchor="ctr">
            <a:normAutofit/>
          </a:bodyPr>
          <a:lstStyle/>
          <a:p>
            <a:pPr marL="0" indent="0" algn="ctr">
              <a:buNone/>
            </a:pPr>
            <a:r>
              <a:rPr lang="en-US" sz="1220" b="1" dirty="0">
                <a:solidFill>
                  <a:srgbClr val="A16207"/>
                </a:solidFill>
                <a:latin typeface="Arial" pitchFamily="34" charset="0"/>
                <a:ea typeface="Arial" pitchFamily="34" charset="-122"/>
                <a:cs typeface="Arial" pitchFamily="34" charset="-120"/>
              </a:rPr>
              <a:t>Spring Batch</a:t>
            </a:r>
            <a:endParaRPr lang="en-US" sz="1220" dirty="0"/>
          </a:p>
        </p:txBody>
      </p:sp>
      <p:sp>
        <p:nvSpPr>
          <p:cNvPr id="20" name="Shape 18"/>
          <p:cNvSpPr/>
          <p:nvPr/>
        </p:nvSpPr>
        <p:spPr>
          <a:xfrm>
            <a:off x="8366760" y="4736592"/>
            <a:ext cx="1417320" cy="530352"/>
          </a:xfrm>
          <a:prstGeom prst="roundRect">
            <a:avLst>
              <a:gd name="adj" fmla="val 8621"/>
            </a:avLst>
          </a:prstGeom>
          <a:solidFill>
            <a:srgbClr val="FDECEC"/>
          </a:solidFill>
          <a:ln w="12700">
            <a:solidFill>
              <a:srgbClr val="D1D5DB"/>
            </a:solidFill>
            <a:prstDash val="solid"/>
          </a:ln>
        </p:spPr>
      </p:sp>
      <p:sp>
        <p:nvSpPr>
          <p:cNvPr id="21" name="Text 19"/>
          <p:cNvSpPr/>
          <p:nvPr/>
        </p:nvSpPr>
        <p:spPr>
          <a:xfrm>
            <a:off x="8430768" y="4782312"/>
            <a:ext cx="1289304" cy="438912"/>
          </a:xfrm>
          <a:prstGeom prst="rect">
            <a:avLst/>
          </a:prstGeom>
          <a:noFill/>
          <a:ln/>
        </p:spPr>
        <p:txBody>
          <a:bodyPr wrap="square" lIns="254" tIns="254" rIns="254" bIns="254" rtlCol="0" anchor="ctr">
            <a:normAutofit/>
          </a:bodyPr>
          <a:lstStyle/>
          <a:p>
            <a:pPr marL="0" indent="0" algn="ctr">
              <a:buNone/>
            </a:pPr>
            <a:r>
              <a:rPr lang="en-US" sz="1220" b="1" dirty="0">
                <a:solidFill>
                  <a:srgbClr val="DC2626"/>
                </a:solidFill>
                <a:latin typeface="Arial" pitchFamily="34" charset="0"/>
                <a:ea typeface="Arial" pitchFamily="34" charset="-122"/>
                <a:cs typeface="Arial" pitchFamily="34" charset="-120"/>
              </a:rPr>
              <a:t>Spring Integration</a:t>
            </a:r>
            <a:endParaRPr lang="en-US" sz="1220" dirty="0"/>
          </a:p>
        </p:txBody>
      </p:sp>
      <p:sp>
        <p:nvSpPr>
          <p:cNvPr id="22" name="Shape 20"/>
          <p:cNvSpPr/>
          <p:nvPr/>
        </p:nvSpPr>
        <p:spPr>
          <a:xfrm>
            <a:off x="10195560" y="4736592"/>
            <a:ext cx="1417320" cy="530352"/>
          </a:xfrm>
          <a:prstGeom prst="roundRect">
            <a:avLst>
              <a:gd name="adj" fmla="val 8621"/>
            </a:avLst>
          </a:prstGeom>
          <a:solidFill>
            <a:srgbClr val="EEF2FF"/>
          </a:solidFill>
          <a:ln w="12700">
            <a:solidFill>
              <a:srgbClr val="D1D5DB"/>
            </a:solidFill>
            <a:prstDash val="solid"/>
          </a:ln>
        </p:spPr>
      </p:sp>
      <p:sp>
        <p:nvSpPr>
          <p:cNvPr id="23" name="Text 21"/>
          <p:cNvSpPr/>
          <p:nvPr/>
        </p:nvSpPr>
        <p:spPr>
          <a:xfrm>
            <a:off x="10259568" y="4782312"/>
            <a:ext cx="1289304" cy="438912"/>
          </a:xfrm>
          <a:prstGeom prst="rect">
            <a:avLst/>
          </a:prstGeom>
          <a:noFill/>
          <a:ln/>
        </p:spPr>
        <p:txBody>
          <a:bodyPr wrap="square" lIns="254" tIns="254" rIns="254" bIns="254" rtlCol="0" anchor="ctr">
            <a:normAutofit/>
          </a:bodyPr>
          <a:lstStyle/>
          <a:p>
            <a:pPr marL="0" indent="0" algn="ctr">
              <a:buNone/>
            </a:pPr>
            <a:r>
              <a:rPr lang="en-US" sz="1220" b="1" dirty="0">
                <a:solidFill>
                  <a:srgbClr val="4338CA"/>
                </a:solidFill>
                <a:latin typeface="Arial" pitchFamily="34" charset="0"/>
                <a:ea typeface="Arial" pitchFamily="34" charset="-122"/>
                <a:cs typeface="Arial" pitchFamily="34" charset="-120"/>
              </a:rPr>
              <a:t>Spring Test</a:t>
            </a:r>
            <a:endParaRPr lang="en-US" sz="1220" dirty="0"/>
          </a:p>
        </p:txBody>
      </p:sp>
      <p:sp>
        <p:nvSpPr>
          <p:cNvPr id="24" name="Text 22"/>
          <p:cNvSpPr/>
          <p:nvPr/>
        </p:nvSpPr>
        <p:spPr>
          <a:xfrm>
            <a:off x="1874520" y="5532120"/>
            <a:ext cx="8458200" cy="420624"/>
          </a:xfrm>
          <a:prstGeom prst="rect">
            <a:avLst/>
          </a:prstGeom>
          <a:noFill/>
          <a:ln/>
        </p:spPr>
        <p:txBody>
          <a:bodyPr wrap="square" lIns="0" tIns="0" rIns="0" bIns="0" rtlCol="0" anchor="ctr">
            <a:normAutofit/>
          </a:bodyPr>
          <a:lstStyle/>
          <a:p>
            <a:pPr marL="0" indent="0" algn="ctr">
              <a:buNone/>
            </a:pPr>
            <a:r>
              <a:rPr lang="en-US" sz="1550" b="1" dirty="0">
                <a:solidFill>
                  <a:srgbClr val="1F2937"/>
                </a:solidFill>
              </a:rPr>
              <a:t>Think of Spring Boot as a convenient “launchpad” built on top of Spring Framework—not a replacement for it.</a:t>
            </a:r>
            <a:endParaRPr lang="en-US" sz="1550" dirty="0"/>
          </a:p>
        </p:txBody>
      </p:sp>
      <p:sp>
        <p:nvSpPr>
          <p:cNvPr id="26" name="Slide Number Placeholder 0"/>
          <p:cNvSpPr>
            <a:spLocks noGrp="1"/>
          </p:cNvSpPr>
          <p:nvPr>
            <p:ph type="sldNum" sz="quarter" idx="4294967295"/>
          </p:nvPr>
        </p:nvSpPr>
        <p:spPr>
          <a:xfrm>
            <a:off x="11384280" y="6473952"/>
            <a:ext cx="384048"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latin typeface="Arial"/>
                <a:ea typeface="Arial"/>
                <a:cs typeface="Aria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310896"/>
            <a:ext cx="11064240" cy="475488"/>
          </a:xfrm>
          <a:prstGeom prst="rect">
            <a:avLst/>
          </a:prstGeom>
          <a:noFill/>
          <a:ln/>
        </p:spPr>
        <p:txBody>
          <a:bodyPr wrap="square" lIns="0" tIns="0" rIns="0" bIns="0" rtlCol="0" anchor="ctr">
            <a:normAutofit/>
          </a:bodyPr>
          <a:lstStyle/>
          <a:p>
            <a:pPr marL="0" indent="0">
              <a:buNone/>
            </a:pPr>
            <a:r>
              <a:rPr lang="en-US" sz="2700" b="1" dirty="0">
                <a:solidFill>
                  <a:srgbClr val="1F2937"/>
                </a:solidFill>
                <a:latin typeface="Arial" pitchFamily="34" charset="0"/>
                <a:ea typeface="Arial" pitchFamily="34" charset="-122"/>
                <a:cs typeface="Arial" pitchFamily="34" charset="-120"/>
              </a:rPr>
              <a:t>What is the Spring Framework?</a:t>
            </a:r>
            <a:endParaRPr lang="en-US" sz="2700" dirty="0"/>
          </a:p>
        </p:txBody>
      </p:sp>
      <p:sp>
        <p:nvSpPr>
          <p:cNvPr id="3" name="Text 1"/>
          <p:cNvSpPr/>
          <p:nvPr/>
        </p:nvSpPr>
        <p:spPr>
          <a:xfrm>
            <a:off x="530352" y="804672"/>
            <a:ext cx="10881360" cy="310896"/>
          </a:xfrm>
          <a:prstGeom prst="rect">
            <a:avLst/>
          </a:prstGeom>
          <a:noFill/>
          <a:ln/>
        </p:spPr>
        <p:txBody>
          <a:bodyPr wrap="square" lIns="0" tIns="0" rIns="0" bIns="0" rtlCol="0" anchor="ctr">
            <a:normAutofit/>
          </a:bodyPr>
          <a:lstStyle/>
          <a:p>
            <a:pPr marL="0" indent="0">
              <a:buNone/>
            </a:pPr>
            <a:r>
              <a:rPr lang="en-US" sz="1250" dirty="0">
                <a:solidFill>
                  <a:srgbClr val="64748B"/>
                </a:solidFill>
                <a:latin typeface="Arial" pitchFamily="34" charset="0"/>
                <a:ea typeface="Arial" pitchFamily="34" charset="-122"/>
                <a:cs typeface="Arial" pitchFamily="34" charset="-120"/>
              </a:rPr>
              <a:t>A comprehensive programming and configuration model for modern Java applications</a:t>
            </a:r>
            <a:endParaRPr lang="en-US" sz="1250" dirty="0"/>
          </a:p>
        </p:txBody>
      </p:sp>
      <p:sp>
        <p:nvSpPr>
          <p:cNvPr id="4" name="Shape 2"/>
          <p:cNvSpPr/>
          <p:nvPr/>
        </p:nvSpPr>
        <p:spPr>
          <a:xfrm>
            <a:off x="640080" y="1325880"/>
            <a:ext cx="3383280" cy="1463040"/>
          </a:xfrm>
          <a:prstGeom prst="roundRect">
            <a:avLst>
              <a:gd name="adj" fmla="val 5000"/>
            </a:avLst>
          </a:prstGeom>
          <a:solidFill>
            <a:srgbClr val="FFFFFF"/>
          </a:solidFill>
          <a:ln w="12700">
            <a:solidFill>
              <a:srgbClr val="D8E2D2"/>
            </a:solidFill>
            <a:prstDash val="solid"/>
          </a:ln>
          <a:effectLst>
            <a:outerShdw blurRad="19050" dist="50800" dir="2700000" algn="bl" rotWithShape="0">
              <a:srgbClr val="D1D5DB">
                <a:alpha val="12000"/>
              </a:srgbClr>
            </a:outerShdw>
          </a:effectLst>
        </p:spPr>
      </p:sp>
      <p:sp>
        <p:nvSpPr>
          <p:cNvPr id="5" name="Shape 3"/>
          <p:cNvSpPr/>
          <p:nvPr/>
        </p:nvSpPr>
        <p:spPr>
          <a:xfrm>
            <a:off x="640080" y="1325880"/>
            <a:ext cx="73152" cy="1463040"/>
          </a:xfrm>
          <a:prstGeom prst="rect">
            <a:avLst/>
          </a:prstGeom>
          <a:solidFill>
            <a:srgbClr val="6DB33F"/>
          </a:solidFill>
          <a:ln w="12700">
            <a:solidFill>
              <a:srgbClr val="6DB33F"/>
            </a:solidFill>
            <a:prstDash val="solid"/>
          </a:ln>
        </p:spPr>
      </p:sp>
      <p:sp>
        <p:nvSpPr>
          <p:cNvPr id="6" name="Shape 4"/>
          <p:cNvSpPr/>
          <p:nvPr/>
        </p:nvSpPr>
        <p:spPr>
          <a:xfrm>
            <a:off x="804672" y="1490472"/>
            <a:ext cx="438912" cy="438912"/>
          </a:xfrm>
          <a:prstGeom prst="ellipse">
            <a:avLst/>
          </a:prstGeom>
          <a:solidFill>
            <a:srgbClr val="6DB33F"/>
          </a:solidFill>
          <a:ln w="12700">
            <a:solidFill>
              <a:srgbClr val="6DB33F"/>
            </a:solidFill>
            <a:prstDash val="solid"/>
          </a:ln>
        </p:spPr>
      </p:sp>
      <p:sp>
        <p:nvSpPr>
          <p:cNvPr id="7" name="Text 5"/>
          <p:cNvSpPr/>
          <p:nvPr/>
        </p:nvSpPr>
        <p:spPr>
          <a:xfrm>
            <a:off x="804672" y="1527048"/>
            <a:ext cx="438912" cy="292608"/>
          </a:xfrm>
          <a:prstGeom prst="rect">
            <a:avLst/>
          </a:prstGeom>
          <a:noFill/>
          <a:ln/>
        </p:spPr>
        <p:txBody>
          <a:bodyPr wrap="square" lIns="0" tIns="0" rIns="0" bIns="0" rtlCol="0" anchor="ctr"/>
          <a:lstStyle/>
          <a:p>
            <a:pPr marL="0" indent="0" algn="ctr">
              <a:buNone/>
            </a:pPr>
            <a:r>
              <a:rPr lang="en-US" sz="1500" b="1" dirty="0">
                <a:solidFill>
                  <a:srgbClr val="FFFFFF"/>
                </a:solidFill>
              </a:rPr>
              <a:t>DI</a:t>
            </a:r>
            <a:endParaRPr lang="en-US" sz="1500" dirty="0"/>
          </a:p>
        </p:txBody>
      </p:sp>
      <p:sp>
        <p:nvSpPr>
          <p:cNvPr id="8" name="Text 6"/>
          <p:cNvSpPr/>
          <p:nvPr/>
        </p:nvSpPr>
        <p:spPr>
          <a:xfrm>
            <a:off x="1353312" y="1472184"/>
            <a:ext cx="2505456" cy="310896"/>
          </a:xfrm>
          <a:prstGeom prst="rect">
            <a:avLst/>
          </a:prstGeom>
          <a:noFill/>
          <a:ln/>
        </p:spPr>
        <p:txBody>
          <a:bodyPr wrap="square" lIns="0" tIns="0" rIns="0" bIns="0" rtlCol="0" anchor="ctr">
            <a:normAutofit/>
          </a:bodyPr>
          <a:lstStyle/>
          <a:p>
            <a:pPr marL="0" indent="0">
              <a:buNone/>
            </a:pPr>
            <a:r>
              <a:rPr lang="en-US" sz="1650" b="1" dirty="0">
                <a:solidFill>
                  <a:srgbClr val="1F2937"/>
                </a:solidFill>
              </a:rPr>
              <a:t>Dependency Injection</a:t>
            </a:r>
            <a:endParaRPr lang="en-US" sz="1650" dirty="0"/>
          </a:p>
        </p:txBody>
      </p:sp>
      <p:sp>
        <p:nvSpPr>
          <p:cNvPr id="9" name="Text 7"/>
          <p:cNvSpPr/>
          <p:nvPr/>
        </p:nvSpPr>
        <p:spPr>
          <a:xfrm>
            <a:off x="822960" y="1984248"/>
            <a:ext cx="3017520" cy="658368"/>
          </a:xfrm>
          <a:prstGeom prst="rect">
            <a:avLst/>
          </a:prstGeom>
          <a:noFill/>
          <a:ln/>
        </p:spPr>
        <p:txBody>
          <a:bodyPr wrap="square" lIns="254" tIns="254" rIns="254" bIns="254" rtlCol="0" anchor="t">
            <a:normAutofit/>
          </a:bodyPr>
          <a:lstStyle/>
          <a:p>
            <a:pPr marL="0" indent="0">
              <a:buNone/>
            </a:pPr>
            <a:r>
              <a:rPr lang="en-US" sz="1280" dirty="0">
                <a:solidFill>
                  <a:srgbClr val="64748B"/>
                </a:solidFill>
              </a:rPr>
              <a:t>Objects declare what they need; the Spring container creates and wires those dependencies.</a:t>
            </a:r>
            <a:endParaRPr lang="en-US" sz="1280" dirty="0"/>
          </a:p>
        </p:txBody>
      </p:sp>
      <p:sp>
        <p:nvSpPr>
          <p:cNvPr id="10" name="Shape 8"/>
          <p:cNvSpPr/>
          <p:nvPr/>
        </p:nvSpPr>
        <p:spPr>
          <a:xfrm>
            <a:off x="4407408" y="1325880"/>
            <a:ext cx="3383280" cy="1463040"/>
          </a:xfrm>
          <a:prstGeom prst="roundRect">
            <a:avLst>
              <a:gd name="adj" fmla="val 5000"/>
            </a:avLst>
          </a:prstGeom>
          <a:solidFill>
            <a:srgbClr val="FFFFFF"/>
          </a:solidFill>
          <a:ln w="12700">
            <a:solidFill>
              <a:srgbClr val="D8E2D2"/>
            </a:solidFill>
            <a:prstDash val="solid"/>
          </a:ln>
          <a:effectLst>
            <a:outerShdw blurRad="19050" dist="50800" dir="2700000" algn="bl" rotWithShape="0">
              <a:srgbClr val="D1D5DB">
                <a:alpha val="12000"/>
              </a:srgbClr>
            </a:outerShdw>
          </a:effectLst>
        </p:spPr>
      </p:sp>
      <p:sp>
        <p:nvSpPr>
          <p:cNvPr id="11" name="Shape 9"/>
          <p:cNvSpPr/>
          <p:nvPr/>
        </p:nvSpPr>
        <p:spPr>
          <a:xfrm>
            <a:off x="4407408" y="1325880"/>
            <a:ext cx="73152" cy="1463040"/>
          </a:xfrm>
          <a:prstGeom prst="rect">
            <a:avLst/>
          </a:prstGeom>
          <a:solidFill>
            <a:srgbClr val="2563EB"/>
          </a:solidFill>
          <a:ln w="12700">
            <a:solidFill>
              <a:srgbClr val="2563EB"/>
            </a:solidFill>
            <a:prstDash val="solid"/>
          </a:ln>
        </p:spPr>
      </p:sp>
      <p:sp>
        <p:nvSpPr>
          <p:cNvPr id="12" name="Shape 10"/>
          <p:cNvSpPr/>
          <p:nvPr/>
        </p:nvSpPr>
        <p:spPr>
          <a:xfrm>
            <a:off x="4572000" y="1490472"/>
            <a:ext cx="438912" cy="438912"/>
          </a:xfrm>
          <a:prstGeom prst="ellipse">
            <a:avLst/>
          </a:prstGeom>
          <a:solidFill>
            <a:srgbClr val="2563EB"/>
          </a:solidFill>
          <a:ln w="12700">
            <a:solidFill>
              <a:srgbClr val="2563EB"/>
            </a:solidFill>
            <a:prstDash val="solid"/>
          </a:ln>
        </p:spPr>
      </p:sp>
      <p:sp>
        <p:nvSpPr>
          <p:cNvPr id="13" name="Text 11"/>
          <p:cNvSpPr/>
          <p:nvPr/>
        </p:nvSpPr>
        <p:spPr>
          <a:xfrm>
            <a:off x="4572000" y="1527048"/>
            <a:ext cx="438912" cy="292608"/>
          </a:xfrm>
          <a:prstGeom prst="rect">
            <a:avLst/>
          </a:prstGeom>
          <a:noFill/>
          <a:ln/>
        </p:spPr>
        <p:txBody>
          <a:bodyPr wrap="square" lIns="0" tIns="0" rIns="0" bIns="0" rtlCol="0" anchor="ctr"/>
          <a:lstStyle/>
          <a:p>
            <a:pPr marL="0" indent="0" algn="ctr">
              <a:buNone/>
            </a:pPr>
            <a:r>
              <a:rPr lang="en-US" sz="1500" b="1" dirty="0">
                <a:solidFill>
                  <a:srgbClr val="FFFFFF"/>
                </a:solidFill>
              </a:rPr>
              <a:t>W</a:t>
            </a:r>
            <a:endParaRPr lang="en-US" sz="1500" dirty="0"/>
          </a:p>
        </p:txBody>
      </p:sp>
      <p:sp>
        <p:nvSpPr>
          <p:cNvPr id="14" name="Text 12"/>
          <p:cNvSpPr/>
          <p:nvPr/>
        </p:nvSpPr>
        <p:spPr>
          <a:xfrm>
            <a:off x="5120640" y="1472184"/>
            <a:ext cx="2505456" cy="310896"/>
          </a:xfrm>
          <a:prstGeom prst="rect">
            <a:avLst/>
          </a:prstGeom>
          <a:noFill/>
          <a:ln/>
        </p:spPr>
        <p:txBody>
          <a:bodyPr wrap="square" lIns="0" tIns="0" rIns="0" bIns="0" rtlCol="0" anchor="ctr">
            <a:normAutofit/>
          </a:bodyPr>
          <a:lstStyle/>
          <a:p>
            <a:pPr marL="0" indent="0">
              <a:buNone/>
            </a:pPr>
            <a:r>
              <a:rPr lang="en-US" sz="1650" b="1" dirty="0">
                <a:solidFill>
                  <a:srgbClr val="1F2937"/>
                </a:solidFill>
              </a:rPr>
              <a:t>Web Applications</a:t>
            </a:r>
            <a:endParaRPr lang="en-US" sz="1650" dirty="0"/>
          </a:p>
        </p:txBody>
      </p:sp>
      <p:sp>
        <p:nvSpPr>
          <p:cNvPr id="15" name="Text 13"/>
          <p:cNvSpPr/>
          <p:nvPr/>
        </p:nvSpPr>
        <p:spPr>
          <a:xfrm>
            <a:off x="4590288" y="1984248"/>
            <a:ext cx="3017520" cy="658368"/>
          </a:xfrm>
          <a:prstGeom prst="rect">
            <a:avLst/>
          </a:prstGeom>
          <a:noFill/>
          <a:ln/>
        </p:spPr>
        <p:txBody>
          <a:bodyPr wrap="square" lIns="254" tIns="254" rIns="254" bIns="254" rtlCol="0" anchor="t">
            <a:normAutofit/>
          </a:bodyPr>
          <a:lstStyle/>
          <a:p>
            <a:pPr marL="0" indent="0">
              <a:buNone/>
            </a:pPr>
            <a:r>
              <a:rPr lang="en-US" sz="1280" dirty="0">
                <a:solidFill>
                  <a:srgbClr val="64748B"/>
                </a:solidFill>
              </a:rPr>
              <a:t>Spring MVC and WebFlux provide web request handling, routing, controllers and response processing.</a:t>
            </a:r>
            <a:endParaRPr lang="en-US" sz="1280" dirty="0"/>
          </a:p>
        </p:txBody>
      </p:sp>
      <p:sp>
        <p:nvSpPr>
          <p:cNvPr id="16" name="Shape 14"/>
          <p:cNvSpPr/>
          <p:nvPr/>
        </p:nvSpPr>
        <p:spPr>
          <a:xfrm>
            <a:off x="8174736" y="1325880"/>
            <a:ext cx="3383280" cy="1463040"/>
          </a:xfrm>
          <a:prstGeom prst="roundRect">
            <a:avLst>
              <a:gd name="adj" fmla="val 5000"/>
            </a:avLst>
          </a:prstGeom>
          <a:solidFill>
            <a:srgbClr val="FFFFFF"/>
          </a:solidFill>
          <a:ln w="12700">
            <a:solidFill>
              <a:srgbClr val="D8E2D2"/>
            </a:solidFill>
            <a:prstDash val="solid"/>
          </a:ln>
          <a:effectLst>
            <a:outerShdw blurRad="19050" dist="50800" dir="2700000" algn="bl" rotWithShape="0">
              <a:srgbClr val="D1D5DB">
                <a:alpha val="12000"/>
              </a:srgbClr>
            </a:outerShdw>
          </a:effectLst>
        </p:spPr>
      </p:sp>
      <p:sp>
        <p:nvSpPr>
          <p:cNvPr id="17" name="Shape 15"/>
          <p:cNvSpPr/>
          <p:nvPr/>
        </p:nvSpPr>
        <p:spPr>
          <a:xfrm>
            <a:off x="8174736" y="1325880"/>
            <a:ext cx="73152" cy="1463040"/>
          </a:xfrm>
          <a:prstGeom prst="rect">
            <a:avLst/>
          </a:prstGeom>
          <a:solidFill>
            <a:srgbClr val="0F766E"/>
          </a:solidFill>
          <a:ln w="12700">
            <a:solidFill>
              <a:srgbClr val="0F766E"/>
            </a:solidFill>
            <a:prstDash val="solid"/>
          </a:ln>
        </p:spPr>
      </p:sp>
      <p:sp>
        <p:nvSpPr>
          <p:cNvPr id="18" name="Shape 16"/>
          <p:cNvSpPr/>
          <p:nvPr/>
        </p:nvSpPr>
        <p:spPr>
          <a:xfrm>
            <a:off x="8339328" y="1490472"/>
            <a:ext cx="438912" cy="438912"/>
          </a:xfrm>
          <a:prstGeom prst="ellipse">
            <a:avLst/>
          </a:prstGeom>
          <a:solidFill>
            <a:srgbClr val="0F766E"/>
          </a:solidFill>
          <a:ln w="12700">
            <a:solidFill>
              <a:srgbClr val="0F766E"/>
            </a:solidFill>
            <a:prstDash val="solid"/>
          </a:ln>
        </p:spPr>
      </p:sp>
      <p:sp>
        <p:nvSpPr>
          <p:cNvPr id="19" name="Text 17"/>
          <p:cNvSpPr/>
          <p:nvPr/>
        </p:nvSpPr>
        <p:spPr>
          <a:xfrm>
            <a:off x="8339328" y="1527048"/>
            <a:ext cx="438912" cy="292608"/>
          </a:xfrm>
          <a:prstGeom prst="rect">
            <a:avLst/>
          </a:prstGeom>
          <a:noFill/>
          <a:ln/>
        </p:spPr>
        <p:txBody>
          <a:bodyPr wrap="square" lIns="0" tIns="0" rIns="0" bIns="0" rtlCol="0" anchor="ctr"/>
          <a:lstStyle/>
          <a:p>
            <a:pPr marL="0" indent="0" algn="ctr">
              <a:buNone/>
            </a:pPr>
            <a:r>
              <a:rPr lang="en-US" sz="1500" b="1" dirty="0">
                <a:solidFill>
                  <a:srgbClr val="FFFFFF"/>
                </a:solidFill>
              </a:rPr>
              <a:t>DB</a:t>
            </a:r>
            <a:endParaRPr lang="en-US" sz="1500" dirty="0"/>
          </a:p>
        </p:txBody>
      </p:sp>
      <p:sp>
        <p:nvSpPr>
          <p:cNvPr id="20" name="Text 18"/>
          <p:cNvSpPr/>
          <p:nvPr/>
        </p:nvSpPr>
        <p:spPr>
          <a:xfrm>
            <a:off x="8887968" y="1472184"/>
            <a:ext cx="2505456" cy="310896"/>
          </a:xfrm>
          <a:prstGeom prst="rect">
            <a:avLst/>
          </a:prstGeom>
          <a:noFill/>
          <a:ln/>
        </p:spPr>
        <p:txBody>
          <a:bodyPr wrap="square" lIns="0" tIns="0" rIns="0" bIns="0" rtlCol="0" anchor="ctr">
            <a:normAutofit/>
          </a:bodyPr>
          <a:lstStyle/>
          <a:p>
            <a:pPr marL="0" indent="0">
              <a:buNone/>
            </a:pPr>
            <a:r>
              <a:rPr lang="en-US" sz="1650" b="1" dirty="0">
                <a:solidFill>
                  <a:srgbClr val="1F2937"/>
                </a:solidFill>
              </a:rPr>
              <a:t>Data &amp; Transactions</a:t>
            </a:r>
            <a:endParaRPr lang="en-US" sz="1650" dirty="0"/>
          </a:p>
        </p:txBody>
      </p:sp>
      <p:sp>
        <p:nvSpPr>
          <p:cNvPr id="21" name="Text 19"/>
          <p:cNvSpPr/>
          <p:nvPr/>
        </p:nvSpPr>
        <p:spPr>
          <a:xfrm>
            <a:off x="8357616" y="1984248"/>
            <a:ext cx="3017520" cy="658368"/>
          </a:xfrm>
          <a:prstGeom prst="rect">
            <a:avLst/>
          </a:prstGeom>
          <a:noFill/>
          <a:ln/>
        </p:spPr>
        <p:txBody>
          <a:bodyPr wrap="square" lIns="254" tIns="254" rIns="254" bIns="254" rtlCol="0" anchor="t">
            <a:normAutofit/>
          </a:bodyPr>
          <a:lstStyle/>
          <a:p>
            <a:pPr marL="0" indent="0">
              <a:buNone/>
            </a:pPr>
            <a:r>
              <a:rPr lang="en-US" sz="1280" dirty="0">
                <a:solidFill>
                  <a:srgbClr val="64748B"/>
                </a:solidFill>
              </a:rPr>
              <a:t>Consistent support for JDBC, ORM integrations, transaction management and data access patterns.</a:t>
            </a:r>
            <a:endParaRPr lang="en-US" sz="1280" dirty="0"/>
          </a:p>
        </p:txBody>
      </p:sp>
      <p:sp>
        <p:nvSpPr>
          <p:cNvPr id="22" name="Shape 20"/>
          <p:cNvSpPr/>
          <p:nvPr/>
        </p:nvSpPr>
        <p:spPr>
          <a:xfrm>
            <a:off x="640080" y="3246120"/>
            <a:ext cx="3383280" cy="1463040"/>
          </a:xfrm>
          <a:prstGeom prst="roundRect">
            <a:avLst>
              <a:gd name="adj" fmla="val 5000"/>
            </a:avLst>
          </a:prstGeom>
          <a:solidFill>
            <a:srgbClr val="FFFFFF"/>
          </a:solidFill>
          <a:ln w="12700">
            <a:solidFill>
              <a:srgbClr val="D8E2D2"/>
            </a:solidFill>
            <a:prstDash val="solid"/>
          </a:ln>
          <a:effectLst>
            <a:outerShdw blurRad="19050" dist="50800" dir="2700000" algn="bl" rotWithShape="0">
              <a:srgbClr val="D1D5DB">
                <a:alpha val="12000"/>
              </a:srgbClr>
            </a:outerShdw>
          </a:effectLst>
        </p:spPr>
      </p:sp>
      <p:sp>
        <p:nvSpPr>
          <p:cNvPr id="23" name="Shape 21"/>
          <p:cNvSpPr/>
          <p:nvPr/>
        </p:nvSpPr>
        <p:spPr>
          <a:xfrm>
            <a:off x="640080" y="3246120"/>
            <a:ext cx="73152" cy="1463040"/>
          </a:xfrm>
          <a:prstGeom prst="rect">
            <a:avLst/>
          </a:prstGeom>
          <a:solidFill>
            <a:srgbClr val="7C3AED"/>
          </a:solidFill>
          <a:ln w="12700">
            <a:solidFill>
              <a:srgbClr val="7C3AED"/>
            </a:solidFill>
            <a:prstDash val="solid"/>
          </a:ln>
        </p:spPr>
      </p:sp>
      <p:sp>
        <p:nvSpPr>
          <p:cNvPr id="24" name="Shape 22"/>
          <p:cNvSpPr/>
          <p:nvPr/>
        </p:nvSpPr>
        <p:spPr>
          <a:xfrm>
            <a:off x="804672" y="3410712"/>
            <a:ext cx="438912" cy="438912"/>
          </a:xfrm>
          <a:prstGeom prst="ellipse">
            <a:avLst/>
          </a:prstGeom>
          <a:solidFill>
            <a:srgbClr val="7C3AED"/>
          </a:solidFill>
          <a:ln w="12700">
            <a:solidFill>
              <a:srgbClr val="7C3AED"/>
            </a:solidFill>
            <a:prstDash val="solid"/>
          </a:ln>
        </p:spPr>
      </p:sp>
      <p:sp>
        <p:nvSpPr>
          <p:cNvPr id="25" name="Text 23"/>
          <p:cNvSpPr/>
          <p:nvPr/>
        </p:nvSpPr>
        <p:spPr>
          <a:xfrm>
            <a:off x="804672" y="3447288"/>
            <a:ext cx="438912" cy="292608"/>
          </a:xfrm>
          <a:prstGeom prst="rect">
            <a:avLst/>
          </a:prstGeom>
          <a:noFill/>
          <a:ln/>
        </p:spPr>
        <p:txBody>
          <a:bodyPr wrap="square" lIns="0" tIns="0" rIns="0" bIns="0" rtlCol="0" anchor="ctr"/>
          <a:lstStyle/>
          <a:p>
            <a:pPr marL="0" indent="0" algn="ctr">
              <a:buNone/>
            </a:pPr>
            <a:r>
              <a:rPr lang="en-US" sz="1500" b="1" dirty="0">
                <a:solidFill>
                  <a:srgbClr val="FFFFFF"/>
                </a:solidFill>
              </a:rPr>
              <a:t>A</a:t>
            </a:r>
            <a:endParaRPr lang="en-US" sz="1500" dirty="0"/>
          </a:p>
        </p:txBody>
      </p:sp>
      <p:sp>
        <p:nvSpPr>
          <p:cNvPr id="26" name="Text 24"/>
          <p:cNvSpPr/>
          <p:nvPr/>
        </p:nvSpPr>
        <p:spPr>
          <a:xfrm>
            <a:off x="1353312" y="3392424"/>
            <a:ext cx="2505456" cy="310896"/>
          </a:xfrm>
          <a:prstGeom prst="rect">
            <a:avLst/>
          </a:prstGeom>
          <a:noFill/>
          <a:ln/>
        </p:spPr>
        <p:txBody>
          <a:bodyPr wrap="square" lIns="0" tIns="0" rIns="0" bIns="0" rtlCol="0" anchor="ctr">
            <a:normAutofit/>
          </a:bodyPr>
          <a:lstStyle/>
          <a:p>
            <a:pPr marL="0" indent="0">
              <a:buNone/>
            </a:pPr>
            <a:r>
              <a:rPr lang="en-US" sz="1650" b="1" dirty="0">
                <a:solidFill>
                  <a:srgbClr val="1F2937"/>
                </a:solidFill>
              </a:rPr>
              <a:t>AOP</a:t>
            </a:r>
            <a:endParaRPr lang="en-US" sz="1650" dirty="0"/>
          </a:p>
        </p:txBody>
      </p:sp>
      <p:sp>
        <p:nvSpPr>
          <p:cNvPr id="27" name="Text 25"/>
          <p:cNvSpPr/>
          <p:nvPr/>
        </p:nvSpPr>
        <p:spPr>
          <a:xfrm>
            <a:off x="822960" y="3904488"/>
            <a:ext cx="3017520" cy="658368"/>
          </a:xfrm>
          <a:prstGeom prst="rect">
            <a:avLst/>
          </a:prstGeom>
          <a:noFill/>
          <a:ln/>
        </p:spPr>
        <p:txBody>
          <a:bodyPr wrap="square" lIns="254" tIns="254" rIns="254" bIns="254" rtlCol="0" anchor="t">
            <a:normAutofit/>
          </a:bodyPr>
          <a:lstStyle/>
          <a:p>
            <a:pPr marL="0" indent="0">
              <a:buNone/>
            </a:pPr>
            <a:r>
              <a:rPr lang="en-US" sz="1280" dirty="0">
                <a:solidFill>
                  <a:srgbClr val="64748B"/>
                </a:solidFill>
              </a:rPr>
              <a:t>Cross-cutting concerns such as logging, security and transactions can be applied cleanly.</a:t>
            </a:r>
            <a:endParaRPr lang="en-US" sz="1280" dirty="0"/>
          </a:p>
        </p:txBody>
      </p:sp>
      <p:sp>
        <p:nvSpPr>
          <p:cNvPr id="37" name="Text 35"/>
          <p:cNvSpPr/>
          <p:nvPr/>
        </p:nvSpPr>
        <p:spPr>
          <a:xfrm>
            <a:off x="8339328" y="3447288"/>
            <a:ext cx="438912" cy="292608"/>
          </a:xfrm>
          <a:prstGeom prst="rect">
            <a:avLst/>
          </a:prstGeom>
          <a:noFill/>
          <a:ln/>
        </p:spPr>
        <p:txBody>
          <a:bodyPr wrap="square" lIns="0" tIns="0" rIns="0" bIns="0" rtlCol="0" anchor="ctr"/>
          <a:lstStyle/>
          <a:p>
            <a:pPr marL="0" indent="0" algn="ctr">
              <a:buNone/>
            </a:pPr>
            <a:r>
              <a:rPr lang="en-US" sz="1500" b="1" dirty="0">
                <a:solidFill>
                  <a:srgbClr val="FFFFFF"/>
                </a:solidFill>
              </a:rPr>
              <a:t>T</a:t>
            </a:r>
            <a:endParaRPr lang="en-US" sz="1500" dirty="0"/>
          </a:p>
        </p:txBody>
      </p:sp>
      <p:sp>
        <p:nvSpPr>
          <p:cNvPr id="40" name="Text 38"/>
          <p:cNvSpPr/>
          <p:nvPr/>
        </p:nvSpPr>
        <p:spPr>
          <a:xfrm>
            <a:off x="914400" y="5257800"/>
            <a:ext cx="10332720" cy="594360"/>
          </a:xfrm>
          <a:prstGeom prst="rect">
            <a:avLst/>
          </a:prstGeom>
          <a:noFill/>
          <a:ln/>
        </p:spPr>
        <p:txBody>
          <a:bodyPr wrap="square" lIns="0" tIns="0" rIns="0" bIns="0" rtlCol="0" anchor="ctr">
            <a:normAutofit/>
          </a:bodyPr>
          <a:lstStyle/>
          <a:p>
            <a:pPr marL="0" indent="0" algn="ctr">
              <a:buNone/>
            </a:pPr>
            <a:r>
              <a:rPr lang="en-US" sz="1620" b="1" dirty="0">
                <a:solidFill>
                  <a:srgbClr val="3E7D20"/>
                </a:solidFill>
              </a:rPr>
              <a:t>Key idea: Spring manages object creation and collaboration, allowing your business code to focus on the problem instead of infrastructure plumbing.</a:t>
            </a:r>
            <a:endParaRPr lang="en-US" sz="1620" dirty="0"/>
          </a:p>
        </p:txBody>
      </p:sp>
      <p:sp>
        <p:nvSpPr>
          <p:cNvPr id="42" name="Slide Number Placeholder 0"/>
          <p:cNvSpPr>
            <a:spLocks noGrp="1"/>
          </p:cNvSpPr>
          <p:nvPr>
            <p:ph type="sldNum" sz="quarter" idx="4294967295"/>
          </p:nvPr>
        </p:nvSpPr>
        <p:spPr>
          <a:xfrm>
            <a:off x="11384280" y="6473952"/>
            <a:ext cx="384048"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latin typeface="Arial"/>
                <a:ea typeface="Arial"/>
                <a:cs typeface="Aria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310896"/>
            <a:ext cx="11064240" cy="475488"/>
          </a:xfrm>
          <a:prstGeom prst="rect">
            <a:avLst/>
          </a:prstGeom>
          <a:noFill/>
          <a:ln/>
        </p:spPr>
        <p:txBody>
          <a:bodyPr wrap="square" lIns="0" tIns="0" rIns="0" bIns="0" rtlCol="0" anchor="ctr">
            <a:normAutofit/>
          </a:bodyPr>
          <a:lstStyle/>
          <a:p>
            <a:pPr marL="0" indent="0">
              <a:buNone/>
            </a:pPr>
            <a:r>
              <a:rPr lang="en-US" sz="2700" b="1" dirty="0">
                <a:solidFill>
                  <a:srgbClr val="1F2937"/>
                </a:solidFill>
                <a:latin typeface="Arial" pitchFamily="34" charset="0"/>
                <a:ea typeface="Arial" pitchFamily="34" charset="-122"/>
                <a:cs typeface="Arial" pitchFamily="34" charset="-120"/>
              </a:rPr>
              <a:t>Why IoC and Dependency Injection?</a:t>
            </a:r>
            <a:endParaRPr lang="en-US" sz="2700" dirty="0"/>
          </a:p>
        </p:txBody>
      </p:sp>
      <p:sp>
        <p:nvSpPr>
          <p:cNvPr id="3" name="Text 1"/>
          <p:cNvSpPr/>
          <p:nvPr/>
        </p:nvSpPr>
        <p:spPr>
          <a:xfrm>
            <a:off x="530352" y="804672"/>
            <a:ext cx="10881360" cy="310896"/>
          </a:xfrm>
          <a:prstGeom prst="rect">
            <a:avLst/>
          </a:prstGeom>
          <a:noFill/>
          <a:ln/>
        </p:spPr>
        <p:txBody>
          <a:bodyPr wrap="square" lIns="0" tIns="0" rIns="0" bIns="0" rtlCol="0" anchor="ctr">
            <a:normAutofit/>
          </a:bodyPr>
          <a:lstStyle/>
          <a:p>
            <a:pPr marL="0" indent="0">
              <a:buNone/>
            </a:pPr>
            <a:r>
              <a:rPr lang="en-US" sz="1250" dirty="0">
                <a:solidFill>
                  <a:srgbClr val="64748B"/>
                </a:solidFill>
                <a:latin typeface="Arial" pitchFamily="34" charset="0"/>
                <a:ea typeface="Arial" pitchFamily="34" charset="-122"/>
                <a:cs typeface="Arial" pitchFamily="34" charset="-120"/>
              </a:rPr>
              <a:t>Compare manual Java object creation with Spring-managed collaboration</a:t>
            </a:r>
            <a:endParaRPr lang="en-US" sz="1250" dirty="0"/>
          </a:p>
        </p:txBody>
      </p:sp>
      <p:sp>
        <p:nvSpPr>
          <p:cNvPr id="4" name="Text 2"/>
          <p:cNvSpPr/>
          <p:nvPr/>
        </p:nvSpPr>
        <p:spPr>
          <a:xfrm>
            <a:off x="960120" y="1298448"/>
            <a:ext cx="3108960" cy="365760"/>
          </a:xfrm>
          <a:prstGeom prst="rect">
            <a:avLst/>
          </a:prstGeom>
          <a:noFill/>
          <a:ln/>
        </p:spPr>
        <p:txBody>
          <a:bodyPr wrap="square" lIns="0" tIns="0" rIns="0" bIns="0" rtlCol="0" anchor="ctr"/>
          <a:lstStyle/>
          <a:p>
            <a:pPr marL="0" indent="0" algn="ctr">
              <a:buNone/>
            </a:pPr>
            <a:r>
              <a:rPr lang="en-US" sz="2100" b="1" dirty="0">
                <a:solidFill>
                  <a:srgbClr val="DC2626"/>
                </a:solidFill>
              </a:rPr>
              <a:t>Without Spring</a:t>
            </a:r>
            <a:endParaRPr lang="en-US" sz="2100" dirty="0"/>
          </a:p>
        </p:txBody>
      </p:sp>
      <p:sp>
        <p:nvSpPr>
          <p:cNvPr id="5" name="Shape 3"/>
          <p:cNvSpPr/>
          <p:nvPr/>
        </p:nvSpPr>
        <p:spPr>
          <a:xfrm>
            <a:off x="731520" y="1783080"/>
            <a:ext cx="3657600" cy="2103120"/>
          </a:xfrm>
          <a:prstGeom prst="roundRect">
            <a:avLst>
              <a:gd name="adj" fmla="val 2174"/>
            </a:avLst>
          </a:prstGeom>
          <a:solidFill>
            <a:srgbClr val="111827"/>
          </a:solidFill>
          <a:ln w="12700">
            <a:solidFill>
              <a:srgbClr val="111827"/>
            </a:solidFill>
            <a:prstDash val="solid"/>
          </a:ln>
        </p:spPr>
      </p:sp>
      <p:sp>
        <p:nvSpPr>
          <p:cNvPr id="6" name="Text 4"/>
          <p:cNvSpPr/>
          <p:nvPr/>
        </p:nvSpPr>
        <p:spPr>
          <a:xfrm>
            <a:off x="896112" y="1911096"/>
            <a:ext cx="3328416" cy="1847088"/>
          </a:xfrm>
          <a:prstGeom prst="rect">
            <a:avLst/>
          </a:prstGeom>
          <a:noFill/>
          <a:ln/>
        </p:spPr>
        <p:txBody>
          <a:bodyPr wrap="square" lIns="254" tIns="254" rIns="254" bIns="254" rtlCol="0" anchor="t">
            <a:normAutofit/>
          </a:bodyPr>
          <a:lstStyle/>
          <a:p>
            <a:pPr marL="0" indent="0">
              <a:buNone/>
            </a:pPr>
            <a:r>
              <a:rPr lang="en-US" sz="1400" dirty="0">
                <a:solidFill>
                  <a:srgbClr val="E5E7EB"/>
                </a:solidFill>
                <a:latin typeface="Courier New" pitchFamily="34" charset="0"/>
                <a:ea typeface="Courier New" pitchFamily="34" charset="-122"/>
                <a:cs typeface="Courier New" pitchFamily="34" charset="-120"/>
              </a:rPr>
              <a:t>class EmployeeController {</a:t>
            </a:r>
            <a:endParaRPr lang="en-US" sz="1400" dirty="0"/>
          </a:p>
          <a:p>
            <a:pPr marL="0" indent="0">
              <a:buNone/>
            </a:pPr>
            <a:r>
              <a:rPr lang="en-US" sz="1400" dirty="0">
                <a:solidFill>
                  <a:srgbClr val="E5E7EB"/>
                </a:solidFill>
                <a:latin typeface="Courier New" pitchFamily="34" charset="0"/>
                <a:ea typeface="Courier New" pitchFamily="34" charset="-122"/>
                <a:cs typeface="Courier New" pitchFamily="34" charset="-120"/>
              </a:rPr>
              <a:t>  EmployeeService service =</a:t>
            </a:r>
            <a:endParaRPr lang="en-US" sz="1400" dirty="0"/>
          </a:p>
          <a:p>
            <a:pPr marL="0" indent="0">
              <a:buNone/>
            </a:pPr>
            <a:r>
              <a:rPr lang="en-US" sz="1400" dirty="0">
                <a:solidFill>
                  <a:srgbClr val="E5E7EB"/>
                </a:solidFill>
                <a:latin typeface="Courier New" pitchFamily="34" charset="0"/>
                <a:ea typeface="Courier New" pitchFamily="34" charset="-122"/>
                <a:cs typeface="Courier New" pitchFamily="34" charset="-120"/>
              </a:rPr>
              <a:t>      new EmployeeService(</a:t>
            </a:r>
            <a:endParaRPr lang="en-US" sz="1400" dirty="0"/>
          </a:p>
          <a:p>
            <a:pPr marL="0" indent="0">
              <a:buNone/>
            </a:pPr>
            <a:r>
              <a:rPr lang="en-US" sz="1400" dirty="0">
                <a:solidFill>
                  <a:srgbClr val="E5E7EB"/>
                </a:solidFill>
                <a:latin typeface="Courier New" pitchFamily="34" charset="0"/>
                <a:ea typeface="Courier New" pitchFamily="34" charset="-122"/>
                <a:cs typeface="Courier New" pitchFamily="34" charset="-120"/>
              </a:rPr>
              <a:t>          new EmployeeRepository());</a:t>
            </a:r>
            <a:endParaRPr lang="en-US" sz="1400" dirty="0"/>
          </a:p>
          <a:p>
            <a:pPr marL="0" indent="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p:txBody>
      </p:sp>
      <p:sp>
        <p:nvSpPr>
          <p:cNvPr id="7" name="Text 5"/>
          <p:cNvSpPr/>
          <p:nvPr/>
        </p:nvSpPr>
        <p:spPr>
          <a:xfrm>
            <a:off x="868680" y="4069080"/>
            <a:ext cx="3383280" cy="713232"/>
          </a:xfrm>
          <a:prstGeom prst="rect">
            <a:avLst/>
          </a:prstGeom>
          <a:noFill/>
          <a:ln/>
        </p:spPr>
        <p:txBody>
          <a:bodyPr wrap="square" lIns="0" tIns="0" rIns="0" bIns="0" rtlCol="0" anchor="ctr">
            <a:normAutofit/>
          </a:bodyPr>
          <a:lstStyle/>
          <a:p>
            <a:pPr marL="0" indent="0" algn="ctr">
              <a:buNone/>
            </a:pPr>
            <a:r>
              <a:rPr lang="en-US" sz="1450" dirty="0">
                <a:solidFill>
                  <a:srgbClr val="64748B"/>
                </a:solidFill>
              </a:rPr>
              <a:t>Controller decides HOW to build Service and Repository → tight coupling.</a:t>
            </a:r>
            <a:endParaRPr lang="en-US" sz="1450" dirty="0"/>
          </a:p>
        </p:txBody>
      </p:sp>
      <p:sp>
        <p:nvSpPr>
          <p:cNvPr id="8" name="Shape 6"/>
          <p:cNvSpPr/>
          <p:nvPr/>
        </p:nvSpPr>
        <p:spPr>
          <a:xfrm>
            <a:off x="4754880" y="2788920"/>
            <a:ext cx="2514600" cy="0"/>
          </a:xfrm>
          <a:prstGeom prst="line">
            <a:avLst/>
          </a:prstGeom>
          <a:noFill/>
          <a:ln w="31750">
            <a:solidFill>
              <a:srgbClr val="64748B"/>
            </a:solidFill>
            <a:prstDash val="solid"/>
            <a:tailEnd type="triangle"/>
          </a:ln>
        </p:spPr>
      </p:sp>
      <p:sp>
        <p:nvSpPr>
          <p:cNvPr id="9" name="Text 7"/>
          <p:cNvSpPr/>
          <p:nvPr/>
        </p:nvSpPr>
        <p:spPr>
          <a:xfrm>
            <a:off x="4892040" y="2240280"/>
            <a:ext cx="2148840" cy="347472"/>
          </a:xfrm>
          <a:prstGeom prst="rect">
            <a:avLst/>
          </a:prstGeom>
          <a:noFill/>
          <a:ln/>
        </p:spPr>
        <p:txBody>
          <a:bodyPr wrap="square" lIns="0" tIns="0" rIns="0" bIns="0" rtlCol="0" anchor="ctr"/>
          <a:lstStyle/>
          <a:p>
            <a:pPr marL="0" indent="0" algn="ctr">
              <a:buNone/>
            </a:pPr>
            <a:r>
              <a:rPr lang="en-US" sz="1900" b="1" dirty="0">
                <a:solidFill>
                  <a:srgbClr val="3E7D20"/>
                </a:solidFill>
              </a:rPr>
              <a:t>Spring Container</a:t>
            </a:r>
            <a:endParaRPr lang="en-US" sz="1900" dirty="0"/>
          </a:p>
        </p:txBody>
      </p:sp>
      <p:sp>
        <p:nvSpPr>
          <p:cNvPr id="10" name="Shape 8"/>
          <p:cNvSpPr/>
          <p:nvPr/>
        </p:nvSpPr>
        <p:spPr>
          <a:xfrm>
            <a:off x="4892040" y="2670048"/>
            <a:ext cx="2148840" cy="1005840"/>
          </a:xfrm>
          <a:prstGeom prst="roundRect">
            <a:avLst/>
          </a:prstGeom>
          <a:solidFill>
            <a:srgbClr val="EEF7E8"/>
          </a:solidFill>
          <a:ln w="19050">
            <a:solidFill>
              <a:srgbClr val="A8D98E"/>
            </a:solidFill>
            <a:prstDash val="solid"/>
          </a:ln>
        </p:spPr>
      </p:sp>
      <p:sp>
        <p:nvSpPr>
          <p:cNvPr id="11" name="Text 9"/>
          <p:cNvSpPr/>
          <p:nvPr/>
        </p:nvSpPr>
        <p:spPr>
          <a:xfrm>
            <a:off x="5074920" y="2852928"/>
            <a:ext cx="1783080" cy="640080"/>
          </a:xfrm>
          <a:prstGeom prst="rect">
            <a:avLst/>
          </a:prstGeom>
          <a:noFill/>
          <a:ln/>
        </p:spPr>
        <p:txBody>
          <a:bodyPr wrap="square" lIns="0" tIns="0" rIns="0" bIns="0" rtlCol="0" anchor="ctr"/>
          <a:lstStyle/>
          <a:p>
            <a:pPr marL="0" indent="0" algn="ctr">
              <a:buNone/>
            </a:pPr>
            <a:r>
              <a:rPr lang="en-US" sz="1600" b="1" dirty="0">
                <a:solidFill>
                  <a:srgbClr val="3E7D20"/>
                </a:solidFill>
              </a:rPr>
              <a:t>creates</a:t>
            </a:r>
            <a:endParaRPr lang="en-US" sz="1600" dirty="0"/>
          </a:p>
          <a:p>
            <a:pPr marL="0" indent="0" algn="ctr">
              <a:buNone/>
            </a:pPr>
            <a:r>
              <a:rPr lang="en-US" sz="1600" b="1" dirty="0">
                <a:solidFill>
                  <a:srgbClr val="3E7D20"/>
                </a:solidFill>
              </a:rPr>
              <a:t>and injects</a:t>
            </a:r>
            <a:endParaRPr lang="en-US" sz="1600" dirty="0"/>
          </a:p>
        </p:txBody>
      </p:sp>
      <p:sp>
        <p:nvSpPr>
          <p:cNvPr id="12" name="Text 10"/>
          <p:cNvSpPr/>
          <p:nvPr/>
        </p:nvSpPr>
        <p:spPr>
          <a:xfrm>
            <a:off x="8092440" y="1298448"/>
            <a:ext cx="3108960" cy="365760"/>
          </a:xfrm>
          <a:prstGeom prst="rect">
            <a:avLst/>
          </a:prstGeom>
          <a:noFill/>
          <a:ln/>
        </p:spPr>
        <p:txBody>
          <a:bodyPr wrap="square" lIns="0" tIns="0" rIns="0" bIns="0" rtlCol="0" anchor="ctr"/>
          <a:lstStyle/>
          <a:p>
            <a:pPr marL="0" indent="0" algn="ctr">
              <a:buNone/>
            </a:pPr>
            <a:r>
              <a:rPr lang="en-US" sz="2100" b="1" dirty="0">
                <a:solidFill>
                  <a:srgbClr val="6DB33F"/>
                </a:solidFill>
              </a:rPr>
              <a:t>With Spring</a:t>
            </a:r>
            <a:endParaRPr lang="en-US" sz="2100" dirty="0"/>
          </a:p>
        </p:txBody>
      </p:sp>
      <p:sp>
        <p:nvSpPr>
          <p:cNvPr id="13" name="Shape 11"/>
          <p:cNvSpPr/>
          <p:nvPr/>
        </p:nvSpPr>
        <p:spPr>
          <a:xfrm>
            <a:off x="7818120" y="1783080"/>
            <a:ext cx="3703320" cy="2103120"/>
          </a:xfrm>
          <a:prstGeom prst="roundRect">
            <a:avLst>
              <a:gd name="adj" fmla="val 2174"/>
            </a:avLst>
          </a:prstGeom>
          <a:solidFill>
            <a:srgbClr val="111827"/>
          </a:solidFill>
          <a:ln w="12700">
            <a:solidFill>
              <a:srgbClr val="111827"/>
            </a:solidFill>
            <a:prstDash val="solid"/>
          </a:ln>
        </p:spPr>
      </p:sp>
      <p:sp>
        <p:nvSpPr>
          <p:cNvPr id="14" name="Text 12"/>
          <p:cNvSpPr/>
          <p:nvPr/>
        </p:nvSpPr>
        <p:spPr>
          <a:xfrm>
            <a:off x="7982712" y="1911096"/>
            <a:ext cx="3374136" cy="1847088"/>
          </a:xfrm>
          <a:prstGeom prst="rect">
            <a:avLst/>
          </a:prstGeom>
          <a:noFill/>
          <a:ln/>
        </p:spPr>
        <p:txBody>
          <a:bodyPr wrap="square" lIns="254" tIns="254" rIns="254" bIns="254" rtlCol="0" anchor="t">
            <a:normAutofit/>
          </a:bodyPr>
          <a:lstStyle/>
          <a:p>
            <a:pPr marL="0" indent="0">
              <a:buNone/>
            </a:pPr>
            <a:r>
              <a:rPr lang="en-US" sz="1340" dirty="0">
                <a:solidFill>
                  <a:srgbClr val="E5E7EB"/>
                </a:solidFill>
                <a:latin typeface="Courier New" pitchFamily="34" charset="0"/>
                <a:ea typeface="Courier New" pitchFamily="34" charset="-122"/>
                <a:cs typeface="Courier New" pitchFamily="34" charset="-120"/>
              </a:rPr>
              <a:t>class EmployeeController {</a:t>
            </a:r>
            <a:endParaRPr lang="en-US" sz="1340" dirty="0"/>
          </a:p>
          <a:p>
            <a:pPr marL="0" indent="0">
              <a:buNone/>
            </a:pPr>
            <a:r>
              <a:rPr lang="en-US" sz="1340" dirty="0">
                <a:solidFill>
                  <a:srgbClr val="E5E7EB"/>
                </a:solidFill>
                <a:latin typeface="Courier New" pitchFamily="34" charset="0"/>
                <a:ea typeface="Courier New" pitchFamily="34" charset="-122"/>
                <a:cs typeface="Courier New" pitchFamily="34" charset="-120"/>
              </a:rPr>
              <a:t>  private final EmployeeService service;</a:t>
            </a:r>
            <a:endParaRPr lang="en-US" sz="1340" dirty="0"/>
          </a:p>
          <a:p>
            <a:pPr marL="0" indent="0">
              <a:buNone/>
            </a:pPr>
            <a:endParaRPr lang="en-US" sz="1340" dirty="0"/>
          </a:p>
          <a:p>
            <a:pPr marL="0" indent="0">
              <a:buNone/>
            </a:pPr>
            <a:r>
              <a:rPr lang="en-US" sz="1340" dirty="0">
                <a:solidFill>
                  <a:srgbClr val="E5E7EB"/>
                </a:solidFill>
                <a:latin typeface="Courier New" pitchFamily="34" charset="0"/>
                <a:ea typeface="Courier New" pitchFamily="34" charset="-122"/>
                <a:cs typeface="Courier New" pitchFamily="34" charset="-120"/>
              </a:rPr>
              <a:t>  EmployeeController(EmployeeService s) {</a:t>
            </a:r>
            <a:endParaRPr lang="en-US" sz="1340" dirty="0"/>
          </a:p>
          <a:p>
            <a:pPr marL="0" indent="0">
              <a:buNone/>
            </a:pPr>
            <a:r>
              <a:rPr lang="en-US" sz="1340" dirty="0">
                <a:solidFill>
                  <a:srgbClr val="E5E7EB"/>
                </a:solidFill>
                <a:latin typeface="Courier New" pitchFamily="34" charset="0"/>
                <a:ea typeface="Courier New" pitchFamily="34" charset="-122"/>
                <a:cs typeface="Courier New" pitchFamily="34" charset="-120"/>
              </a:rPr>
              <a:t>    this.service = s;</a:t>
            </a:r>
            <a:endParaRPr lang="en-US" sz="1340" dirty="0"/>
          </a:p>
          <a:p>
            <a:pPr marL="0" indent="0">
              <a:buNone/>
            </a:pPr>
            <a:r>
              <a:rPr lang="en-US" sz="1340" dirty="0">
                <a:solidFill>
                  <a:srgbClr val="E5E7EB"/>
                </a:solidFill>
                <a:latin typeface="Courier New" pitchFamily="34" charset="0"/>
                <a:ea typeface="Courier New" pitchFamily="34" charset="-122"/>
                <a:cs typeface="Courier New" pitchFamily="34" charset="-120"/>
              </a:rPr>
              <a:t>  }</a:t>
            </a:r>
            <a:endParaRPr lang="en-US" sz="1340" dirty="0"/>
          </a:p>
          <a:p>
            <a:pPr marL="0" indent="0">
              <a:buNone/>
            </a:pPr>
            <a:r>
              <a:rPr lang="en-US" sz="1340" dirty="0">
                <a:solidFill>
                  <a:srgbClr val="E5E7EB"/>
                </a:solidFill>
                <a:latin typeface="Courier New" pitchFamily="34" charset="0"/>
                <a:ea typeface="Courier New" pitchFamily="34" charset="-122"/>
                <a:cs typeface="Courier New" pitchFamily="34" charset="-120"/>
              </a:rPr>
              <a:t>}</a:t>
            </a:r>
            <a:endParaRPr lang="en-US" sz="1340" dirty="0"/>
          </a:p>
        </p:txBody>
      </p:sp>
      <p:sp>
        <p:nvSpPr>
          <p:cNvPr id="15" name="Text 13"/>
          <p:cNvSpPr/>
          <p:nvPr/>
        </p:nvSpPr>
        <p:spPr>
          <a:xfrm>
            <a:off x="7955280" y="4069080"/>
            <a:ext cx="3383280" cy="713232"/>
          </a:xfrm>
          <a:prstGeom prst="rect">
            <a:avLst/>
          </a:prstGeom>
          <a:noFill/>
          <a:ln/>
        </p:spPr>
        <p:txBody>
          <a:bodyPr wrap="square" lIns="0" tIns="0" rIns="0" bIns="0" rtlCol="0" anchor="ctr">
            <a:normAutofit/>
          </a:bodyPr>
          <a:lstStyle/>
          <a:p>
            <a:pPr marL="0" indent="0" algn="ctr">
              <a:buNone/>
            </a:pPr>
            <a:r>
              <a:rPr lang="en-US" sz="1450" dirty="0">
                <a:solidFill>
                  <a:srgbClr val="64748B"/>
                </a:solidFill>
              </a:rPr>
              <a:t>Controller declares WHAT it needs. Spring supplies the dependency.</a:t>
            </a:r>
            <a:endParaRPr lang="en-US" sz="1450" dirty="0"/>
          </a:p>
        </p:txBody>
      </p:sp>
      <p:sp>
        <p:nvSpPr>
          <p:cNvPr id="25" name="Slide Number Placeholder 0"/>
          <p:cNvSpPr>
            <a:spLocks noGrp="1"/>
          </p:cNvSpPr>
          <p:nvPr>
            <p:ph type="sldNum" sz="quarter" idx="4294967295"/>
          </p:nvPr>
        </p:nvSpPr>
        <p:spPr>
          <a:xfrm>
            <a:off x="11384280" y="6473952"/>
            <a:ext cx="384048"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latin typeface="Arial"/>
                <a:ea typeface="Arial"/>
                <a:cs typeface="Aria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310896"/>
            <a:ext cx="11064240" cy="475488"/>
          </a:xfrm>
          <a:prstGeom prst="rect">
            <a:avLst/>
          </a:prstGeom>
          <a:noFill/>
          <a:ln/>
        </p:spPr>
        <p:txBody>
          <a:bodyPr wrap="square" lIns="0" tIns="0" rIns="0" bIns="0" rtlCol="0" anchor="ctr">
            <a:normAutofit/>
          </a:bodyPr>
          <a:lstStyle/>
          <a:p>
            <a:pPr marL="0" indent="0">
              <a:buNone/>
            </a:pPr>
            <a:r>
              <a:rPr lang="en-US" sz="2700" b="1" dirty="0">
                <a:solidFill>
                  <a:srgbClr val="1F2937"/>
                </a:solidFill>
                <a:latin typeface="Arial" pitchFamily="34" charset="0"/>
                <a:ea typeface="Arial" pitchFamily="34" charset="-122"/>
                <a:cs typeface="Arial" pitchFamily="34" charset="-120"/>
              </a:rPr>
              <a:t>Official Spring IoC container concept — redrawn</a:t>
            </a:r>
            <a:endParaRPr lang="en-US" sz="2700" dirty="0"/>
          </a:p>
        </p:txBody>
      </p:sp>
      <p:sp>
        <p:nvSpPr>
          <p:cNvPr id="3" name="Text 1"/>
          <p:cNvSpPr/>
          <p:nvPr/>
        </p:nvSpPr>
        <p:spPr>
          <a:xfrm>
            <a:off x="530352" y="804672"/>
            <a:ext cx="10881360" cy="310896"/>
          </a:xfrm>
          <a:prstGeom prst="rect">
            <a:avLst/>
          </a:prstGeom>
          <a:noFill/>
          <a:ln/>
        </p:spPr>
        <p:txBody>
          <a:bodyPr wrap="square" lIns="0" tIns="0" rIns="0" bIns="0" rtlCol="0" anchor="ctr">
            <a:normAutofit/>
          </a:bodyPr>
          <a:lstStyle/>
          <a:p>
            <a:pPr marL="0" indent="0">
              <a:buNone/>
            </a:pPr>
            <a:r>
              <a:rPr lang="en-US" sz="1250" dirty="0">
                <a:solidFill>
                  <a:srgbClr val="64748B"/>
                </a:solidFill>
                <a:latin typeface="Arial" pitchFamily="34" charset="0"/>
                <a:ea typeface="Arial" pitchFamily="34" charset="-122"/>
                <a:cs typeface="Arial" pitchFamily="34" charset="-120"/>
              </a:rPr>
              <a:t>Application classes + configuration metadata are consumed by the container to produce a configured application</a:t>
            </a:r>
            <a:endParaRPr lang="en-US" sz="1250" dirty="0"/>
          </a:p>
        </p:txBody>
      </p:sp>
      <p:sp>
        <p:nvSpPr>
          <p:cNvPr id="4" name="Shape 2"/>
          <p:cNvSpPr/>
          <p:nvPr/>
        </p:nvSpPr>
        <p:spPr>
          <a:xfrm>
            <a:off x="822960" y="1828800"/>
            <a:ext cx="2926080" cy="1005840"/>
          </a:xfrm>
          <a:prstGeom prst="roundRect">
            <a:avLst>
              <a:gd name="adj" fmla="val 4545"/>
            </a:avLst>
          </a:prstGeom>
          <a:solidFill>
            <a:srgbClr val="FFFFFF"/>
          </a:solidFill>
          <a:ln w="12700">
            <a:solidFill>
              <a:srgbClr val="CBD5E1"/>
            </a:solidFill>
            <a:prstDash val="solid"/>
          </a:ln>
        </p:spPr>
      </p:sp>
      <p:sp>
        <p:nvSpPr>
          <p:cNvPr id="5" name="Text 3"/>
          <p:cNvSpPr/>
          <p:nvPr/>
        </p:nvSpPr>
        <p:spPr>
          <a:xfrm>
            <a:off x="886968" y="1874520"/>
            <a:ext cx="2798064" cy="914400"/>
          </a:xfrm>
          <a:prstGeom prst="rect">
            <a:avLst/>
          </a:prstGeom>
          <a:noFill/>
          <a:ln/>
        </p:spPr>
        <p:txBody>
          <a:bodyPr wrap="square" lIns="254" tIns="254" rIns="254" bIns="254" rtlCol="0" anchor="ctr">
            <a:normAutofit/>
          </a:bodyPr>
          <a:lstStyle/>
          <a:p>
            <a:pPr marL="0" indent="0" algn="ctr">
              <a:buNone/>
            </a:pPr>
            <a:r>
              <a:rPr lang="en-US" sz="2000" b="1" dirty="0">
                <a:solidFill>
                  <a:srgbClr val="1F2937"/>
                </a:solidFill>
                <a:latin typeface="Arial" pitchFamily="34" charset="0"/>
                <a:ea typeface="Arial" pitchFamily="34" charset="-122"/>
                <a:cs typeface="Arial" pitchFamily="34" charset="-120"/>
              </a:rPr>
              <a:t>Application Classes</a:t>
            </a:r>
            <a:endParaRPr lang="en-US" sz="2000" dirty="0"/>
          </a:p>
        </p:txBody>
      </p:sp>
      <p:sp>
        <p:nvSpPr>
          <p:cNvPr id="6" name="Shape 4"/>
          <p:cNvSpPr/>
          <p:nvPr/>
        </p:nvSpPr>
        <p:spPr>
          <a:xfrm>
            <a:off x="822960" y="3794760"/>
            <a:ext cx="2926080" cy="1005840"/>
          </a:xfrm>
          <a:prstGeom prst="roundRect">
            <a:avLst>
              <a:gd name="adj" fmla="val 4545"/>
            </a:avLst>
          </a:prstGeom>
          <a:solidFill>
            <a:srgbClr val="FFF4DB"/>
          </a:solidFill>
          <a:ln w="12700">
            <a:solidFill>
              <a:srgbClr val="F0C36C"/>
            </a:solidFill>
            <a:prstDash val="solid"/>
          </a:ln>
        </p:spPr>
      </p:sp>
      <p:sp>
        <p:nvSpPr>
          <p:cNvPr id="7" name="Text 5"/>
          <p:cNvSpPr/>
          <p:nvPr/>
        </p:nvSpPr>
        <p:spPr>
          <a:xfrm>
            <a:off x="886968" y="3840480"/>
            <a:ext cx="2798064" cy="914400"/>
          </a:xfrm>
          <a:prstGeom prst="rect">
            <a:avLst/>
          </a:prstGeom>
          <a:noFill/>
          <a:ln/>
        </p:spPr>
        <p:txBody>
          <a:bodyPr wrap="square" lIns="254" tIns="254" rIns="254" bIns="254" rtlCol="0" anchor="ctr">
            <a:normAutofit/>
          </a:bodyPr>
          <a:lstStyle/>
          <a:p>
            <a:pPr marL="0" indent="0" algn="ctr">
              <a:buNone/>
            </a:pPr>
            <a:r>
              <a:rPr lang="en-US" sz="1700" b="1" dirty="0">
                <a:solidFill>
                  <a:srgbClr val="A16207"/>
                </a:solidFill>
                <a:latin typeface="Arial" pitchFamily="34" charset="0"/>
                <a:ea typeface="Arial" pitchFamily="34" charset="-122"/>
                <a:cs typeface="Arial" pitchFamily="34" charset="-120"/>
              </a:rPr>
              <a:t>Configuration Metadata</a:t>
            </a:r>
            <a:endParaRPr lang="en-US" sz="1700" dirty="0"/>
          </a:p>
          <a:p>
            <a:pPr marL="0" indent="0" algn="ctr">
              <a:buNone/>
            </a:pPr>
            <a:r>
              <a:rPr lang="en-US" sz="1700" b="1" dirty="0">
                <a:solidFill>
                  <a:srgbClr val="A16207"/>
                </a:solidFill>
                <a:latin typeface="Arial" pitchFamily="34" charset="0"/>
                <a:ea typeface="Arial" pitchFamily="34" charset="-122"/>
                <a:cs typeface="Arial" pitchFamily="34" charset="-120"/>
              </a:rPr>
              <a:t>(annotations / Java config / XML)</a:t>
            </a:r>
            <a:endParaRPr lang="en-US" sz="1700" dirty="0"/>
          </a:p>
        </p:txBody>
      </p:sp>
      <p:sp>
        <p:nvSpPr>
          <p:cNvPr id="8" name="Shape 6"/>
          <p:cNvSpPr/>
          <p:nvPr/>
        </p:nvSpPr>
        <p:spPr>
          <a:xfrm>
            <a:off x="3840480" y="2331720"/>
            <a:ext cx="960120" cy="502920"/>
          </a:xfrm>
          <a:prstGeom prst="line">
            <a:avLst/>
          </a:prstGeom>
          <a:noFill/>
          <a:ln w="33020">
            <a:solidFill>
              <a:srgbClr val="6DB33F"/>
            </a:solidFill>
            <a:prstDash val="solid"/>
            <a:tailEnd type="triangle"/>
          </a:ln>
        </p:spPr>
      </p:sp>
      <p:sp>
        <p:nvSpPr>
          <p:cNvPr id="9" name="Shape 7"/>
          <p:cNvSpPr/>
          <p:nvPr/>
        </p:nvSpPr>
        <p:spPr>
          <a:xfrm>
            <a:off x="3840480" y="4251960"/>
            <a:ext cx="960120" cy="0"/>
          </a:xfrm>
          <a:prstGeom prst="line">
            <a:avLst/>
          </a:prstGeom>
          <a:noFill/>
          <a:ln w="33020">
            <a:solidFill>
              <a:srgbClr val="6DB33F"/>
            </a:solidFill>
            <a:prstDash val="solid"/>
            <a:tailEnd type="triangle"/>
          </a:ln>
        </p:spPr>
      </p:sp>
      <p:sp>
        <p:nvSpPr>
          <p:cNvPr id="10" name="Shape 8"/>
          <p:cNvSpPr/>
          <p:nvPr/>
        </p:nvSpPr>
        <p:spPr>
          <a:xfrm>
            <a:off x="4828032" y="2148840"/>
            <a:ext cx="2880360" cy="2011680"/>
          </a:xfrm>
          <a:prstGeom prst="roundRect">
            <a:avLst/>
          </a:prstGeom>
          <a:solidFill>
            <a:srgbClr val="EEF7E8"/>
          </a:solidFill>
          <a:ln w="25400">
            <a:solidFill>
              <a:srgbClr val="6DB33F"/>
            </a:solidFill>
            <a:prstDash val="solid"/>
          </a:ln>
        </p:spPr>
      </p:sp>
      <p:sp>
        <p:nvSpPr>
          <p:cNvPr id="11" name="Text 9"/>
          <p:cNvSpPr/>
          <p:nvPr/>
        </p:nvSpPr>
        <p:spPr>
          <a:xfrm>
            <a:off x="5166360" y="2542032"/>
            <a:ext cx="2194560" cy="914400"/>
          </a:xfrm>
          <a:prstGeom prst="rect">
            <a:avLst/>
          </a:prstGeom>
          <a:noFill/>
          <a:ln/>
        </p:spPr>
        <p:txBody>
          <a:bodyPr wrap="square" lIns="0" tIns="0" rIns="0" bIns="0" rtlCol="0" anchor="ctr"/>
          <a:lstStyle/>
          <a:p>
            <a:pPr marL="0" indent="0" algn="ctr">
              <a:buNone/>
            </a:pPr>
            <a:r>
              <a:rPr lang="en-US" sz="2400" b="1" dirty="0">
                <a:solidFill>
                  <a:srgbClr val="3E7D20"/>
                </a:solidFill>
              </a:rPr>
              <a:t>Spring IoC</a:t>
            </a:r>
            <a:endParaRPr lang="en-US" sz="2400" dirty="0"/>
          </a:p>
          <a:p>
            <a:pPr marL="0" indent="0" algn="ctr">
              <a:buNone/>
            </a:pPr>
            <a:r>
              <a:rPr lang="en-US" sz="2400" b="1" dirty="0">
                <a:solidFill>
                  <a:srgbClr val="3E7D20"/>
                </a:solidFill>
              </a:rPr>
              <a:t>Container</a:t>
            </a:r>
            <a:endParaRPr lang="en-US" sz="2400" dirty="0"/>
          </a:p>
        </p:txBody>
      </p:sp>
      <p:sp>
        <p:nvSpPr>
          <p:cNvPr id="12" name="Shape 10"/>
          <p:cNvSpPr/>
          <p:nvPr/>
        </p:nvSpPr>
        <p:spPr>
          <a:xfrm>
            <a:off x="7818120" y="3154680"/>
            <a:ext cx="914400" cy="0"/>
          </a:xfrm>
          <a:prstGeom prst="line">
            <a:avLst/>
          </a:prstGeom>
          <a:noFill/>
          <a:ln w="33020">
            <a:solidFill>
              <a:srgbClr val="6DB33F"/>
            </a:solidFill>
            <a:prstDash val="solid"/>
            <a:tailEnd type="triangle"/>
          </a:ln>
        </p:spPr>
      </p:sp>
      <p:sp>
        <p:nvSpPr>
          <p:cNvPr id="13" name="Shape 11"/>
          <p:cNvSpPr/>
          <p:nvPr/>
        </p:nvSpPr>
        <p:spPr>
          <a:xfrm>
            <a:off x="8823960" y="2514600"/>
            <a:ext cx="2560320" cy="1325880"/>
          </a:xfrm>
          <a:prstGeom prst="roundRect">
            <a:avLst>
              <a:gd name="adj" fmla="val 3448"/>
            </a:avLst>
          </a:prstGeom>
          <a:solidFill>
            <a:srgbClr val="EAF2FF"/>
          </a:solidFill>
          <a:ln w="12700">
            <a:solidFill>
              <a:srgbClr val="B9D1FF"/>
            </a:solidFill>
            <a:prstDash val="solid"/>
          </a:ln>
        </p:spPr>
      </p:sp>
      <p:sp>
        <p:nvSpPr>
          <p:cNvPr id="14" name="Text 12"/>
          <p:cNvSpPr/>
          <p:nvPr/>
        </p:nvSpPr>
        <p:spPr>
          <a:xfrm>
            <a:off x="8887968" y="2560320"/>
            <a:ext cx="2432304" cy="1234440"/>
          </a:xfrm>
          <a:prstGeom prst="rect">
            <a:avLst/>
          </a:prstGeom>
          <a:noFill/>
          <a:ln/>
        </p:spPr>
        <p:txBody>
          <a:bodyPr wrap="square" lIns="254" tIns="254" rIns="254" bIns="254" rtlCol="0" anchor="ctr">
            <a:normAutofit/>
          </a:bodyPr>
          <a:lstStyle/>
          <a:p>
            <a:pPr marL="0" indent="0" algn="ctr">
              <a:buNone/>
            </a:pPr>
            <a:r>
              <a:rPr lang="en-US" sz="1900" b="1" dirty="0">
                <a:solidFill>
                  <a:srgbClr val="2563EB"/>
                </a:solidFill>
                <a:latin typeface="Arial" pitchFamily="34" charset="0"/>
                <a:ea typeface="Arial" pitchFamily="34" charset="-122"/>
                <a:cs typeface="Arial" pitchFamily="34" charset="-120"/>
              </a:rPr>
              <a:t>Fully Configured</a:t>
            </a:r>
            <a:endParaRPr lang="en-US" sz="1900" dirty="0"/>
          </a:p>
          <a:p>
            <a:pPr marL="0" indent="0" algn="ctr">
              <a:buNone/>
            </a:pPr>
            <a:r>
              <a:rPr lang="en-US" sz="1900" b="1" dirty="0">
                <a:solidFill>
                  <a:srgbClr val="2563EB"/>
                </a:solidFill>
                <a:latin typeface="Arial" pitchFamily="34" charset="0"/>
                <a:ea typeface="Arial" pitchFamily="34" charset="-122"/>
                <a:cs typeface="Arial" pitchFamily="34" charset="-120"/>
              </a:rPr>
              <a:t>Application</a:t>
            </a:r>
            <a:endParaRPr lang="en-US" sz="1900" dirty="0"/>
          </a:p>
        </p:txBody>
      </p:sp>
      <p:sp>
        <p:nvSpPr>
          <p:cNvPr id="15" name="Text 13"/>
          <p:cNvSpPr/>
          <p:nvPr/>
        </p:nvSpPr>
        <p:spPr>
          <a:xfrm>
            <a:off x="1234440" y="5257800"/>
            <a:ext cx="9738360" cy="512064"/>
          </a:xfrm>
          <a:prstGeom prst="rect">
            <a:avLst/>
          </a:prstGeom>
          <a:noFill/>
          <a:ln/>
        </p:spPr>
        <p:txBody>
          <a:bodyPr wrap="square" lIns="0" tIns="0" rIns="0" bIns="0" rtlCol="0" anchor="ctr">
            <a:normAutofit/>
          </a:bodyPr>
          <a:lstStyle/>
          <a:p>
            <a:pPr marL="0" indent="0" algn="ctr">
              <a:buNone/>
            </a:pPr>
            <a:r>
              <a:rPr lang="en-US" sz="1600" b="1" dirty="0">
                <a:solidFill>
                  <a:srgbClr val="1F2937"/>
                </a:solidFill>
              </a:rPr>
              <a:t>A “bean” is simply an object that is instantiated, assembled and managed by the Spring IoC container.</a:t>
            </a:r>
            <a:endParaRPr lang="en-US" sz="1600" dirty="0"/>
          </a:p>
        </p:txBody>
      </p:sp>
      <p:sp>
        <p:nvSpPr>
          <p:cNvPr id="25" name="Slide Number Placeholder 0"/>
          <p:cNvSpPr>
            <a:spLocks noGrp="1"/>
          </p:cNvSpPr>
          <p:nvPr>
            <p:ph type="sldNum" sz="quarter" idx="4294967295"/>
          </p:nvPr>
        </p:nvSpPr>
        <p:spPr>
          <a:xfrm>
            <a:off x="11384280" y="6473952"/>
            <a:ext cx="384048"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latin typeface="Arial"/>
                <a:ea typeface="Arial"/>
                <a:cs typeface="Aria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310896"/>
            <a:ext cx="11064240" cy="475488"/>
          </a:xfrm>
          <a:prstGeom prst="rect">
            <a:avLst/>
          </a:prstGeom>
          <a:noFill/>
          <a:ln/>
        </p:spPr>
        <p:txBody>
          <a:bodyPr wrap="square" lIns="0" tIns="0" rIns="0" bIns="0" rtlCol="0" anchor="ctr">
            <a:normAutofit/>
          </a:bodyPr>
          <a:lstStyle/>
          <a:p>
            <a:pPr marL="0" indent="0">
              <a:buNone/>
            </a:pPr>
            <a:r>
              <a:rPr lang="en-US" sz="2700" b="1" dirty="0">
                <a:solidFill>
                  <a:srgbClr val="1F2937"/>
                </a:solidFill>
                <a:latin typeface="Arial" pitchFamily="34" charset="0"/>
                <a:ea typeface="Arial" pitchFamily="34" charset="-122"/>
                <a:cs typeface="Arial" pitchFamily="34" charset="-120"/>
              </a:rPr>
              <a:t>Beans, BeanFactory and ApplicationContext</a:t>
            </a:r>
            <a:endParaRPr lang="en-US" sz="2700" dirty="0"/>
          </a:p>
        </p:txBody>
      </p:sp>
      <p:sp>
        <p:nvSpPr>
          <p:cNvPr id="3" name="Text 1"/>
          <p:cNvSpPr/>
          <p:nvPr/>
        </p:nvSpPr>
        <p:spPr>
          <a:xfrm>
            <a:off x="530352" y="804672"/>
            <a:ext cx="10881360" cy="310896"/>
          </a:xfrm>
          <a:prstGeom prst="rect">
            <a:avLst/>
          </a:prstGeom>
          <a:noFill/>
          <a:ln/>
        </p:spPr>
        <p:txBody>
          <a:bodyPr wrap="square" lIns="0" tIns="0" rIns="0" bIns="0" rtlCol="0" anchor="ctr">
            <a:normAutofit/>
          </a:bodyPr>
          <a:lstStyle/>
          <a:p>
            <a:pPr marL="0" indent="0">
              <a:buNone/>
            </a:pPr>
            <a:r>
              <a:rPr lang="en-US" sz="1250" dirty="0">
                <a:solidFill>
                  <a:srgbClr val="64748B"/>
                </a:solidFill>
                <a:latin typeface="Arial" pitchFamily="34" charset="0"/>
                <a:ea typeface="Arial" pitchFamily="34" charset="-122"/>
                <a:cs typeface="Arial" pitchFamily="34" charset="-120"/>
              </a:rPr>
              <a:t>Three words freshers should be able to explain clearly</a:t>
            </a:r>
            <a:endParaRPr lang="en-US" sz="1250" dirty="0"/>
          </a:p>
        </p:txBody>
      </p:sp>
      <p:sp>
        <p:nvSpPr>
          <p:cNvPr id="4" name="Shape 2"/>
          <p:cNvSpPr/>
          <p:nvPr/>
        </p:nvSpPr>
        <p:spPr>
          <a:xfrm>
            <a:off x="658368" y="1417320"/>
            <a:ext cx="3429000" cy="1874520"/>
          </a:xfrm>
          <a:prstGeom prst="roundRect">
            <a:avLst>
              <a:gd name="adj" fmla="val 3902"/>
            </a:avLst>
          </a:prstGeom>
          <a:solidFill>
            <a:srgbClr val="FFFFFF"/>
          </a:solidFill>
          <a:ln w="12700">
            <a:solidFill>
              <a:srgbClr val="D8E2D2"/>
            </a:solidFill>
            <a:prstDash val="solid"/>
          </a:ln>
          <a:effectLst>
            <a:outerShdw blurRad="19050" dist="50800" dir="2700000" algn="bl" rotWithShape="0">
              <a:srgbClr val="D1D5DB">
                <a:alpha val="12000"/>
              </a:srgbClr>
            </a:outerShdw>
          </a:effectLst>
        </p:spPr>
      </p:sp>
      <p:sp>
        <p:nvSpPr>
          <p:cNvPr id="5" name="Shape 3"/>
          <p:cNvSpPr/>
          <p:nvPr/>
        </p:nvSpPr>
        <p:spPr>
          <a:xfrm>
            <a:off x="658368" y="1417320"/>
            <a:ext cx="73152" cy="1874520"/>
          </a:xfrm>
          <a:prstGeom prst="rect">
            <a:avLst/>
          </a:prstGeom>
          <a:solidFill>
            <a:srgbClr val="6DB33F"/>
          </a:solidFill>
          <a:ln w="12700">
            <a:solidFill>
              <a:srgbClr val="6DB33F"/>
            </a:solidFill>
            <a:prstDash val="solid"/>
          </a:ln>
        </p:spPr>
      </p:sp>
      <p:sp>
        <p:nvSpPr>
          <p:cNvPr id="6" name="Shape 4"/>
          <p:cNvSpPr/>
          <p:nvPr/>
        </p:nvSpPr>
        <p:spPr>
          <a:xfrm>
            <a:off x="822960" y="1581912"/>
            <a:ext cx="438912" cy="438912"/>
          </a:xfrm>
          <a:prstGeom prst="ellipse">
            <a:avLst/>
          </a:prstGeom>
          <a:solidFill>
            <a:srgbClr val="6DB33F"/>
          </a:solidFill>
          <a:ln w="12700">
            <a:solidFill>
              <a:srgbClr val="6DB33F"/>
            </a:solidFill>
            <a:prstDash val="solid"/>
          </a:ln>
        </p:spPr>
      </p:sp>
      <p:sp>
        <p:nvSpPr>
          <p:cNvPr id="7" name="Text 5"/>
          <p:cNvSpPr/>
          <p:nvPr/>
        </p:nvSpPr>
        <p:spPr>
          <a:xfrm>
            <a:off x="822960" y="1618488"/>
            <a:ext cx="438912" cy="292608"/>
          </a:xfrm>
          <a:prstGeom prst="rect">
            <a:avLst/>
          </a:prstGeom>
          <a:noFill/>
          <a:ln/>
        </p:spPr>
        <p:txBody>
          <a:bodyPr wrap="square" lIns="0" tIns="0" rIns="0" bIns="0" rtlCol="0" anchor="ctr"/>
          <a:lstStyle/>
          <a:p>
            <a:pPr marL="0" indent="0" algn="ctr">
              <a:buNone/>
            </a:pPr>
            <a:r>
              <a:rPr lang="en-US" sz="1500" b="1" dirty="0">
                <a:solidFill>
                  <a:srgbClr val="FFFFFF"/>
                </a:solidFill>
              </a:rPr>
              <a:t>B</a:t>
            </a:r>
            <a:endParaRPr lang="en-US" sz="1500" dirty="0"/>
          </a:p>
        </p:txBody>
      </p:sp>
      <p:sp>
        <p:nvSpPr>
          <p:cNvPr id="8" name="Text 6"/>
          <p:cNvSpPr/>
          <p:nvPr/>
        </p:nvSpPr>
        <p:spPr>
          <a:xfrm>
            <a:off x="1371600" y="1563624"/>
            <a:ext cx="2551176" cy="310896"/>
          </a:xfrm>
          <a:prstGeom prst="rect">
            <a:avLst/>
          </a:prstGeom>
          <a:noFill/>
          <a:ln/>
        </p:spPr>
        <p:txBody>
          <a:bodyPr wrap="square" lIns="0" tIns="0" rIns="0" bIns="0" rtlCol="0" anchor="ctr">
            <a:normAutofit/>
          </a:bodyPr>
          <a:lstStyle/>
          <a:p>
            <a:pPr marL="0" indent="0">
              <a:buNone/>
            </a:pPr>
            <a:r>
              <a:rPr lang="en-US" sz="1650" b="1" dirty="0">
                <a:solidFill>
                  <a:srgbClr val="1F2937"/>
                </a:solidFill>
              </a:rPr>
              <a:t>Bean</a:t>
            </a:r>
            <a:endParaRPr lang="en-US" sz="1650" dirty="0"/>
          </a:p>
        </p:txBody>
      </p:sp>
      <p:sp>
        <p:nvSpPr>
          <p:cNvPr id="9" name="Text 7"/>
          <p:cNvSpPr/>
          <p:nvPr/>
        </p:nvSpPr>
        <p:spPr>
          <a:xfrm>
            <a:off x="841248" y="2075688"/>
            <a:ext cx="3063240" cy="1069848"/>
          </a:xfrm>
          <a:prstGeom prst="rect">
            <a:avLst/>
          </a:prstGeom>
          <a:noFill/>
          <a:ln/>
        </p:spPr>
        <p:txBody>
          <a:bodyPr wrap="square" lIns="254" tIns="254" rIns="254" bIns="254" rtlCol="0" anchor="t">
            <a:normAutofit/>
          </a:bodyPr>
          <a:lstStyle/>
          <a:p>
            <a:pPr marL="0" indent="0">
              <a:buNone/>
            </a:pPr>
            <a:r>
              <a:rPr lang="en-US" sz="1280" dirty="0">
                <a:solidFill>
                  <a:srgbClr val="64748B"/>
                </a:solidFill>
              </a:rPr>
              <a:t>An ordinary Java object that Spring creates, configures and manages inside the IoC container.</a:t>
            </a:r>
            <a:endParaRPr lang="en-US" sz="1280" dirty="0"/>
          </a:p>
        </p:txBody>
      </p:sp>
      <p:sp>
        <p:nvSpPr>
          <p:cNvPr id="10" name="Shape 8"/>
          <p:cNvSpPr/>
          <p:nvPr/>
        </p:nvSpPr>
        <p:spPr>
          <a:xfrm>
            <a:off x="4389120" y="1417320"/>
            <a:ext cx="3429000" cy="1874520"/>
          </a:xfrm>
          <a:prstGeom prst="roundRect">
            <a:avLst>
              <a:gd name="adj" fmla="val 3902"/>
            </a:avLst>
          </a:prstGeom>
          <a:solidFill>
            <a:srgbClr val="FFFFFF"/>
          </a:solidFill>
          <a:ln w="12700">
            <a:solidFill>
              <a:srgbClr val="D8E2D2"/>
            </a:solidFill>
            <a:prstDash val="solid"/>
          </a:ln>
          <a:effectLst>
            <a:outerShdw blurRad="19050" dist="50800" dir="2700000" algn="bl" rotWithShape="0">
              <a:srgbClr val="D1D5DB">
                <a:alpha val="12000"/>
              </a:srgbClr>
            </a:outerShdw>
          </a:effectLst>
        </p:spPr>
      </p:sp>
      <p:sp>
        <p:nvSpPr>
          <p:cNvPr id="11" name="Shape 9"/>
          <p:cNvSpPr/>
          <p:nvPr/>
        </p:nvSpPr>
        <p:spPr>
          <a:xfrm>
            <a:off x="4389120" y="1417320"/>
            <a:ext cx="73152" cy="1874520"/>
          </a:xfrm>
          <a:prstGeom prst="rect">
            <a:avLst/>
          </a:prstGeom>
          <a:solidFill>
            <a:srgbClr val="2563EB"/>
          </a:solidFill>
          <a:ln w="12700">
            <a:solidFill>
              <a:srgbClr val="2563EB"/>
            </a:solidFill>
            <a:prstDash val="solid"/>
          </a:ln>
        </p:spPr>
      </p:sp>
      <p:sp>
        <p:nvSpPr>
          <p:cNvPr id="12" name="Shape 10"/>
          <p:cNvSpPr/>
          <p:nvPr/>
        </p:nvSpPr>
        <p:spPr>
          <a:xfrm>
            <a:off x="4553712" y="1581912"/>
            <a:ext cx="438912" cy="438912"/>
          </a:xfrm>
          <a:prstGeom prst="ellipse">
            <a:avLst/>
          </a:prstGeom>
          <a:solidFill>
            <a:srgbClr val="2563EB"/>
          </a:solidFill>
          <a:ln w="12700">
            <a:solidFill>
              <a:srgbClr val="2563EB"/>
            </a:solidFill>
            <a:prstDash val="solid"/>
          </a:ln>
        </p:spPr>
      </p:sp>
      <p:sp>
        <p:nvSpPr>
          <p:cNvPr id="13" name="Text 11"/>
          <p:cNvSpPr/>
          <p:nvPr/>
        </p:nvSpPr>
        <p:spPr>
          <a:xfrm>
            <a:off x="4553712" y="1618488"/>
            <a:ext cx="438912" cy="292608"/>
          </a:xfrm>
          <a:prstGeom prst="rect">
            <a:avLst/>
          </a:prstGeom>
          <a:noFill/>
          <a:ln/>
        </p:spPr>
        <p:txBody>
          <a:bodyPr wrap="square" lIns="0" tIns="0" rIns="0" bIns="0" rtlCol="0" anchor="ctr"/>
          <a:lstStyle/>
          <a:p>
            <a:pPr marL="0" indent="0" algn="ctr">
              <a:buNone/>
            </a:pPr>
            <a:r>
              <a:rPr lang="en-US" sz="1500" b="1" dirty="0">
                <a:solidFill>
                  <a:srgbClr val="FFFFFF"/>
                </a:solidFill>
              </a:rPr>
              <a:t>BF</a:t>
            </a:r>
            <a:endParaRPr lang="en-US" sz="1500" dirty="0"/>
          </a:p>
        </p:txBody>
      </p:sp>
      <p:sp>
        <p:nvSpPr>
          <p:cNvPr id="14" name="Text 12"/>
          <p:cNvSpPr/>
          <p:nvPr/>
        </p:nvSpPr>
        <p:spPr>
          <a:xfrm>
            <a:off x="5102352" y="1563624"/>
            <a:ext cx="2551176" cy="310896"/>
          </a:xfrm>
          <a:prstGeom prst="rect">
            <a:avLst/>
          </a:prstGeom>
          <a:noFill/>
          <a:ln/>
        </p:spPr>
        <p:txBody>
          <a:bodyPr wrap="square" lIns="0" tIns="0" rIns="0" bIns="0" rtlCol="0" anchor="ctr">
            <a:normAutofit/>
          </a:bodyPr>
          <a:lstStyle/>
          <a:p>
            <a:pPr marL="0" indent="0">
              <a:buNone/>
            </a:pPr>
            <a:r>
              <a:rPr lang="en-US" sz="1650" b="1" dirty="0">
                <a:solidFill>
                  <a:srgbClr val="1F2937"/>
                </a:solidFill>
              </a:rPr>
              <a:t>BeanFactory</a:t>
            </a:r>
            <a:endParaRPr lang="en-US" sz="1650" dirty="0"/>
          </a:p>
        </p:txBody>
      </p:sp>
      <p:sp>
        <p:nvSpPr>
          <p:cNvPr id="15" name="Text 13"/>
          <p:cNvSpPr/>
          <p:nvPr/>
        </p:nvSpPr>
        <p:spPr>
          <a:xfrm>
            <a:off x="4572000" y="2075688"/>
            <a:ext cx="3063240" cy="1069848"/>
          </a:xfrm>
          <a:prstGeom prst="rect">
            <a:avLst/>
          </a:prstGeom>
          <a:noFill/>
          <a:ln/>
        </p:spPr>
        <p:txBody>
          <a:bodyPr wrap="square" lIns="254" tIns="254" rIns="254" bIns="254" rtlCol="0" anchor="t">
            <a:normAutofit/>
          </a:bodyPr>
          <a:lstStyle/>
          <a:p>
            <a:pPr marL="0" indent="0">
              <a:buNone/>
            </a:pPr>
            <a:r>
              <a:rPr lang="en-US" sz="1280" dirty="0">
                <a:solidFill>
                  <a:srgbClr val="64748B"/>
                </a:solidFill>
              </a:rPr>
              <a:t>The foundational container interface that provides configuration and object-management capabilities.</a:t>
            </a:r>
            <a:endParaRPr lang="en-US" sz="1280" dirty="0"/>
          </a:p>
        </p:txBody>
      </p:sp>
      <p:sp>
        <p:nvSpPr>
          <p:cNvPr id="16" name="Shape 14"/>
          <p:cNvSpPr/>
          <p:nvPr/>
        </p:nvSpPr>
        <p:spPr>
          <a:xfrm>
            <a:off x="8119872" y="1417320"/>
            <a:ext cx="3429000" cy="1874520"/>
          </a:xfrm>
          <a:prstGeom prst="roundRect">
            <a:avLst>
              <a:gd name="adj" fmla="val 3902"/>
            </a:avLst>
          </a:prstGeom>
          <a:solidFill>
            <a:srgbClr val="FFFFFF"/>
          </a:solidFill>
          <a:ln w="12700">
            <a:solidFill>
              <a:srgbClr val="D8E2D2"/>
            </a:solidFill>
            <a:prstDash val="solid"/>
          </a:ln>
          <a:effectLst>
            <a:outerShdw blurRad="19050" dist="50800" dir="2700000" algn="bl" rotWithShape="0">
              <a:srgbClr val="D1D5DB">
                <a:alpha val="12000"/>
              </a:srgbClr>
            </a:outerShdw>
          </a:effectLst>
        </p:spPr>
      </p:sp>
      <p:sp>
        <p:nvSpPr>
          <p:cNvPr id="17" name="Shape 15"/>
          <p:cNvSpPr/>
          <p:nvPr/>
        </p:nvSpPr>
        <p:spPr>
          <a:xfrm>
            <a:off x="8119872" y="1417320"/>
            <a:ext cx="73152" cy="1874520"/>
          </a:xfrm>
          <a:prstGeom prst="rect">
            <a:avLst/>
          </a:prstGeom>
          <a:solidFill>
            <a:srgbClr val="7C3AED"/>
          </a:solidFill>
          <a:ln w="12700">
            <a:solidFill>
              <a:srgbClr val="7C3AED"/>
            </a:solidFill>
            <a:prstDash val="solid"/>
          </a:ln>
        </p:spPr>
      </p:sp>
      <p:sp>
        <p:nvSpPr>
          <p:cNvPr id="18" name="Shape 16"/>
          <p:cNvSpPr/>
          <p:nvPr/>
        </p:nvSpPr>
        <p:spPr>
          <a:xfrm>
            <a:off x="8284464" y="1581912"/>
            <a:ext cx="438912" cy="438912"/>
          </a:xfrm>
          <a:prstGeom prst="ellipse">
            <a:avLst/>
          </a:prstGeom>
          <a:solidFill>
            <a:srgbClr val="7C3AED"/>
          </a:solidFill>
          <a:ln w="12700">
            <a:solidFill>
              <a:srgbClr val="7C3AED"/>
            </a:solidFill>
            <a:prstDash val="solid"/>
          </a:ln>
        </p:spPr>
      </p:sp>
      <p:sp>
        <p:nvSpPr>
          <p:cNvPr id="19" name="Text 17"/>
          <p:cNvSpPr/>
          <p:nvPr/>
        </p:nvSpPr>
        <p:spPr>
          <a:xfrm>
            <a:off x="8284464" y="1618488"/>
            <a:ext cx="438912" cy="292608"/>
          </a:xfrm>
          <a:prstGeom prst="rect">
            <a:avLst/>
          </a:prstGeom>
          <a:noFill/>
          <a:ln/>
        </p:spPr>
        <p:txBody>
          <a:bodyPr wrap="square" lIns="0" tIns="0" rIns="0" bIns="0" rtlCol="0" anchor="ctr"/>
          <a:lstStyle/>
          <a:p>
            <a:pPr marL="0" indent="0" algn="ctr">
              <a:buNone/>
            </a:pPr>
            <a:r>
              <a:rPr lang="en-US" sz="1500" b="1" dirty="0">
                <a:solidFill>
                  <a:srgbClr val="FFFFFF"/>
                </a:solidFill>
              </a:rPr>
              <a:t>AC</a:t>
            </a:r>
            <a:endParaRPr lang="en-US" sz="1500" dirty="0"/>
          </a:p>
        </p:txBody>
      </p:sp>
      <p:sp>
        <p:nvSpPr>
          <p:cNvPr id="20" name="Text 18"/>
          <p:cNvSpPr/>
          <p:nvPr/>
        </p:nvSpPr>
        <p:spPr>
          <a:xfrm>
            <a:off x="8833104" y="1563624"/>
            <a:ext cx="2551176" cy="310896"/>
          </a:xfrm>
          <a:prstGeom prst="rect">
            <a:avLst/>
          </a:prstGeom>
          <a:noFill/>
          <a:ln/>
        </p:spPr>
        <p:txBody>
          <a:bodyPr wrap="square" lIns="0" tIns="0" rIns="0" bIns="0" rtlCol="0" anchor="ctr">
            <a:normAutofit/>
          </a:bodyPr>
          <a:lstStyle/>
          <a:p>
            <a:pPr marL="0" indent="0">
              <a:buNone/>
            </a:pPr>
            <a:r>
              <a:rPr lang="en-US" sz="1650" b="1" dirty="0">
                <a:solidFill>
                  <a:srgbClr val="1F2937"/>
                </a:solidFill>
              </a:rPr>
              <a:t>ApplicationContext</a:t>
            </a:r>
            <a:endParaRPr lang="en-US" sz="1650" dirty="0"/>
          </a:p>
        </p:txBody>
      </p:sp>
      <p:sp>
        <p:nvSpPr>
          <p:cNvPr id="21" name="Text 19"/>
          <p:cNvSpPr/>
          <p:nvPr/>
        </p:nvSpPr>
        <p:spPr>
          <a:xfrm>
            <a:off x="8302752" y="2075688"/>
            <a:ext cx="3063240" cy="1069848"/>
          </a:xfrm>
          <a:prstGeom prst="rect">
            <a:avLst/>
          </a:prstGeom>
          <a:noFill/>
          <a:ln/>
        </p:spPr>
        <p:txBody>
          <a:bodyPr wrap="square" lIns="254" tIns="254" rIns="254" bIns="254" rtlCol="0" anchor="t">
            <a:normAutofit/>
          </a:bodyPr>
          <a:lstStyle/>
          <a:p>
            <a:pPr marL="0" indent="0">
              <a:buNone/>
            </a:pPr>
            <a:r>
              <a:rPr lang="en-US" sz="1280" dirty="0">
                <a:solidFill>
                  <a:srgbClr val="64748B"/>
                </a:solidFill>
              </a:rPr>
              <a:t>A richer container built on BeanFactory with enterprise features such as events, resources and web contexts.</a:t>
            </a:r>
            <a:endParaRPr lang="en-US" sz="1280" dirty="0"/>
          </a:p>
        </p:txBody>
      </p:sp>
      <p:sp>
        <p:nvSpPr>
          <p:cNvPr id="22" name="Shape 20"/>
          <p:cNvSpPr/>
          <p:nvPr/>
        </p:nvSpPr>
        <p:spPr>
          <a:xfrm>
            <a:off x="1280160" y="4069080"/>
            <a:ext cx="1965960" cy="530352"/>
          </a:xfrm>
          <a:prstGeom prst="roundRect">
            <a:avLst>
              <a:gd name="adj" fmla="val 8621"/>
            </a:avLst>
          </a:prstGeom>
          <a:solidFill>
            <a:srgbClr val="EEF7E8"/>
          </a:solidFill>
          <a:ln w="12700">
            <a:solidFill>
              <a:srgbClr val="A8D98E"/>
            </a:solidFill>
            <a:prstDash val="solid"/>
          </a:ln>
        </p:spPr>
      </p:sp>
      <p:sp>
        <p:nvSpPr>
          <p:cNvPr id="23" name="Text 21"/>
          <p:cNvSpPr/>
          <p:nvPr/>
        </p:nvSpPr>
        <p:spPr>
          <a:xfrm>
            <a:off x="1344168" y="4114800"/>
            <a:ext cx="1837944" cy="438912"/>
          </a:xfrm>
          <a:prstGeom prst="rect">
            <a:avLst/>
          </a:prstGeom>
          <a:noFill/>
          <a:ln/>
        </p:spPr>
        <p:txBody>
          <a:bodyPr wrap="square" lIns="254" tIns="254" rIns="254" bIns="254" rtlCol="0" anchor="ctr">
            <a:normAutofit/>
          </a:bodyPr>
          <a:lstStyle/>
          <a:p>
            <a:pPr marL="0" indent="0" algn="ctr">
              <a:buNone/>
            </a:pPr>
            <a:r>
              <a:rPr lang="en-US" sz="1400" b="1" dirty="0">
                <a:solidFill>
                  <a:srgbClr val="3E7D20"/>
                </a:solidFill>
                <a:latin typeface="Arial" pitchFamily="34" charset="0"/>
                <a:ea typeface="Arial" pitchFamily="34" charset="-122"/>
                <a:cs typeface="Arial" pitchFamily="34" charset="-120"/>
              </a:rPr>
              <a:t>EmployeeService</a:t>
            </a:r>
            <a:endParaRPr lang="en-US" sz="1400" dirty="0"/>
          </a:p>
        </p:txBody>
      </p:sp>
      <p:sp>
        <p:nvSpPr>
          <p:cNvPr id="24" name="Shape 22"/>
          <p:cNvSpPr/>
          <p:nvPr/>
        </p:nvSpPr>
        <p:spPr>
          <a:xfrm>
            <a:off x="3749040" y="4069080"/>
            <a:ext cx="1965960" cy="530352"/>
          </a:xfrm>
          <a:prstGeom prst="roundRect">
            <a:avLst>
              <a:gd name="adj" fmla="val 8621"/>
            </a:avLst>
          </a:prstGeom>
          <a:solidFill>
            <a:srgbClr val="E6F7F4"/>
          </a:solidFill>
          <a:ln w="12700">
            <a:solidFill>
              <a:srgbClr val="B9E8DF"/>
            </a:solidFill>
            <a:prstDash val="solid"/>
          </a:ln>
        </p:spPr>
      </p:sp>
      <p:sp>
        <p:nvSpPr>
          <p:cNvPr id="25" name="Text 23"/>
          <p:cNvSpPr/>
          <p:nvPr/>
        </p:nvSpPr>
        <p:spPr>
          <a:xfrm>
            <a:off x="3813048" y="4114800"/>
            <a:ext cx="1837944" cy="438912"/>
          </a:xfrm>
          <a:prstGeom prst="rect">
            <a:avLst/>
          </a:prstGeom>
          <a:noFill/>
          <a:ln/>
        </p:spPr>
        <p:txBody>
          <a:bodyPr wrap="square" lIns="254" tIns="254" rIns="254" bIns="254" rtlCol="0" anchor="ctr">
            <a:normAutofit/>
          </a:bodyPr>
          <a:lstStyle/>
          <a:p>
            <a:pPr marL="0" indent="0" algn="ctr">
              <a:buNone/>
            </a:pPr>
            <a:r>
              <a:rPr lang="en-US" sz="1400" b="1" dirty="0">
                <a:solidFill>
                  <a:srgbClr val="0F766E"/>
                </a:solidFill>
                <a:latin typeface="Arial" pitchFamily="34" charset="0"/>
                <a:ea typeface="Arial" pitchFamily="34" charset="-122"/>
                <a:cs typeface="Arial" pitchFamily="34" charset="-120"/>
              </a:rPr>
              <a:t>EmployeeRepository</a:t>
            </a:r>
            <a:endParaRPr lang="en-US" sz="1400" dirty="0"/>
          </a:p>
        </p:txBody>
      </p:sp>
      <p:sp>
        <p:nvSpPr>
          <p:cNvPr id="26" name="Shape 24"/>
          <p:cNvSpPr/>
          <p:nvPr/>
        </p:nvSpPr>
        <p:spPr>
          <a:xfrm>
            <a:off x="6217920" y="4069080"/>
            <a:ext cx="1965960" cy="530352"/>
          </a:xfrm>
          <a:prstGeom prst="roundRect">
            <a:avLst>
              <a:gd name="adj" fmla="val 8621"/>
            </a:avLst>
          </a:prstGeom>
          <a:solidFill>
            <a:srgbClr val="EAF2FF"/>
          </a:solidFill>
          <a:ln w="12700">
            <a:solidFill>
              <a:srgbClr val="B9D1FF"/>
            </a:solidFill>
            <a:prstDash val="solid"/>
          </a:ln>
        </p:spPr>
      </p:sp>
      <p:sp>
        <p:nvSpPr>
          <p:cNvPr id="27" name="Text 25"/>
          <p:cNvSpPr/>
          <p:nvPr/>
        </p:nvSpPr>
        <p:spPr>
          <a:xfrm>
            <a:off x="6281928" y="4114800"/>
            <a:ext cx="1837944" cy="438912"/>
          </a:xfrm>
          <a:prstGeom prst="rect">
            <a:avLst/>
          </a:prstGeom>
          <a:noFill/>
          <a:ln/>
        </p:spPr>
        <p:txBody>
          <a:bodyPr wrap="square" lIns="254" tIns="254" rIns="254" bIns="254" rtlCol="0" anchor="ctr">
            <a:normAutofit/>
          </a:bodyPr>
          <a:lstStyle/>
          <a:p>
            <a:pPr marL="0" indent="0" algn="ctr">
              <a:buNone/>
            </a:pPr>
            <a:r>
              <a:rPr lang="en-US" sz="1400" b="1" dirty="0">
                <a:solidFill>
                  <a:srgbClr val="2563EB"/>
                </a:solidFill>
                <a:latin typeface="Arial" pitchFamily="34" charset="0"/>
                <a:ea typeface="Arial" pitchFamily="34" charset="-122"/>
                <a:cs typeface="Arial" pitchFamily="34" charset="-120"/>
              </a:rPr>
              <a:t>DataSource</a:t>
            </a:r>
            <a:endParaRPr lang="en-US" sz="1400" dirty="0"/>
          </a:p>
        </p:txBody>
      </p:sp>
      <p:sp>
        <p:nvSpPr>
          <p:cNvPr id="28" name="Shape 26"/>
          <p:cNvSpPr/>
          <p:nvPr/>
        </p:nvSpPr>
        <p:spPr>
          <a:xfrm>
            <a:off x="8686800" y="4069080"/>
            <a:ext cx="1965960" cy="530352"/>
          </a:xfrm>
          <a:prstGeom prst="roundRect">
            <a:avLst>
              <a:gd name="adj" fmla="val 8621"/>
            </a:avLst>
          </a:prstGeom>
          <a:solidFill>
            <a:srgbClr val="FFF4DB"/>
          </a:solidFill>
          <a:ln w="12700">
            <a:solidFill>
              <a:srgbClr val="F0C36C"/>
            </a:solidFill>
            <a:prstDash val="solid"/>
          </a:ln>
        </p:spPr>
      </p:sp>
      <p:sp>
        <p:nvSpPr>
          <p:cNvPr id="29" name="Text 27"/>
          <p:cNvSpPr/>
          <p:nvPr/>
        </p:nvSpPr>
        <p:spPr>
          <a:xfrm>
            <a:off x="8750808" y="4114800"/>
            <a:ext cx="1837944" cy="438912"/>
          </a:xfrm>
          <a:prstGeom prst="rect">
            <a:avLst/>
          </a:prstGeom>
          <a:noFill/>
          <a:ln/>
        </p:spPr>
        <p:txBody>
          <a:bodyPr wrap="square" lIns="254" tIns="254" rIns="254" bIns="254" rtlCol="0" anchor="ctr">
            <a:normAutofit/>
          </a:bodyPr>
          <a:lstStyle/>
          <a:p>
            <a:pPr marL="0" indent="0" algn="ctr">
              <a:buNone/>
            </a:pPr>
            <a:r>
              <a:rPr lang="en-US" sz="1400" b="1" dirty="0">
                <a:solidFill>
                  <a:srgbClr val="A16207"/>
                </a:solidFill>
                <a:latin typeface="Arial" pitchFamily="34" charset="0"/>
                <a:ea typeface="Arial" pitchFamily="34" charset="-122"/>
                <a:cs typeface="Arial" pitchFamily="34" charset="-120"/>
              </a:rPr>
              <a:t>ObjectMapper</a:t>
            </a:r>
            <a:endParaRPr lang="en-US" sz="1400" dirty="0"/>
          </a:p>
        </p:txBody>
      </p:sp>
      <p:sp>
        <p:nvSpPr>
          <p:cNvPr id="30" name="Shape 28"/>
          <p:cNvSpPr/>
          <p:nvPr/>
        </p:nvSpPr>
        <p:spPr>
          <a:xfrm>
            <a:off x="2240280" y="4663440"/>
            <a:ext cx="2194560" cy="0"/>
          </a:xfrm>
          <a:prstGeom prst="line">
            <a:avLst/>
          </a:prstGeom>
          <a:noFill/>
          <a:ln w="22860">
            <a:solidFill>
              <a:srgbClr val="64748B"/>
            </a:solidFill>
            <a:prstDash val="solid"/>
            <a:tailEnd type="triangle"/>
          </a:ln>
        </p:spPr>
      </p:sp>
      <p:sp>
        <p:nvSpPr>
          <p:cNvPr id="31" name="Shape 29"/>
          <p:cNvSpPr/>
          <p:nvPr/>
        </p:nvSpPr>
        <p:spPr>
          <a:xfrm>
            <a:off x="4709160" y="4892040"/>
            <a:ext cx="2194560" cy="0"/>
          </a:xfrm>
          <a:prstGeom prst="line">
            <a:avLst/>
          </a:prstGeom>
          <a:noFill/>
          <a:ln w="22860">
            <a:solidFill>
              <a:srgbClr val="64748B"/>
            </a:solidFill>
            <a:prstDash val="solid"/>
            <a:tailEnd type="triangle"/>
          </a:ln>
        </p:spPr>
      </p:sp>
      <p:sp>
        <p:nvSpPr>
          <p:cNvPr id="32" name="Text 30"/>
          <p:cNvSpPr/>
          <p:nvPr/>
        </p:nvSpPr>
        <p:spPr>
          <a:xfrm>
            <a:off x="1874520" y="5349240"/>
            <a:ext cx="8412480" cy="457200"/>
          </a:xfrm>
          <a:prstGeom prst="rect">
            <a:avLst/>
          </a:prstGeom>
          <a:noFill/>
          <a:ln/>
        </p:spPr>
        <p:txBody>
          <a:bodyPr wrap="square" lIns="0" tIns="0" rIns="0" bIns="0" rtlCol="0" anchor="ctr">
            <a:normAutofit/>
          </a:bodyPr>
          <a:lstStyle/>
          <a:p>
            <a:pPr marL="0" indent="0" algn="ctr">
              <a:buNone/>
            </a:pPr>
            <a:r>
              <a:rPr lang="en-US" sz="1650" b="1" dirty="0">
                <a:solidFill>
                  <a:srgbClr val="1F2937"/>
                </a:solidFill>
              </a:rPr>
              <a:t>The ApplicationContext holds and wires many beans that collaborate to run your application.</a:t>
            </a:r>
            <a:endParaRPr lang="en-US" sz="1650" dirty="0"/>
          </a:p>
        </p:txBody>
      </p:sp>
      <p:sp>
        <p:nvSpPr>
          <p:cNvPr id="33" name="Text 31"/>
          <p:cNvSpPr/>
          <p:nvPr/>
        </p:nvSpPr>
        <p:spPr>
          <a:xfrm>
            <a:off x="530352" y="6208776"/>
            <a:ext cx="10881360" cy="182880"/>
          </a:xfrm>
          <a:prstGeom prst="rect">
            <a:avLst/>
          </a:prstGeom>
          <a:noFill/>
          <a:ln/>
        </p:spPr>
        <p:txBody>
          <a:bodyPr wrap="square" lIns="0" tIns="0" rIns="0" bIns="0" rtlCol="0" anchor="ctr">
            <a:normAutofit/>
          </a:bodyPr>
          <a:lstStyle/>
          <a:p>
            <a:pPr marL="0" indent="0">
              <a:buNone/>
            </a:pPr>
            <a:r>
              <a:rPr lang="en-US" sz="780" i="1" dirty="0">
                <a:solidFill>
                  <a:srgbClr val="7B8794"/>
                </a:solidFill>
                <a:latin typeface="Arial" pitchFamily="34" charset="0"/>
                <a:ea typeface="Arial" pitchFamily="34" charset="-122"/>
                <a:cs typeface="Arial" pitchFamily="34" charset="-120"/>
              </a:rPr>
              <a:t>Official basis: Spring Framework Reference — BeanFactory and ApplicationContext.</a:t>
            </a:r>
            <a:endParaRPr lang="en-US" sz="780" dirty="0"/>
          </a:p>
        </p:txBody>
      </p:sp>
      <p:sp>
        <p:nvSpPr>
          <p:cNvPr id="34" name="Slide Number Placeholder 0"/>
          <p:cNvSpPr>
            <a:spLocks noGrp="1"/>
          </p:cNvSpPr>
          <p:nvPr>
            <p:ph type="sldNum" sz="quarter" idx="4294967295"/>
          </p:nvPr>
        </p:nvSpPr>
        <p:spPr>
          <a:xfrm>
            <a:off x="11384280" y="6473952"/>
            <a:ext cx="384048"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latin typeface="Arial"/>
                <a:ea typeface="Arial"/>
                <a:cs typeface="Aria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310896"/>
            <a:ext cx="11064240" cy="475488"/>
          </a:xfrm>
          <a:prstGeom prst="rect">
            <a:avLst/>
          </a:prstGeom>
          <a:noFill/>
          <a:ln/>
        </p:spPr>
        <p:txBody>
          <a:bodyPr wrap="square" lIns="0" tIns="0" rIns="0" bIns="0" rtlCol="0" anchor="ctr">
            <a:normAutofit/>
          </a:bodyPr>
          <a:lstStyle/>
          <a:p>
            <a:pPr marL="0" indent="0">
              <a:buNone/>
            </a:pPr>
            <a:r>
              <a:rPr lang="en-US" sz="2700" b="1" dirty="0">
                <a:solidFill>
                  <a:srgbClr val="1F2937"/>
                </a:solidFill>
                <a:latin typeface="Arial" pitchFamily="34" charset="0"/>
                <a:ea typeface="Arial" pitchFamily="34" charset="-122"/>
                <a:cs typeface="Arial" pitchFamily="34" charset="-120"/>
              </a:rPr>
              <a:t>Stereotype annotations — where classes belong</a:t>
            </a:r>
            <a:endParaRPr lang="en-US" sz="2700" dirty="0"/>
          </a:p>
        </p:txBody>
      </p:sp>
      <p:sp>
        <p:nvSpPr>
          <p:cNvPr id="3" name="Text 1"/>
          <p:cNvSpPr/>
          <p:nvPr/>
        </p:nvSpPr>
        <p:spPr>
          <a:xfrm>
            <a:off x="530352" y="804672"/>
            <a:ext cx="10881360" cy="310896"/>
          </a:xfrm>
          <a:prstGeom prst="rect">
            <a:avLst/>
          </a:prstGeom>
          <a:noFill/>
          <a:ln/>
        </p:spPr>
        <p:txBody>
          <a:bodyPr wrap="square" lIns="0" tIns="0" rIns="0" bIns="0" rtlCol="0" anchor="ctr">
            <a:normAutofit/>
          </a:bodyPr>
          <a:lstStyle/>
          <a:p>
            <a:pPr marL="0" indent="0">
              <a:buNone/>
            </a:pPr>
            <a:r>
              <a:rPr lang="en-US" sz="1250" dirty="0">
                <a:solidFill>
                  <a:srgbClr val="64748B"/>
                </a:solidFill>
                <a:latin typeface="Arial" pitchFamily="34" charset="0"/>
                <a:ea typeface="Arial" pitchFamily="34" charset="-122"/>
                <a:cs typeface="Arial" pitchFamily="34" charset="-120"/>
              </a:rPr>
              <a:t>Annotations communicate the role of a class and make it discoverable by component scanning</a:t>
            </a:r>
            <a:endParaRPr lang="en-US" sz="1250" dirty="0"/>
          </a:p>
        </p:txBody>
      </p:sp>
      <p:sp>
        <p:nvSpPr>
          <p:cNvPr id="4" name="Shape 2"/>
          <p:cNvSpPr/>
          <p:nvPr/>
        </p:nvSpPr>
        <p:spPr>
          <a:xfrm>
            <a:off x="731520" y="1325880"/>
            <a:ext cx="2331720" cy="603504"/>
          </a:xfrm>
          <a:prstGeom prst="roundRect">
            <a:avLst>
              <a:gd name="adj" fmla="val 7576"/>
            </a:avLst>
          </a:prstGeom>
          <a:solidFill>
            <a:srgbClr val="EAF2FF"/>
          </a:solidFill>
          <a:ln w="12700">
            <a:solidFill>
              <a:srgbClr val="D1D5DB"/>
            </a:solidFill>
            <a:prstDash val="solid"/>
          </a:ln>
        </p:spPr>
      </p:sp>
      <p:sp>
        <p:nvSpPr>
          <p:cNvPr id="5" name="Text 3"/>
          <p:cNvSpPr/>
          <p:nvPr/>
        </p:nvSpPr>
        <p:spPr>
          <a:xfrm>
            <a:off x="795528" y="1371600"/>
            <a:ext cx="2203704" cy="512064"/>
          </a:xfrm>
          <a:prstGeom prst="rect">
            <a:avLst/>
          </a:prstGeom>
          <a:noFill/>
          <a:ln/>
        </p:spPr>
        <p:txBody>
          <a:bodyPr wrap="square" lIns="254" tIns="254" rIns="254" bIns="254" rtlCol="0" anchor="ctr">
            <a:normAutofit/>
          </a:bodyPr>
          <a:lstStyle/>
          <a:p>
            <a:pPr marL="0" indent="0" algn="ctr">
              <a:buNone/>
            </a:pPr>
            <a:r>
              <a:rPr lang="en-US" sz="1400" b="1" dirty="0">
                <a:solidFill>
                  <a:srgbClr val="2563EB"/>
                </a:solidFill>
                <a:latin typeface="Arial" pitchFamily="34" charset="0"/>
                <a:ea typeface="Arial" pitchFamily="34" charset="-122"/>
                <a:cs typeface="Arial" pitchFamily="34" charset="-120"/>
              </a:rPr>
              <a:t>@Controller / @RestController</a:t>
            </a:r>
            <a:endParaRPr lang="en-US" sz="1400" dirty="0"/>
          </a:p>
        </p:txBody>
      </p:sp>
      <p:sp>
        <p:nvSpPr>
          <p:cNvPr id="6" name="Shape 4"/>
          <p:cNvSpPr/>
          <p:nvPr/>
        </p:nvSpPr>
        <p:spPr>
          <a:xfrm>
            <a:off x="3337560" y="1325880"/>
            <a:ext cx="1828800" cy="603504"/>
          </a:xfrm>
          <a:prstGeom prst="roundRect">
            <a:avLst>
              <a:gd name="adj" fmla="val 7576"/>
            </a:avLst>
          </a:prstGeom>
          <a:solidFill>
            <a:srgbClr val="FFFFFF"/>
          </a:solidFill>
          <a:ln w="12700">
            <a:solidFill>
              <a:srgbClr val="CBD5E1"/>
            </a:solidFill>
            <a:prstDash val="solid"/>
          </a:ln>
        </p:spPr>
      </p:sp>
      <p:sp>
        <p:nvSpPr>
          <p:cNvPr id="7" name="Text 5"/>
          <p:cNvSpPr/>
          <p:nvPr/>
        </p:nvSpPr>
        <p:spPr>
          <a:xfrm>
            <a:off x="3401568" y="1371600"/>
            <a:ext cx="1700784" cy="512064"/>
          </a:xfrm>
          <a:prstGeom prst="rect">
            <a:avLst/>
          </a:prstGeom>
          <a:noFill/>
          <a:ln/>
        </p:spPr>
        <p:txBody>
          <a:bodyPr wrap="square" lIns="254" tIns="254" rIns="254" bIns="254" rtlCol="0" anchor="ctr">
            <a:normAutofit/>
          </a:bodyPr>
          <a:lstStyle/>
          <a:p>
            <a:pPr marL="0" indent="0" algn="ctr">
              <a:buNone/>
            </a:pPr>
            <a:r>
              <a:rPr lang="en-US" sz="1300" b="1" dirty="0">
                <a:solidFill>
                  <a:srgbClr val="1F2937"/>
                </a:solidFill>
                <a:latin typeface="Arial" pitchFamily="34" charset="0"/>
                <a:ea typeface="Arial" pitchFamily="34" charset="-122"/>
                <a:cs typeface="Arial" pitchFamily="34" charset="-120"/>
              </a:rPr>
              <a:t>controller</a:t>
            </a:r>
            <a:endParaRPr lang="en-US" sz="1300" dirty="0"/>
          </a:p>
        </p:txBody>
      </p:sp>
      <p:sp>
        <p:nvSpPr>
          <p:cNvPr id="8" name="Text 6"/>
          <p:cNvSpPr/>
          <p:nvPr/>
        </p:nvSpPr>
        <p:spPr>
          <a:xfrm>
            <a:off x="5440680" y="1389888"/>
            <a:ext cx="5806440" cy="457200"/>
          </a:xfrm>
          <a:prstGeom prst="rect">
            <a:avLst/>
          </a:prstGeom>
          <a:noFill/>
          <a:ln/>
        </p:spPr>
        <p:txBody>
          <a:bodyPr wrap="square" lIns="0" tIns="0" rIns="0" bIns="0" rtlCol="0" anchor="ctr">
            <a:normAutofit/>
          </a:bodyPr>
          <a:lstStyle/>
          <a:p>
            <a:pPr marL="0" indent="0">
              <a:buNone/>
            </a:pPr>
            <a:r>
              <a:rPr lang="en-US" sz="1450" dirty="0">
                <a:solidFill>
                  <a:srgbClr val="64748B"/>
                </a:solidFill>
              </a:rPr>
              <a:t>Receives HTTP requests and produces views or response bodies.</a:t>
            </a:r>
            <a:endParaRPr lang="en-US" sz="1450" dirty="0"/>
          </a:p>
        </p:txBody>
      </p:sp>
      <p:sp>
        <p:nvSpPr>
          <p:cNvPr id="9" name="Shape 7"/>
          <p:cNvSpPr/>
          <p:nvPr/>
        </p:nvSpPr>
        <p:spPr>
          <a:xfrm>
            <a:off x="731520" y="2240280"/>
            <a:ext cx="2331720" cy="603504"/>
          </a:xfrm>
          <a:prstGeom prst="roundRect">
            <a:avLst>
              <a:gd name="adj" fmla="val 7576"/>
            </a:avLst>
          </a:prstGeom>
          <a:solidFill>
            <a:srgbClr val="EEF7E8"/>
          </a:solidFill>
          <a:ln w="12700">
            <a:solidFill>
              <a:srgbClr val="D1D5DB"/>
            </a:solidFill>
            <a:prstDash val="solid"/>
          </a:ln>
        </p:spPr>
      </p:sp>
      <p:sp>
        <p:nvSpPr>
          <p:cNvPr id="10" name="Text 8"/>
          <p:cNvSpPr/>
          <p:nvPr/>
        </p:nvSpPr>
        <p:spPr>
          <a:xfrm>
            <a:off x="795528" y="2286000"/>
            <a:ext cx="2203704" cy="512064"/>
          </a:xfrm>
          <a:prstGeom prst="rect">
            <a:avLst/>
          </a:prstGeom>
          <a:noFill/>
          <a:ln/>
        </p:spPr>
        <p:txBody>
          <a:bodyPr wrap="square" lIns="254" tIns="254" rIns="254" bIns="254" rtlCol="0" anchor="ctr">
            <a:normAutofit/>
          </a:bodyPr>
          <a:lstStyle/>
          <a:p>
            <a:pPr marL="0" indent="0" algn="ctr">
              <a:buNone/>
            </a:pPr>
            <a:r>
              <a:rPr lang="en-US" sz="1400" b="1" dirty="0">
                <a:solidFill>
                  <a:srgbClr val="6DB33F"/>
                </a:solidFill>
                <a:latin typeface="Arial" pitchFamily="34" charset="0"/>
                <a:ea typeface="Arial" pitchFamily="34" charset="-122"/>
                <a:cs typeface="Arial" pitchFamily="34" charset="-120"/>
              </a:rPr>
              <a:t>@Service</a:t>
            </a:r>
            <a:endParaRPr lang="en-US" sz="1400" dirty="0"/>
          </a:p>
        </p:txBody>
      </p:sp>
      <p:sp>
        <p:nvSpPr>
          <p:cNvPr id="11" name="Shape 9"/>
          <p:cNvSpPr/>
          <p:nvPr/>
        </p:nvSpPr>
        <p:spPr>
          <a:xfrm>
            <a:off x="3337560" y="2240280"/>
            <a:ext cx="1828800" cy="603504"/>
          </a:xfrm>
          <a:prstGeom prst="roundRect">
            <a:avLst>
              <a:gd name="adj" fmla="val 7576"/>
            </a:avLst>
          </a:prstGeom>
          <a:solidFill>
            <a:srgbClr val="FFFFFF"/>
          </a:solidFill>
          <a:ln w="12700">
            <a:solidFill>
              <a:srgbClr val="CBD5E1"/>
            </a:solidFill>
            <a:prstDash val="solid"/>
          </a:ln>
        </p:spPr>
      </p:sp>
      <p:sp>
        <p:nvSpPr>
          <p:cNvPr id="12" name="Text 10"/>
          <p:cNvSpPr/>
          <p:nvPr/>
        </p:nvSpPr>
        <p:spPr>
          <a:xfrm>
            <a:off x="3401568" y="2286000"/>
            <a:ext cx="1700784" cy="512064"/>
          </a:xfrm>
          <a:prstGeom prst="rect">
            <a:avLst/>
          </a:prstGeom>
          <a:noFill/>
          <a:ln/>
        </p:spPr>
        <p:txBody>
          <a:bodyPr wrap="square" lIns="254" tIns="254" rIns="254" bIns="254" rtlCol="0" anchor="ctr">
            <a:normAutofit/>
          </a:bodyPr>
          <a:lstStyle/>
          <a:p>
            <a:pPr marL="0" indent="0" algn="ctr">
              <a:buNone/>
            </a:pPr>
            <a:r>
              <a:rPr lang="en-US" sz="1300" b="1" dirty="0">
                <a:solidFill>
                  <a:srgbClr val="1F2937"/>
                </a:solidFill>
                <a:latin typeface="Arial" pitchFamily="34" charset="0"/>
                <a:ea typeface="Arial" pitchFamily="34" charset="-122"/>
                <a:cs typeface="Arial" pitchFamily="34" charset="-120"/>
              </a:rPr>
              <a:t>service</a:t>
            </a:r>
            <a:endParaRPr lang="en-US" sz="1300" dirty="0"/>
          </a:p>
        </p:txBody>
      </p:sp>
      <p:sp>
        <p:nvSpPr>
          <p:cNvPr id="13" name="Text 11"/>
          <p:cNvSpPr/>
          <p:nvPr/>
        </p:nvSpPr>
        <p:spPr>
          <a:xfrm>
            <a:off x="5440680" y="2304288"/>
            <a:ext cx="5806440" cy="457200"/>
          </a:xfrm>
          <a:prstGeom prst="rect">
            <a:avLst/>
          </a:prstGeom>
          <a:noFill/>
          <a:ln/>
        </p:spPr>
        <p:txBody>
          <a:bodyPr wrap="square" lIns="0" tIns="0" rIns="0" bIns="0" rtlCol="0" anchor="ctr">
            <a:normAutofit/>
          </a:bodyPr>
          <a:lstStyle/>
          <a:p>
            <a:pPr marL="0" indent="0">
              <a:buNone/>
            </a:pPr>
            <a:r>
              <a:rPr lang="en-US" sz="1450" dirty="0">
                <a:solidFill>
                  <a:srgbClr val="64748B"/>
                </a:solidFill>
              </a:rPr>
              <a:t>Coordinates business rules and use cases.</a:t>
            </a:r>
            <a:endParaRPr lang="en-US" sz="1450" dirty="0"/>
          </a:p>
        </p:txBody>
      </p:sp>
      <p:sp>
        <p:nvSpPr>
          <p:cNvPr id="14" name="Shape 12"/>
          <p:cNvSpPr/>
          <p:nvPr/>
        </p:nvSpPr>
        <p:spPr>
          <a:xfrm>
            <a:off x="731520" y="3154680"/>
            <a:ext cx="2331720" cy="603504"/>
          </a:xfrm>
          <a:prstGeom prst="roundRect">
            <a:avLst>
              <a:gd name="adj" fmla="val 7576"/>
            </a:avLst>
          </a:prstGeom>
          <a:solidFill>
            <a:srgbClr val="E6F7F4"/>
          </a:solidFill>
          <a:ln w="12700">
            <a:solidFill>
              <a:srgbClr val="D1D5DB"/>
            </a:solidFill>
            <a:prstDash val="solid"/>
          </a:ln>
        </p:spPr>
      </p:sp>
      <p:sp>
        <p:nvSpPr>
          <p:cNvPr id="15" name="Text 13"/>
          <p:cNvSpPr/>
          <p:nvPr/>
        </p:nvSpPr>
        <p:spPr>
          <a:xfrm>
            <a:off x="795528" y="3200400"/>
            <a:ext cx="2203704" cy="512064"/>
          </a:xfrm>
          <a:prstGeom prst="rect">
            <a:avLst/>
          </a:prstGeom>
          <a:noFill/>
          <a:ln/>
        </p:spPr>
        <p:txBody>
          <a:bodyPr wrap="square" lIns="254" tIns="254" rIns="254" bIns="254" rtlCol="0" anchor="ctr">
            <a:normAutofit/>
          </a:bodyPr>
          <a:lstStyle/>
          <a:p>
            <a:pPr marL="0" indent="0" algn="ctr">
              <a:buNone/>
            </a:pPr>
            <a:r>
              <a:rPr lang="en-US" sz="1400" b="1" dirty="0">
                <a:solidFill>
                  <a:srgbClr val="0F766E"/>
                </a:solidFill>
                <a:latin typeface="Arial" pitchFamily="34" charset="0"/>
                <a:ea typeface="Arial" pitchFamily="34" charset="-122"/>
                <a:cs typeface="Arial" pitchFamily="34" charset="-120"/>
              </a:rPr>
              <a:t>@Repository</a:t>
            </a:r>
            <a:endParaRPr lang="en-US" sz="1400" dirty="0"/>
          </a:p>
        </p:txBody>
      </p:sp>
      <p:sp>
        <p:nvSpPr>
          <p:cNvPr id="16" name="Shape 14"/>
          <p:cNvSpPr/>
          <p:nvPr/>
        </p:nvSpPr>
        <p:spPr>
          <a:xfrm>
            <a:off x="3337560" y="3154680"/>
            <a:ext cx="1828800" cy="603504"/>
          </a:xfrm>
          <a:prstGeom prst="roundRect">
            <a:avLst>
              <a:gd name="adj" fmla="val 7576"/>
            </a:avLst>
          </a:prstGeom>
          <a:solidFill>
            <a:srgbClr val="FFFFFF"/>
          </a:solidFill>
          <a:ln w="12700">
            <a:solidFill>
              <a:srgbClr val="CBD5E1"/>
            </a:solidFill>
            <a:prstDash val="solid"/>
          </a:ln>
        </p:spPr>
      </p:sp>
      <p:sp>
        <p:nvSpPr>
          <p:cNvPr id="17" name="Text 15"/>
          <p:cNvSpPr/>
          <p:nvPr/>
        </p:nvSpPr>
        <p:spPr>
          <a:xfrm>
            <a:off x="3401568" y="3200400"/>
            <a:ext cx="1700784" cy="512064"/>
          </a:xfrm>
          <a:prstGeom prst="rect">
            <a:avLst/>
          </a:prstGeom>
          <a:noFill/>
          <a:ln/>
        </p:spPr>
        <p:txBody>
          <a:bodyPr wrap="square" lIns="254" tIns="254" rIns="254" bIns="254" rtlCol="0" anchor="ctr">
            <a:normAutofit/>
          </a:bodyPr>
          <a:lstStyle/>
          <a:p>
            <a:pPr marL="0" indent="0" algn="ctr">
              <a:buNone/>
            </a:pPr>
            <a:r>
              <a:rPr lang="en-US" sz="1300" b="1" dirty="0">
                <a:solidFill>
                  <a:srgbClr val="1F2937"/>
                </a:solidFill>
                <a:latin typeface="Arial" pitchFamily="34" charset="0"/>
                <a:ea typeface="Arial" pitchFamily="34" charset="-122"/>
                <a:cs typeface="Arial" pitchFamily="34" charset="-120"/>
              </a:rPr>
              <a:t>repository</a:t>
            </a:r>
            <a:endParaRPr lang="en-US" sz="1300" dirty="0"/>
          </a:p>
        </p:txBody>
      </p:sp>
      <p:sp>
        <p:nvSpPr>
          <p:cNvPr id="18" name="Text 16"/>
          <p:cNvSpPr/>
          <p:nvPr/>
        </p:nvSpPr>
        <p:spPr>
          <a:xfrm>
            <a:off x="5440680" y="3218688"/>
            <a:ext cx="5806440" cy="457200"/>
          </a:xfrm>
          <a:prstGeom prst="rect">
            <a:avLst/>
          </a:prstGeom>
          <a:noFill/>
          <a:ln/>
        </p:spPr>
        <p:txBody>
          <a:bodyPr wrap="square" lIns="0" tIns="0" rIns="0" bIns="0" rtlCol="0" anchor="ctr">
            <a:normAutofit/>
          </a:bodyPr>
          <a:lstStyle/>
          <a:p>
            <a:pPr marL="0" indent="0">
              <a:buNone/>
            </a:pPr>
            <a:r>
              <a:rPr lang="en-US" sz="1450" dirty="0">
                <a:solidFill>
                  <a:srgbClr val="64748B"/>
                </a:solidFill>
              </a:rPr>
              <a:t>Data-access boundary; commonly used for persistence classes.</a:t>
            </a:r>
            <a:endParaRPr lang="en-US" sz="1450" dirty="0"/>
          </a:p>
        </p:txBody>
      </p:sp>
      <p:sp>
        <p:nvSpPr>
          <p:cNvPr id="19" name="Shape 17"/>
          <p:cNvSpPr/>
          <p:nvPr/>
        </p:nvSpPr>
        <p:spPr>
          <a:xfrm>
            <a:off x="731520" y="4069080"/>
            <a:ext cx="2331720" cy="603504"/>
          </a:xfrm>
          <a:prstGeom prst="roundRect">
            <a:avLst>
              <a:gd name="adj" fmla="val 7576"/>
            </a:avLst>
          </a:prstGeom>
          <a:solidFill>
            <a:srgbClr val="F2EBFF"/>
          </a:solidFill>
          <a:ln w="12700">
            <a:solidFill>
              <a:srgbClr val="D1D5DB"/>
            </a:solidFill>
            <a:prstDash val="solid"/>
          </a:ln>
        </p:spPr>
      </p:sp>
      <p:sp>
        <p:nvSpPr>
          <p:cNvPr id="20" name="Text 18"/>
          <p:cNvSpPr/>
          <p:nvPr/>
        </p:nvSpPr>
        <p:spPr>
          <a:xfrm>
            <a:off x="795528" y="4114800"/>
            <a:ext cx="2203704" cy="512064"/>
          </a:xfrm>
          <a:prstGeom prst="rect">
            <a:avLst/>
          </a:prstGeom>
          <a:noFill/>
          <a:ln/>
        </p:spPr>
        <p:txBody>
          <a:bodyPr wrap="square" lIns="254" tIns="254" rIns="254" bIns="254" rtlCol="0" anchor="ctr">
            <a:normAutofit/>
          </a:bodyPr>
          <a:lstStyle/>
          <a:p>
            <a:pPr marL="0" indent="0" algn="ctr">
              <a:buNone/>
            </a:pPr>
            <a:r>
              <a:rPr lang="en-US" sz="1400" b="1" dirty="0">
                <a:solidFill>
                  <a:srgbClr val="7C3AED"/>
                </a:solidFill>
                <a:latin typeface="Arial" pitchFamily="34" charset="0"/>
                <a:ea typeface="Arial" pitchFamily="34" charset="-122"/>
                <a:cs typeface="Arial" pitchFamily="34" charset="-120"/>
              </a:rPr>
              <a:t>@Component</a:t>
            </a:r>
            <a:endParaRPr lang="en-US" sz="1400" dirty="0"/>
          </a:p>
        </p:txBody>
      </p:sp>
      <p:sp>
        <p:nvSpPr>
          <p:cNvPr id="21" name="Shape 19"/>
          <p:cNvSpPr/>
          <p:nvPr/>
        </p:nvSpPr>
        <p:spPr>
          <a:xfrm>
            <a:off x="3337560" y="4069080"/>
            <a:ext cx="1828800" cy="603504"/>
          </a:xfrm>
          <a:prstGeom prst="roundRect">
            <a:avLst>
              <a:gd name="adj" fmla="val 7576"/>
            </a:avLst>
          </a:prstGeom>
          <a:solidFill>
            <a:srgbClr val="FFFFFF"/>
          </a:solidFill>
          <a:ln w="12700">
            <a:solidFill>
              <a:srgbClr val="CBD5E1"/>
            </a:solidFill>
            <a:prstDash val="solid"/>
          </a:ln>
        </p:spPr>
      </p:sp>
      <p:sp>
        <p:nvSpPr>
          <p:cNvPr id="22" name="Text 20"/>
          <p:cNvSpPr/>
          <p:nvPr/>
        </p:nvSpPr>
        <p:spPr>
          <a:xfrm>
            <a:off x="3401568" y="4114800"/>
            <a:ext cx="1700784" cy="512064"/>
          </a:xfrm>
          <a:prstGeom prst="rect">
            <a:avLst/>
          </a:prstGeom>
          <a:noFill/>
          <a:ln/>
        </p:spPr>
        <p:txBody>
          <a:bodyPr wrap="square" lIns="254" tIns="254" rIns="254" bIns="254" rtlCol="0" anchor="ctr">
            <a:normAutofit/>
          </a:bodyPr>
          <a:lstStyle/>
          <a:p>
            <a:pPr marL="0" indent="0" algn="ctr">
              <a:buNone/>
            </a:pPr>
            <a:r>
              <a:rPr lang="en-US" sz="1300" b="1" dirty="0">
                <a:solidFill>
                  <a:srgbClr val="1F2937"/>
                </a:solidFill>
                <a:latin typeface="Arial" pitchFamily="34" charset="0"/>
                <a:ea typeface="Arial" pitchFamily="34" charset="-122"/>
                <a:cs typeface="Arial" pitchFamily="34" charset="-120"/>
              </a:rPr>
              <a:t>component / utility</a:t>
            </a:r>
            <a:endParaRPr lang="en-US" sz="1300" dirty="0"/>
          </a:p>
        </p:txBody>
      </p:sp>
      <p:sp>
        <p:nvSpPr>
          <p:cNvPr id="23" name="Text 21"/>
          <p:cNvSpPr/>
          <p:nvPr/>
        </p:nvSpPr>
        <p:spPr>
          <a:xfrm>
            <a:off x="5440680" y="4133088"/>
            <a:ext cx="5806440" cy="457200"/>
          </a:xfrm>
          <a:prstGeom prst="rect">
            <a:avLst/>
          </a:prstGeom>
          <a:noFill/>
          <a:ln/>
        </p:spPr>
        <p:txBody>
          <a:bodyPr wrap="square" lIns="0" tIns="0" rIns="0" bIns="0" rtlCol="0" anchor="ctr">
            <a:normAutofit/>
          </a:bodyPr>
          <a:lstStyle/>
          <a:p>
            <a:pPr marL="0" indent="0">
              <a:buNone/>
            </a:pPr>
            <a:r>
              <a:rPr lang="en-US" sz="1450" dirty="0">
                <a:solidFill>
                  <a:srgbClr val="64748B"/>
                </a:solidFill>
              </a:rPr>
              <a:t>Generic Spring-managed component when no more specific role fits.</a:t>
            </a:r>
            <a:endParaRPr lang="en-US" sz="1450" dirty="0"/>
          </a:p>
        </p:txBody>
      </p:sp>
      <p:sp>
        <p:nvSpPr>
          <p:cNvPr id="24" name="Shape 22"/>
          <p:cNvSpPr/>
          <p:nvPr/>
        </p:nvSpPr>
        <p:spPr>
          <a:xfrm>
            <a:off x="731520" y="4983480"/>
            <a:ext cx="2331720" cy="603504"/>
          </a:xfrm>
          <a:prstGeom prst="roundRect">
            <a:avLst>
              <a:gd name="adj" fmla="val 7576"/>
            </a:avLst>
          </a:prstGeom>
          <a:solidFill>
            <a:srgbClr val="FFF4DB"/>
          </a:solidFill>
          <a:ln w="12700">
            <a:solidFill>
              <a:srgbClr val="D1D5DB"/>
            </a:solidFill>
            <a:prstDash val="solid"/>
          </a:ln>
        </p:spPr>
      </p:sp>
      <p:sp>
        <p:nvSpPr>
          <p:cNvPr id="25" name="Text 23"/>
          <p:cNvSpPr/>
          <p:nvPr/>
        </p:nvSpPr>
        <p:spPr>
          <a:xfrm>
            <a:off x="795528" y="5029200"/>
            <a:ext cx="2203704" cy="512064"/>
          </a:xfrm>
          <a:prstGeom prst="rect">
            <a:avLst/>
          </a:prstGeom>
          <a:noFill/>
          <a:ln/>
        </p:spPr>
        <p:txBody>
          <a:bodyPr wrap="square" lIns="254" tIns="254" rIns="254" bIns="254" rtlCol="0" anchor="ctr">
            <a:normAutofit/>
          </a:bodyPr>
          <a:lstStyle/>
          <a:p>
            <a:pPr marL="0" indent="0" algn="ctr">
              <a:buNone/>
            </a:pPr>
            <a:r>
              <a:rPr lang="en-US" sz="1400" b="1" dirty="0">
                <a:solidFill>
                  <a:srgbClr val="F59E0B"/>
                </a:solidFill>
                <a:latin typeface="Arial" pitchFamily="34" charset="0"/>
                <a:ea typeface="Arial" pitchFamily="34" charset="-122"/>
                <a:cs typeface="Arial" pitchFamily="34" charset="-120"/>
              </a:rPr>
              <a:t>@Configuration</a:t>
            </a:r>
            <a:endParaRPr lang="en-US" sz="1400" dirty="0"/>
          </a:p>
        </p:txBody>
      </p:sp>
      <p:sp>
        <p:nvSpPr>
          <p:cNvPr id="26" name="Shape 24"/>
          <p:cNvSpPr/>
          <p:nvPr/>
        </p:nvSpPr>
        <p:spPr>
          <a:xfrm>
            <a:off x="3337560" y="4983480"/>
            <a:ext cx="1828800" cy="603504"/>
          </a:xfrm>
          <a:prstGeom prst="roundRect">
            <a:avLst>
              <a:gd name="adj" fmla="val 7576"/>
            </a:avLst>
          </a:prstGeom>
          <a:solidFill>
            <a:srgbClr val="FFFFFF"/>
          </a:solidFill>
          <a:ln w="12700">
            <a:solidFill>
              <a:srgbClr val="CBD5E1"/>
            </a:solidFill>
            <a:prstDash val="solid"/>
          </a:ln>
        </p:spPr>
      </p:sp>
      <p:sp>
        <p:nvSpPr>
          <p:cNvPr id="27" name="Text 25"/>
          <p:cNvSpPr/>
          <p:nvPr/>
        </p:nvSpPr>
        <p:spPr>
          <a:xfrm>
            <a:off x="3401568" y="5029200"/>
            <a:ext cx="1700784" cy="512064"/>
          </a:xfrm>
          <a:prstGeom prst="rect">
            <a:avLst/>
          </a:prstGeom>
          <a:noFill/>
          <a:ln/>
        </p:spPr>
        <p:txBody>
          <a:bodyPr wrap="square" lIns="254" tIns="254" rIns="254" bIns="254" rtlCol="0" anchor="ctr">
            <a:normAutofit/>
          </a:bodyPr>
          <a:lstStyle/>
          <a:p>
            <a:pPr marL="0" indent="0" algn="ctr">
              <a:buNone/>
            </a:pPr>
            <a:r>
              <a:rPr lang="en-US" sz="1300" b="1" dirty="0">
                <a:solidFill>
                  <a:srgbClr val="1F2937"/>
                </a:solidFill>
                <a:latin typeface="Arial" pitchFamily="34" charset="0"/>
                <a:ea typeface="Arial" pitchFamily="34" charset="-122"/>
                <a:cs typeface="Arial" pitchFamily="34" charset="-120"/>
              </a:rPr>
              <a:t>config</a:t>
            </a:r>
            <a:endParaRPr lang="en-US" sz="1300" dirty="0"/>
          </a:p>
        </p:txBody>
      </p:sp>
      <p:sp>
        <p:nvSpPr>
          <p:cNvPr id="28" name="Text 26"/>
          <p:cNvSpPr/>
          <p:nvPr/>
        </p:nvSpPr>
        <p:spPr>
          <a:xfrm>
            <a:off x="5440680" y="5047488"/>
            <a:ext cx="5806440" cy="457200"/>
          </a:xfrm>
          <a:prstGeom prst="rect">
            <a:avLst/>
          </a:prstGeom>
          <a:noFill/>
          <a:ln/>
        </p:spPr>
        <p:txBody>
          <a:bodyPr wrap="square" lIns="0" tIns="0" rIns="0" bIns="0" rtlCol="0" anchor="ctr">
            <a:normAutofit/>
          </a:bodyPr>
          <a:lstStyle/>
          <a:p>
            <a:pPr marL="0" indent="0">
              <a:buNone/>
            </a:pPr>
            <a:r>
              <a:rPr lang="en-US" sz="1450" dirty="0">
                <a:solidFill>
                  <a:srgbClr val="64748B"/>
                </a:solidFill>
              </a:rPr>
              <a:t>Defines configuration and @Bean methods.</a:t>
            </a:r>
            <a:endParaRPr lang="en-US" sz="1450" dirty="0"/>
          </a:p>
        </p:txBody>
      </p:sp>
      <p:sp>
        <p:nvSpPr>
          <p:cNvPr id="29" name="Text 27"/>
          <p:cNvSpPr/>
          <p:nvPr/>
        </p:nvSpPr>
        <p:spPr>
          <a:xfrm>
            <a:off x="1828800" y="5806440"/>
            <a:ext cx="8595360" cy="384048"/>
          </a:xfrm>
          <a:prstGeom prst="rect">
            <a:avLst/>
          </a:prstGeom>
          <a:noFill/>
          <a:ln/>
        </p:spPr>
        <p:txBody>
          <a:bodyPr wrap="square" lIns="0" tIns="0" rIns="0" bIns="0" rtlCol="0" anchor="ctr"/>
          <a:lstStyle/>
          <a:p>
            <a:pPr marL="0" indent="0" algn="ctr">
              <a:buNone/>
            </a:pPr>
            <a:r>
              <a:rPr lang="en-US" sz="1600" b="1" dirty="0">
                <a:solidFill>
                  <a:srgbClr val="3E7D20"/>
                </a:solidFill>
              </a:rPr>
              <a:t>Rule of thumb: use the most specific stereotype that communicates intent.</a:t>
            </a:r>
            <a:endParaRPr lang="en-US" sz="1600" dirty="0"/>
          </a:p>
        </p:txBody>
      </p:sp>
      <p:sp>
        <p:nvSpPr>
          <p:cNvPr id="30" name="Slide Number Placeholder 0"/>
          <p:cNvSpPr>
            <a:spLocks noGrp="1"/>
          </p:cNvSpPr>
          <p:nvPr>
            <p:ph type="sldNum" sz="quarter" idx="4294967295"/>
          </p:nvPr>
        </p:nvSpPr>
        <p:spPr>
          <a:xfrm>
            <a:off x="11384280" y="6473952"/>
            <a:ext cx="384048"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latin typeface="Arial"/>
                <a:ea typeface="Arial"/>
                <a:cs typeface="Aria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310896"/>
            <a:ext cx="11064240" cy="475488"/>
          </a:xfrm>
          <a:prstGeom prst="rect">
            <a:avLst/>
          </a:prstGeom>
          <a:noFill/>
          <a:ln/>
        </p:spPr>
        <p:txBody>
          <a:bodyPr wrap="square" lIns="0" tIns="0" rIns="0" bIns="0" rtlCol="0" anchor="ctr">
            <a:normAutofit/>
          </a:bodyPr>
          <a:lstStyle/>
          <a:p>
            <a:pPr marL="0" indent="0">
              <a:buNone/>
            </a:pPr>
            <a:r>
              <a:rPr lang="en-US" sz="2700" b="1" dirty="0">
                <a:solidFill>
                  <a:srgbClr val="1F2937"/>
                </a:solidFill>
                <a:latin typeface="Arial" pitchFamily="34" charset="0"/>
                <a:ea typeface="Arial" pitchFamily="34" charset="-122"/>
                <a:cs typeface="Arial" pitchFamily="34" charset="-120"/>
              </a:rPr>
              <a:t>“Folder structure” has two different meanings</a:t>
            </a:r>
            <a:endParaRPr lang="en-US" sz="2700" dirty="0"/>
          </a:p>
        </p:txBody>
      </p:sp>
      <p:sp>
        <p:nvSpPr>
          <p:cNvPr id="3" name="Text 1"/>
          <p:cNvSpPr/>
          <p:nvPr/>
        </p:nvSpPr>
        <p:spPr>
          <a:xfrm>
            <a:off x="530352" y="804672"/>
            <a:ext cx="10881360" cy="310896"/>
          </a:xfrm>
          <a:prstGeom prst="rect">
            <a:avLst/>
          </a:prstGeom>
          <a:noFill/>
          <a:ln/>
        </p:spPr>
        <p:txBody>
          <a:bodyPr wrap="square" lIns="0" tIns="0" rIns="0" bIns="0" rtlCol="0" anchor="ctr">
            <a:normAutofit/>
          </a:bodyPr>
          <a:lstStyle/>
          <a:p>
            <a:pPr marL="0" indent="0">
              <a:buNone/>
            </a:pPr>
            <a:r>
              <a:rPr lang="en-US" sz="1250" dirty="0">
                <a:solidFill>
                  <a:srgbClr val="64748B"/>
                </a:solidFill>
                <a:latin typeface="Arial" pitchFamily="34" charset="0"/>
                <a:ea typeface="Arial" pitchFamily="34" charset="-122"/>
                <a:cs typeface="Arial" pitchFamily="34" charset="-120"/>
              </a:rPr>
              <a:t>Separate build-tool directories from architectural package conventions</a:t>
            </a:r>
            <a:endParaRPr lang="en-US" sz="1250" dirty="0"/>
          </a:p>
        </p:txBody>
      </p:sp>
      <p:sp>
        <p:nvSpPr>
          <p:cNvPr id="4" name="Shape 2"/>
          <p:cNvSpPr/>
          <p:nvPr/>
        </p:nvSpPr>
        <p:spPr>
          <a:xfrm>
            <a:off x="822960" y="1417320"/>
            <a:ext cx="4937760" cy="2971800"/>
          </a:xfrm>
          <a:prstGeom prst="roundRect">
            <a:avLst>
              <a:gd name="adj" fmla="val 2462"/>
            </a:avLst>
          </a:prstGeom>
          <a:solidFill>
            <a:srgbClr val="FFFFFF"/>
          </a:solidFill>
          <a:ln w="12700">
            <a:solidFill>
              <a:srgbClr val="D8E2D2"/>
            </a:solidFill>
            <a:prstDash val="solid"/>
          </a:ln>
          <a:effectLst>
            <a:outerShdw blurRad="19050" dist="50800" dir="2700000" algn="bl" rotWithShape="0">
              <a:srgbClr val="D1D5DB">
                <a:alpha val="12000"/>
              </a:srgbClr>
            </a:outerShdw>
          </a:effectLst>
        </p:spPr>
      </p:sp>
      <p:sp>
        <p:nvSpPr>
          <p:cNvPr id="5" name="Shape 3"/>
          <p:cNvSpPr/>
          <p:nvPr/>
        </p:nvSpPr>
        <p:spPr>
          <a:xfrm>
            <a:off x="822960" y="1417320"/>
            <a:ext cx="73152" cy="2971800"/>
          </a:xfrm>
          <a:prstGeom prst="rect">
            <a:avLst/>
          </a:prstGeom>
          <a:solidFill>
            <a:srgbClr val="2563EB"/>
          </a:solidFill>
          <a:ln w="12700">
            <a:solidFill>
              <a:srgbClr val="2563EB"/>
            </a:solidFill>
            <a:prstDash val="solid"/>
          </a:ln>
        </p:spPr>
      </p:sp>
      <p:sp>
        <p:nvSpPr>
          <p:cNvPr id="6" name="Shape 4"/>
          <p:cNvSpPr/>
          <p:nvPr/>
        </p:nvSpPr>
        <p:spPr>
          <a:xfrm>
            <a:off x="987552" y="1581912"/>
            <a:ext cx="438912" cy="438912"/>
          </a:xfrm>
          <a:prstGeom prst="ellipse">
            <a:avLst/>
          </a:prstGeom>
          <a:solidFill>
            <a:srgbClr val="2563EB"/>
          </a:solidFill>
          <a:ln w="12700">
            <a:solidFill>
              <a:srgbClr val="2563EB"/>
            </a:solidFill>
            <a:prstDash val="solid"/>
          </a:ln>
        </p:spPr>
      </p:sp>
      <p:sp>
        <p:nvSpPr>
          <p:cNvPr id="7" name="Text 5"/>
          <p:cNvSpPr/>
          <p:nvPr/>
        </p:nvSpPr>
        <p:spPr>
          <a:xfrm>
            <a:off x="987552" y="1618488"/>
            <a:ext cx="438912" cy="292608"/>
          </a:xfrm>
          <a:prstGeom prst="rect">
            <a:avLst/>
          </a:prstGeom>
          <a:noFill/>
          <a:ln/>
        </p:spPr>
        <p:txBody>
          <a:bodyPr wrap="square" lIns="0" tIns="0" rIns="0" bIns="0" rtlCol="0" anchor="ctr"/>
          <a:lstStyle/>
          <a:p>
            <a:pPr marL="0" indent="0" algn="ctr">
              <a:buNone/>
            </a:pPr>
            <a:r>
              <a:rPr lang="en-US" sz="1500" b="1" dirty="0">
                <a:solidFill>
                  <a:srgbClr val="FFFFFF"/>
                </a:solidFill>
              </a:rPr>
              <a:t>A</a:t>
            </a:r>
            <a:endParaRPr lang="en-US" sz="1500" dirty="0"/>
          </a:p>
        </p:txBody>
      </p:sp>
      <p:sp>
        <p:nvSpPr>
          <p:cNvPr id="8" name="Text 6"/>
          <p:cNvSpPr/>
          <p:nvPr/>
        </p:nvSpPr>
        <p:spPr>
          <a:xfrm>
            <a:off x="1536192" y="1563624"/>
            <a:ext cx="4059936" cy="310896"/>
          </a:xfrm>
          <a:prstGeom prst="rect">
            <a:avLst/>
          </a:prstGeom>
          <a:noFill/>
          <a:ln/>
        </p:spPr>
        <p:txBody>
          <a:bodyPr wrap="square" lIns="0" tIns="0" rIns="0" bIns="0" rtlCol="0" anchor="ctr">
            <a:normAutofit/>
          </a:bodyPr>
          <a:lstStyle/>
          <a:p>
            <a:pPr marL="0" indent="0">
              <a:buNone/>
            </a:pPr>
            <a:r>
              <a:rPr lang="en-US" sz="1650" b="1" dirty="0">
                <a:solidFill>
                  <a:srgbClr val="1F2937"/>
                </a:solidFill>
              </a:rPr>
              <a:t>A. Standard project directories</a:t>
            </a:r>
            <a:endParaRPr lang="en-US" sz="1650" dirty="0"/>
          </a:p>
        </p:txBody>
      </p:sp>
      <p:sp>
        <p:nvSpPr>
          <p:cNvPr id="9" name="Text 7"/>
          <p:cNvSpPr/>
          <p:nvPr/>
        </p:nvSpPr>
        <p:spPr>
          <a:xfrm>
            <a:off x="1005840" y="2075688"/>
            <a:ext cx="4572000" cy="2167128"/>
          </a:xfrm>
          <a:prstGeom prst="rect">
            <a:avLst/>
          </a:prstGeom>
          <a:noFill/>
          <a:ln/>
        </p:spPr>
        <p:txBody>
          <a:bodyPr wrap="square" lIns="254" tIns="254" rIns="254" bIns="254" rtlCol="0" anchor="t">
            <a:normAutofit/>
          </a:bodyPr>
          <a:lstStyle/>
          <a:p>
            <a:pPr marL="0" indent="0">
              <a:buNone/>
            </a:pPr>
            <a:r>
              <a:rPr lang="en-US" sz="1280" dirty="0">
                <a:solidFill>
                  <a:srgbClr val="64748B"/>
                </a:solidFill>
              </a:rPr>
              <a:t>Defined mainly by the build tool (for example Maven):</a:t>
            </a:r>
            <a:endParaRPr lang="en-US" sz="1280" dirty="0"/>
          </a:p>
          <a:p>
            <a:pPr marL="0" indent="0">
              <a:buNone/>
            </a:pPr>
            <a:endParaRPr lang="en-US" sz="1280" dirty="0"/>
          </a:p>
          <a:p>
            <a:pPr marL="0" indent="0">
              <a:buNone/>
            </a:pPr>
            <a:r>
              <a:rPr lang="en-US" sz="1280" dirty="0">
                <a:solidFill>
                  <a:srgbClr val="64748B"/>
                </a:solidFill>
              </a:rPr>
              <a:t>• src/main/java</a:t>
            </a:r>
            <a:endParaRPr lang="en-US" sz="1280" dirty="0"/>
          </a:p>
          <a:p>
            <a:pPr marL="0" indent="0">
              <a:buNone/>
            </a:pPr>
            <a:r>
              <a:rPr lang="en-US" sz="1280" dirty="0">
                <a:solidFill>
                  <a:srgbClr val="64748B"/>
                </a:solidFill>
              </a:rPr>
              <a:t>• src/main/resources</a:t>
            </a:r>
            <a:endParaRPr lang="en-US" sz="1280" dirty="0"/>
          </a:p>
          <a:p>
            <a:pPr marL="0" indent="0">
              <a:buNone/>
            </a:pPr>
            <a:r>
              <a:rPr lang="en-US" sz="1280" dirty="0">
                <a:solidFill>
                  <a:srgbClr val="64748B"/>
                </a:solidFill>
              </a:rPr>
              <a:t>• src/test/java</a:t>
            </a:r>
            <a:endParaRPr lang="en-US" sz="1280" dirty="0"/>
          </a:p>
          <a:p>
            <a:pPr marL="0" indent="0">
              <a:buNone/>
            </a:pPr>
            <a:r>
              <a:rPr lang="en-US" sz="1280" dirty="0">
                <a:solidFill>
                  <a:srgbClr val="64748B"/>
                </a:solidFill>
              </a:rPr>
              <a:t>• src/test/resources</a:t>
            </a:r>
            <a:endParaRPr lang="en-US" sz="1280" dirty="0"/>
          </a:p>
          <a:p>
            <a:pPr marL="0" indent="0">
              <a:buNone/>
            </a:pPr>
            <a:r>
              <a:rPr lang="en-US" sz="1280" dirty="0">
                <a:solidFill>
                  <a:srgbClr val="64748B"/>
                </a:solidFill>
              </a:rPr>
              <a:t>• target</a:t>
            </a:r>
            <a:endParaRPr lang="en-US" sz="1280" dirty="0"/>
          </a:p>
          <a:p>
            <a:pPr marL="0" indent="0">
              <a:buNone/>
            </a:pPr>
            <a:r>
              <a:rPr lang="en-US" sz="1280" dirty="0">
                <a:solidFill>
                  <a:srgbClr val="64748B"/>
                </a:solidFill>
              </a:rPr>
              <a:t>• pom.xml</a:t>
            </a:r>
            <a:endParaRPr lang="en-US" sz="1280" dirty="0"/>
          </a:p>
        </p:txBody>
      </p:sp>
      <p:sp>
        <p:nvSpPr>
          <p:cNvPr id="10" name="Shape 8"/>
          <p:cNvSpPr/>
          <p:nvPr/>
        </p:nvSpPr>
        <p:spPr>
          <a:xfrm>
            <a:off x="6400800" y="1417320"/>
            <a:ext cx="4937760" cy="2971800"/>
          </a:xfrm>
          <a:prstGeom prst="roundRect">
            <a:avLst>
              <a:gd name="adj" fmla="val 2462"/>
            </a:avLst>
          </a:prstGeom>
          <a:solidFill>
            <a:srgbClr val="FFFFFF"/>
          </a:solidFill>
          <a:ln w="12700">
            <a:solidFill>
              <a:srgbClr val="D8E2D2"/>
            </a:solidFill>
            <a:prstDash val="solid"/>
          </a:ln>
          <a:effectLst>
            <a:outerShdw blurRad="19050" dist="50800" dir="2700000" algn="bl" rotWithShape="0">
              <a:srgbClr val="D1D5DB">
                <a:alpha val="12000"/>
              </a:srgbClr>
            </a:outerShdw>
          </a:effectLst>
        </p:spPr>
      </p:sp>
      <p:sp>
        <p:nvSpPr>
          <p:cNvPr id="11" name="Shape 9"/>
          <p:cNvSpPr/>
          <p:nvPr/>
        </p:nvSpPr>
        <p:spPr>
          <a:xfrm>
            <a:off x="6400800" y="1417320"/>
            <a:ext cx="73152" cy="2971800"/>
          </a:xfrm>
          <a:prstGeom prst="rect">
            <a:avLst/>
          </a:prstGeom>
          <a:solidFill>
            <a:srgbClr val="6DB33F"/>
          </a:solidFill>
          <a:ln w="12700">
            <a:solidFill>
              <a:srgbClr val="6DB33F"/>
            </a:solidFill>
            <a:prstDash val="solid"/>
          </a:ln>
        </p:spPr>
      </p:sp>
      <p:sp>
        <p:nvSpPr>
          <p:cNvPr id="12" name="Shape 10"/>
          <p:cNvSpPr/>
          <p:nvPr/>
        </p:nvSpPr>
        <p:spPr>
          <a:xfrm>
            <a:off x="6565392" y="1581912"/>
            <a:ext cx="438912" cy="438912"/>
          </a:xfrm>
          <a:prstGeom prst="ellipse">
            <a:avLst/>
          </a:prstGeom>
          <a:solidFill>
            <a:srgbClr val="6DB33F"/>
          </a:solidFill>
          <a:ln w="12700">
            <a:solidFill>
              <a:srgbClr val="6DB33F"/>
            </a:solidFill>
            <a:prstDash val="solid"/>
          </a:ln>
        </p:spPr>
      </p:sp>
      <p:sp>
        <p:nvSpPr>
          <p:cNvPr id="13" name="Text 11"/>
          <p:cNvSpPr/>
          <p:nvPr/>
        </p:nvSpPr>
        <p:spPr>
          <a:xfrm>
            <a:off x="6565392" y="1618488"/>
            <a:ext cx="438912" cy="292608"/>
          </a:xfrm>
          <a:prstGeom prst="rect">
            <a:avLst/>
          </a:prstGeom>
          <a:noFill/>
          <a:ln/>
        </p:spPr>
        <p:txBody>
          <a:bodyPr wrap="square" lIns="0" tIns="0" rIns="0" bIns="0" rtlCol="0" anchor="ctr"/>
          <a:lstStyle/>
          <a:p>
            <a:pPr marL="0" indent="0" algn="ctr">
              <a:buNone/>
            </a:pPr>
            <a:r>
              <a:rPr lang="en-US" sz="1500" b="1" dirty="0">
                <a:solidFill>
                  <a:srgbClr val="FFFFFF"/>
                </a:solidFill>
              </a:rPr>
              <a:t>B</a:t>
            </a:r>
            <a:endParaRPr lang="en-US" sz="1500" dirty="0"/>
          </a:p>
        </p:txBody>
      </p:sp>
      <p:sp>
        <p:nvSpPr>
          <p:cNvPr id="14" name="Text 12"/>
          <p:cNvSpPr/>
          <p:nvPr/>
        </p:nvSpPr>
        <p:spPr>
          <a:xfrm>
            <a:off x="7114032" y="1563624"/>
            <a:ext cx="4059936" cy="310896"/>
          </a:xfrm>
          <a:prstGeom prst="rect">
            <a:avLst/>
          </a:prstGeom>
          <a:noFill/>
          <a:ln/>
        </p:spPr>
        <p:txBody>
          <a:bodyPr wrap="square" lIns="0" tIns="0" rIns="0" bIns="0" rtlCol="0" anchor="ctr">
            <a:normAutofit/>
          </a:bodyPr>
          <a:lstStyle/>
          <a:p>
            <a:pPr marL="0" indent="0">
              <a:buNone/>
            </a:pPr>
            <a:r>
              <a:rPr lang="en-US" sz="1650" b="1" dirty="0">
                <a:solidFill>
                  <a:srgbClr val="1F2937"/>
                </a:solidFill>
              </a:rPr>
              <a:t>B. Java package architecture</a:t>
            </a:r>
            <a:endParaRPr lang="en-US" sz="1650" dirty="0"/>
          </a:p>
        </p:txBody>
      </p:sp>
      <p:sp>
        <p:nvSpPr>
          <p:cNvPr id="15" name="Text 13"/>
          <p:cNvSpPr/>
          <p:nvPr/>
        </p:nvSpPr>
        <p:spPr>
          <a:xfrm>
            <a:off x="6583680" y="2075688"/>
            <a:ext cx="4572000" cy="2167128"/>
          </a:xfrm>
          <a:prstGeom prst="rect">
            <a:avLst/>
          </a:prstGeom>
          <a:noFill/>
          <a:ln/>
        </p:spPr>
        <p:txBody>
          <a:bodyPr wrap="square" lIns="254" tIns="254" rIns="254" bIns="254" rtlCol="0" anchor="t">
            <a:normAutofit/>
          </a:bodyPr>
          <a:lstStyle/>
          <a:p>
            <a:pPr marL="0" indent="0">
              <a:buNone/>
            </a:pPr>
            <a:r>
              <a:rPr lang="en-US" sz="1280" dirty="0">
                <a:solidFill>
                  <a:srgbClr val="64748B"/>
                </a:solidFill>
              </a:rPr>
              <a:t>A design choice inside src/main/java:</a:t>
            </a:r>
            <a:endParaRPr lang="en-US" sz="1280" dirty="0"/>
          </a:p>
          <a:p>
            <a:pPr marL="0" indent="0">
              <a:buNone/>
            </a:pPr>
            <a:endParaRPr lang="en-US" sz="1280" dirty="0"/>
          </a:p>
          <a:p>
            <a:pPr marL="0" indent="0">
              <a:buNone/>
            </a:pPr>
            <a:r>
              <a:rPr lang="en-US" sz="1280" dirty="0">
                <a:solidFill>
                  <a:srgbClr val="64748B"/>
                </a:solidFill>
              </a:rPr>
              <a:t>• controller</a:t>
            </a:r>
            <a:endParaRPr lang="en-US" sz="1280" dirty="0"/>
          </a:p>
          <a:p>
            <a:pPr marL="0" indent="0">
              <a:buNone/>
            </a:pPr>
            <a:r>
              <a:rPr lang="en-US" sz="1280" dirty="0">
                <a:solidFill>
                  <a:srgbClr val="64748B"/>
                </a:solidFill>
              </a:rPr>
              <a:t>• service</a:t>
            </a:r>
            <a:endParaRPr lang="en-US" sz="1280" dirty="0"/>
          </a:p>
          <a:p>
            <a:pPr marL="0" indent="0">
              <a:buNone/>
            </a:pPr>
            <a:r>
              <a:rPr lang="en-US" sz="1280" dirty="0">
                <a:solidFill>
                  <a:srgbClr val="64748B"/>
                </a:solidFill>
              </a:rPr>
              <a:t>• repository</a:t>
            </a:r>
            <a:endParaRPr lang="en-US" sz="1280" dirty="0"/>
          </a:p>
          <a:p>
            <a:pPr marL="0" indent="0">
              <a:buNone/>
            </a:pPr>
            <a:r>
              <a:rPr lang="en-US" sz="1280" dirty="0">
                <a:solidFill>
                  <a:srgbClr val="64748B"/>
                </a:solidFill>
              </a:rPr>
              <a:t>• entity / model</a:t>
            </a:r>
            <a:endParaRPr lang="en-US" sz="1280" dirty="0"/>
          </a:p>
          <a:p>
            <a:pPr marL="0" indent="0">
              <a:buNone/>
            </a:pPr>
            <a:r>
              <a:rPr lang="en-US" sz="1280" dirty="0">
                <a:solidFill>
                  <a:srgbClr val="64748B"/>
                </a:solidFill>
              </a:rPr>
              <a:t>• dto</a:t>
            </a:r>
            <a:endParaRPr lang="en-US" sz="1280" dirty="0"/>
          </a:p>
          <a:p>
            <a:pPr marL="0" indent="0">
              <a:buNone/>
            </a:pPr>
            <a:r>
              <a:rPr lang="en-US" sz="1280" dirty="0">
                <a:solidFill>
                  <a:srgbClr val="64748B"/>
                </a:solidFill>
              </a:rPr>
              <a:t>• config / exception / util</a:t>
            </a:r>
            <a:endParaRPr lang="en-US" sz="1280" dirty="0"/>
          </a:p>
        </p:txBody>
      </p:sp>
      <p:sp>
        <p:nvSpPr>
          <p:cNvPr id="16" name="Shape 14"/>
          <p:cNvSpPr/>
          <p:nvPr/>
        </p:nvSpPr>
        <p:spPr>
          <a:xfrm>
            <a:off x="3291840" y="4800600"/>
            <a:ext cx="2697480" cy="0"/>
          </a:xfrm>
          <a:prstGeom prst="line">
            <a:avLst/>
          </a:prstGeom>
          <a:noFill/>
          <a:ln w="27940">
            <a:solidFill>
              <a:srgbClr val="64748B"/>
            </a:solidFill>
            <a:prstDash val="solid"/>
            <a:tailEnd type="triangle"/>
          </a:ln>
        </p:spPr>
      </p:sp>
      <p:sp>
        <p:nvSpPr>
          <p:cNvPr id="17" name="Shape 15"/>
          <p:cNvSpPr/>
          <p:nvPr/>
        </p:nvSpPr>
        <p:spPr>
          <a:xfrm>
            <a:off x="8869680" y="4800600"/>
            <a:ext cx="0" cy="0"/>
          </a:xfrm>
          <a:prstGeom prst="line">
            <a:avLst/>
          </a:prstGeom>
          <a:noFill/>
          <a:ln w="27940">
            <a:solidFill>
              <a:srgbClr val="64748B"/>
            </a:solidFill>
            <a:prstDash val="solid"/>
            <a:tailEnd type="triangle"/>
          </a:ln>
        </p:spPr>
      </p:sp>
      <p:sp>
        <p:nvSpPr>
          <p:cNvPr id="18" name="Shape 16"/>
          <p:cNvSpPr/>
          <p:nvPr/>
        </p:nvSpPr>
        <p:spPr>
          <a:xfrm>
            <a:off x="4919472" y="4572000"/>
            <a:ext cx="2377440" cy="512064"/>
          </a:xfrm>
          <a:prstGeom prst="roundRect">
            <a:avLst>
              <a:gd name="adj" fmla="val 8929"/>
            </a:avLst>
          </a:prstGeom>
          <a:solidFill>
            <a:srgbClr val="F3F4F6"/>
          </a:solidFill>
          <a:ln w="12700">
            <a:solidFill>
              <a:srgbClr val="CBD5E1"/>
            </a:solidFill>
            <a:prstDash val="solid"/>
          </a:ln>
        </p:spPr>
      </p:sp>
      <p:sp>
        <p:nvSpPr>
          <p:cNvPr id="19" name="Text 17"/>
          <p:cNvSpPr/>
          <p:nvPr/>
        </p:nvSpPr>
        <p:spPr>
          <a:xfrm>
            <a:off x="4983480" y="4617720"/>
            <a:ext cx="2249424" cy="420624"/>
          </a:xfrm>
          <a:prstGeom prst="rect">
            <a:avLst/>
          </a:prstGeom>
          <a:noFill/>
          <a:ln/>
        </p:spPr>
        <p:txBody>
          <a:bodyPr wrap="square" lIns="254" tIns="254" rIns="254" bIns="254" rtlCol="0" anchor="ctr">
            <a:normAutofit/>
          </a:bodyPr>
          <a:lstStyle/>
          <a:p>
            <a:pPr marL="0" indent="0" algn="ctr">
              <a:buNone/>
            </a:pPr>
            <a:r>
              <a:rPr lang="en-US" sz="1600" b="1" dirty="0">
                <a:solidFill>
                  <a:srgbClr val="1F2937"/>
                </a:solidFill>
                <a:latin typeface="Arial" pitchFamily="34" charset="0"/>
                <a:ea typeface="Arial" pitchFamily="34" charset="-122"/>
                <a:cs typeface="Arial" pitchFamily="34" charset="-120"/>
              </a:rPr>
              <a:t>One Application</a:t>
            </a:r>
            <a:endParaRPr lang="en-US" sz="1600" dirty="0"/>
          </a:p>
        </p:txBody>
      </p:sp>
      <p:sp>
        <p:nvSpPr>
          <p:cNvPr id="20" name="Text 18"/>
          <p:cNvSpPr/>
          <p:nvPr/>
        </p:nvSpPr>
        <p:spPr>
          <a:xfrm>
            <a:off x="1554480" y="5486400"/>
            <a:ext cx="9144000" cy="457200"/>
          </a:xfrm>
          <a:prstGeom prst="rect">
            <a:avLst/>
          </a:prstGeom>
          <a:noFill/>
          <a:ln/>
        </p:spPr>
        <p:txBody>
          <a:bodyPr wrap="square" lIns="0" tIns="0" rIns="0" bIns="0" rtlCol="0" anchor="ctr">
            <a:normAutofit/>
          </a:bodyPr>
          <a:lstStyle/>
          <a:p>
            <a:pPr marL="0" indent="0" algn="ctr">
              <a:buNone/>
            </a:pPr>
            <a:r>
              <a:rPr lang="en-US" sz="1600" b="1" dirty="0">
                <a:solidFill>
                  <a:srgbClr val="3E7D20"/>
                </a:solidFill>
              </a:rPr>
              <a:t>Spring Boot does not require one specific code layout; best practices help component scanning and maintainability.</a:t>
            </a:r>
            <a:endParaRPr lang="en-US" sz="1600" dirty="0"/>
          </a:p>
        </p:txBody>
      </p:sp>
      <p:sp>
        <p:nvSpPr>
          <p:cNvPr id="21" name="Text 19"/>
          <p:cNvSpPr/>
          <p:nvPr/>
        </p:nvSpPr>
        <p:spPr>
          <a:xfrm>
            <a:off x="530352" y="6208776"/>
            <a:ext cx="10881360" cy="182880"/>
          </a:xfrm>
          <a:prstGeom prst="rect">
            <a:avLst/>
          </a:prstGeom>
          <a:noFill/>
          <a:ln/>
        </p:spPr>
        <p:txBody>
          <a:bodyPr wrap="square" lIns="0" tIns="0" rIns="0" bIns="0" rtlCol="0" anchor="ctr">
            <a:normAutofit/>
          </a:bodyPr>
          <a:lstStyle/>
          <a:p>
            <a:pPr marL="0" indent="0">
              <a:buNone/>
            </a:pPr>
            <a:r>
              <a:rPr lang="en-US" sz="780" i="1" dirty="0">
                <a:solidFill>
                  <a:srgbClr val="7B8794"/>
                </a:solidFill>
                <a:latin typeface="Arial" pitchFamily="34" charset="0"/>
                <a:ea typeface="Arial" pitchFamily="34" charset="-122"/>
                <a:cs typeface="Arial" pitchFamily="34" charset="-120"/>
              </a:rPr>
              <a:t>Official basis: Spring Boot “Structuring Your Code” + Maven standard directory layout.</a:t>
            </a:r>
            <a:endParaRPr lang="en-US" sz="780" dirty="0"/>
          </a:p>
        </p:txBody>
      </p:sp>
      <p:sp>
        <p:nvSpPr>
          <p:cNvPr id="25" name="Slide Number Placeholder 0"/>
          <p:cNvSpPr>
            <a:spLocks noGrp="1"/>
          </p:cNvSpPr>
          <p:nvPr>
            <p:ph type="sldNum" sz="quarter" idx="4294967295"/>
          </p:nvPr>
        </p:nvSpPr>
        <p:spPr>
          <a:xfrm>
            <a:off x="11384280" y="6473952"/>
            <a:ext cx="384048"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latin typeface="Arial"/>
                <a:ea typeface="Arial"/>
                <a:cs typeface="Aria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310896"/>
            <a:ext cx="11064240" cy="475488"/>
          </a:xfrm>
          <a:prstGeom prst="rect">
            <a:avLst/>
          </a:prstGeom>
          <a:noFill/>
          <a:ln/>
        </p:spPr>
        <p:txBody>
          <a:bodyPr wrap="square" lIns="0" tIns="0" rIns="0" bIns="0" rtlCol="0" anchor="ctr">
            <a:normAutofit/>
          </a:bodyPr>
          <a:lstStyle/>
          <a:p>
            <a:pPr marL="0" indent="0">
              <a:buNone/>
            </a:pPr>
            <a:r>
              <a:rPr lang="en-US" sz="2700" b="1" dirty="0">
                <a:solidFill>
                  <a:srgbClr val="1F2937"/>
                </a:solidFill>
                <a:latin typeface="Arial" pitchFamily="34" charset="0"/>
                <a:ea typeface="Arial" pitchFamily="34" charset="-122"/>
                <a:cs typeface="Arial" pitchFamily="34" charset="-120"/>
              </a:rPr>
              <a:t>Official Maven standard directory layout</a:t>
            </a:r>
            <a:endParaRPr lang="en-US" sz="2700" dirty="0"/>
          </a:p>
        </p:txBody>
      </p:sp>
      <p:sp>
        <p:nvSpPr>
          <p:cNvPr id="3" name="Text 1"/>
          <p:cNvSpPr/>
          <p:nvPr/>
        </p:nvSpPr>
        <p:spPr>
          <a:xfrm>
            <a:off x="530352" y="804672"/>
            <a:ext cx="10881360" cy="310896"/>
          </a:xfrm>
          <a:prstGeom prst="rect">
            <a:avLst/>
          </a:prstGeom>
          <a:noFill/>
          <a:ln/>
        </p:spPr>
        <p:txBody>
          <a:bodyPr wrap="square" lIns="0" tIns="0" rIns="0" bIns="0" rtlCol="0" anchor="ctr">
            <a:normAutofit/>
          </a:bodyPr>
          <a:lstStyle/>
          <a:p>
            <a:pPr marL="0" indent="0">
              <a:buNone/>
            </a:pPr>
            <a:r>
              <a:rPr lang="en-US" sz="1250" dirty="0">
                <a:solidFill>
                  <a:srgbClr val="64748B"/>
                </a:solidFill>
                <a:latin typeface="Arial" pitchFamily="34" charset="0"/>
                <a:ea typeface="Arial" pitchFamily="34" charset="-122"/>
                <a:cs typeface="Arial" pitchFamily="34" charset="-120"/>
              </a:rPr>
              <a:t>Most Spring Boot Maven projects follow these directories automatically</a:t>
            </a:r>
            <a:endParaRPr lang="en-US" sz="1250" dirty="0"/>
          </a:p>
        </p:txBody>
      </p:sp>
      <p:sp>
        <p:nvSpPr>
          <p:cNvPr id="4" name="Shape 2"/>
          <p:cNvSpPr/>
          <p:nvPr/>
        </p:nvSpPr>
        <p:spPr>
          <a:xfrm>
            <a:off x="658368" y="1325880"/>
            <a:ext cx="6400800" cy="4526280"/>
          </a:xfrm>
          <a:prstGeom prst="roundRect">
            <a:avLst>
              <a:gd name="adj" fmla="val 808"/>
            </a:avLst>
          </a:prstGeom>
          <a:solidFill>
            <a:srgbClr val="FBFDF9"/>
          </a:solidFill>
          <a:ln w="12700">
            <a:solidFill>
              <a:srgbClr val="D5E4CE"/>
            </a:solidFill>
            <a:prstDash val="solid"/>
          </a:ln>
        </p:spPr>
      </p:sp>
      <p:sp>
        <p:nvSpPr>
          <p:cNvPr id="5" name="Text 3"/>
          <p:cNvSpPr/>
          <p:nvPr/>
        </p:nvSpPr>
        <p:spPr>
          <a:xfrm>
            <a:off x="822960" y="1453896"/>
            <a:ext cx="6071616" cy="4270248"/>
          </a:xfrm>
          <a:prstGeom prst="rect">
            <a:avLst/>
          </a:prstGeom>
          <a:noFill/>
          <a:ln/>
        </p:spPr>
        <p:txBody>
          <a:bodyPr wrap="square" lIns="254" tIns="254" rIns="254" bIns="254" rtlCol="0" anchor="t">
            <a:normAutofit/>
          </a:bodyPr>
          <a:lstStyle/>
          <a:p>
            <a:pPr marL="0" indent="0">
              <a:buNone/>
            </a:pPr>
            <a:r>
              <a:rPr lang="en-US" sz="1500" dirty="0">
                <a:solidFill>
                  <a:srgbClr val="1F2937"/>
                </a:solidFill>
                <a:latin typeface="Courier New" pitchFamily="34" charset="0"/>
                <a:ea typeface="Courier New" pitchFamily="34" charset="-122"/>
                <a:cs typeface="Courier New" pitchFamily="34" charset="-120"/>
              </a:rPr>
              <a:t>project-root/</a:t>
            </a:r>
            <a:endParaRPr lang="en-US" sz="1500" dirty="0"/>
          </a:p>
          <a:p>
            <a:pPr marL="0" indent="0">
              <a:buNone/>
            </a:pPr>
            <a:r>
              <a:rPr lang="en-US" sz="1500" dirty="0">
                <a:solidFill>
                  <a:srgbClr val="1F2937"/>
                </a:solidFill>
                <a:latin typeface="Courier New" pitchFamily="34" charset="0"/>
                <a:ea typeface="Courier New" pitchFamily="34" charset="-122"/>
                <a:cs typeface="Courier New" pitchFamily="34" charset="-120"/>
              </a:rPr>
              <a:t>├─ pom.xml</a:t>
            </a:r>
            <a:endParaRPr lang="en-US" sz="1500" dirty="0"/>
          </a:p>
          <a:p>
            <a:pPr marL="0" indent="0">
              <a:buNone/>
            </a:pPr>
            <a:r>
              <a:rPr lang="en-US" sz="1500" dirty="0">
                <a:solidFill>
                  <a:srgbClr val="1F2937"/>
                </a:solidFill>
                <a:latin typeface="Courier New" pitchFamily="34" charset="0"/>
                <a:ea typeface="Courier New" pitchFamily="34" charset="-122"/>
                <a:cs typeface="Courier New" pitchFamily="34" charset="-120"/>
              </a:rPr>
              <a:t>├─ src/</a:t>
            </a:r>
            <a:endParaRPr lang="en-US" sz="1500" dirty="0"/>
          </a:p>
          <a:p>
            <a:pPr marL="0" indent="0">
              <a:buNone/>
            </a:pPr>
            <a:r>
              <a:rPr lang="en-US" sz="1500" dirty="0">
                <a:solidFill>
                  <a:srgbClr val="1F2937"/>
                </a:solidFill>
                <a:latin typeface="Courier New" pitchFamily="34" charset="0"/>
                <a:ea typeface="Courier New" pitchFamily="34" charset="-122"/>
                <a:cs typeface="Courier New" pitchFamily="34" charset="-120"/>
              </a:rPr>
              <a:t>│  ├─ main/</a:t>
            </a:r>
            <a:endParaRPr lang="en-US" sz="1500" dirty="0"/>
          </a:p>
          <a:p>
            <a:pPr marL="0" indent="0">
              <a:buNone/>
            </a:pPr>
            <a:r>
              <a:rPr lang="en-US" sz="1500" dirty="0">
                <a:solidFill>
                  <a:srgbClr val="1F2937"/>
                </a:solidFill>
                <a:latin typeface="Courier New" pitchFamily="34" charset="0"/>
                <a:ea typeface="Courier New" pitchFamily="34" charset="-122"/>
                <a:cs typeface="Courier New" pitchFamily="34" charset="-120"/>
              </a:rPr>
              <a:t>│  │  ├─ java/          ← application/library source code</a:t>
            </a:r>
            <a:endParaRPr lang="en-US" sz="1500" dirty="0"/>
          </a:p>
          <a:p>
            <a:pPr marL="0" indent="0">
              <a:buNone/>
            </a:pPr>
            <a:r>
              <a:rPr lang="en-US" sz="1500" dirty="0">
                <a:solidFill>
                  <a:srgbClr val="1F2937"/>
                </a:solidFill>
                <a:latin typeface="Courier New" pitchFamily="34" charset="0"/>
                <a:ea typeface="Courier New" pitchFamily="34" charset="-122"/>
                <a:cs typeface="Courier New" pitchFamily="34" charset="-120"/>
              </a:rPr>
              <a:t>│  │  ├─ resources/     ← configuration + classpath resources</a:t>
            </a:r>
            <a:endParaRPr lang="en-US" sz="1500" dirty="0"/>
          </a:p>
          <a:p>
            <a:pPr marL="0" indent="0">
              <a:buNone/>
            </a:pPr>
            <a:r>
              <a:rPr lang="en-US" sz="1500" dirty="0">
                <a:solidFill>
                  <a:srgbClr val="1F2937"/>
                </a:solidFill>
                <a:latin typeface="Courier New" pitchFamily="34" charset="0"/>
                <a:ea typeface="Courier New" pitchFamily="34" charset="-122"/>
                <a:cs typeface="Courier New" pitchFamily="34" charset="-120"/>
              </a:rPr>
              <a:t>│  │  └─ webapp/        ← traditional web app sources (when used)</a:t>
            </a:r>
            <a:endParaRPr lang="en-US" sz="1500" dirty="0"/>
          </a:p>
          <a:p>
            <a:pPr marL="0" indent="0">
              <a:buNone/>
            </a:pPr>
            <a:r>
              <a:rPr lang="en-US" sz="1500" dirty="0">
                <a:solidFill>
                  <a:srgbClr val="1F2937"/>
                </a:solidFill>
                <a:latin typeface="Courier New" pitchFamily="34" charset="0"/>
                <a:ea typeface="Courier New" pitchFamily="34" charset="-122"/>
                <a:cs typeface="Courier New" pitchFamily="34" charset="-120"/>
              </a:rPr>
              <a:t>│  └─ test/</a:t>
            </a:r>
            <a:endParaRPr lang="en-US" sz="1500" dirty="0"/>
          </a:p>
          <a:p>
            <a:pPr marL="0" indent="0">
              <a:buNone/>
            </a:pPr>
            <a:r>
              <a:rPr lang="en-US" sz="1500" dirty="0">
                <a:solidFill>
                  <a:srgbClr val="1F2937"/>
                </a:solidFill>
                <a:latin typeface="Courier New" pitchFamily="34" charset="0"/>
                <a:ea typeface="Courier New" pitchFamily="34" charset="-122"/>
                <a:cs typeface="Courier New" pitchFamily="34" charset="-120"/>
              </a:rPr>
              <a:t>│     ├─ java/          ← test source code</a:t>
            </a:r>
            <a:endParaRPr lang="en-US" sz="1500" dirty="0"/>
          </a:p>
          <a:p>
            <a:pPr marL="0" indent="0">
              <a:buNone/>
            </a:pPr>
            <a:r>
              <a:rPr lang="en-US" sz="1500" dirty="0">
                <a:solidFill>
                  <a:srgbClr val="1F2937"/>
                </a:solidFill>
                <a:latin typeface="Courier New" pitchFamily="34" charset="0"/>
                <a:ea typeface="Courier New" pitchFamily="34" charset="-122"/>
                <a:cs typeface="Courier New" pitchFamily="34" charset="-120"/>
              </a:rPr>
              <a:t>│     └─ resources/     ← test-only resources</a:t>
            </a:r>
            <a:endParaRPr lang="en-US" sz="1500" dirty="0"/>
          </a:p>
          <a:p>
            <a:pPr marL="0" indent="0">
              <a:buNone/>
            </a:pPr>
            <a:r>
              <a:rPr lang="en-US" sz="1500" dirty="0">
                <a:solidFill>
                  <a:srgbClr val="1F2937"/>
                </a:solidFill>
                <a:latin typeface="Courier New" pitchFamily="34" charset="0"/>
                <a:ea typeface="Courier New" pitchFamily="34" charset="-122"/>
                <a:cs typeface="Courier New" pitchFamily="34" charset="-120"/>
              </a:rPr>
              <a:t>└─ target/              ← generated build output</a:t>
            </a:r>
            <a:endParaRPr lang="en-US" sz="1500" dirty="0"/>
          </a:p>
        </p:txBody>
      </p:sp>
      <p:sp>
        <p:nvSpPr>
          <p:cNvPr id="6" name="Shape 4"/>
          <p:cNvSpPr/>
          <p:nvPr/>
        </p:nvSpPr>
        <p:spPr>
          <a:xfrm>
            <a:off x="7360920" y="1417320"/>
            <a:ext cx="4160520" cy="1143000"/>
          </a:xfrm>
          <a:prstGeom prst="roundRect">
            <a:avLst>
              <a:gd name="adj" fmla="val 6400"/>
            </a:avLst>
          </a:prstGeom>
          <a:solidFill>
            <a:srgbClr val="EAF2FF"/>
          </a:solidFill>
          <a:ln w="12700">
            <a:solidFill>
              <a:srgbClr val="D8E2D2"/>
            </a:solidFill>
            <a:prstDash val="solid"/>
          </a:ln>
          <a:effectLst>
            <a:outerShdw blurRad="19050" dist="50800" dir="2700000" algn="bl" rotWithShape="0">
              <a:srgbClr val="D1D5DB">
                <a:alpha val="12000"/>
              </a:srgbClr>
            </a:outerShdw>
          </a:effectLst>
        </p:spPr>
      </p:sp>
      <p:sp>
        <p:nvSpPr>
          <p:cNvPr id="7" name="Shape 5"/>
          <p:cNvSpPr/>
          <p:nvPr/>
        </p:nvSpPr>
        <p:spPr>
          <a:xfrm>
            <a:off x="7360920" y="1417320"/>
            <a:ext cx="73152" cy="1143000"/>
          </a:xfrm>
          <a:prstGeom prst="rect">
            <a:avLst/>
          </a:prstGeom>
          <a:solidFill>
            <a:srgbClr val="2563EB"/>
          </a:solidFill>
          <a:ln w="12700">
            <a:solidFill>
              <a:srgbClr val="2563EB"/>
            </a:solidFill>
            <a:prstDash val="solid"/>
          </a:ln>
        </p:spPr>
      </p:sp>
      <p:sp>
        <p:nvSpPr>
          <p:cNvPr id="8" name="Text 6"/>
          <p:cNvSpPr/>
          <p:nvPr/>
        </p:nvSpPr>
        <p:spPr>
          <a:xfrm>
            <a:off x="7562088" y="1563624"/>
            <a:ext cx="3758184" cy="310896"/>
          </a:xfrm>
          <a:prstGeom prst="rect">
            <a:avLst/>
          </a:prstGeom>
          <a:noFill/>
          <a:ln/>
        </p:spPr>
        <p:txBody>
          <a:bodyPr wrap="square" lIns="0" tIns="0" rIns="0" bIns="0" rtlCol="0" anchor="ctr">
            <a:normAutofit/>
          </a:bodyPr>
          <a:lstStyle/>
          <a:p>
            <a:pPr marL="0" indent="0">
              <a:buNone/>
            </a:pPr>
            <a:r>
              <a:rPr lang="en-US" sz="1650" b="1" dirty="0">
                <a:solidFill>
                  <a:srgbClr val="1F2937"/>
                </a:solidFill>
              </a:rPr>
              <a:t>src/main/java</a:t>
            </a:r>
            <a:endParaRPr lang="en-US" sz="1650" dirty="0"/>
          </a:p>
        </p:txBody>
      </p:sp>
      <p:sp>
        <p:nvSpPr>
          <p:cNvPr id="9" name="Text 7"/>
          <p:cNvSpPr/>
          <p:nvPr/>
        </p:nvSpPr>
        <p:spPr>
          <a:xfrm>
            <a:off x="7562088" y="1984248"/>
            <a:ext cx="3758184" cy="429768"/>
          </a:xfrm>
          <a:prstGeom prst="rect">
            <a:avLst/>
          </a:prstGeom>
          <a:noFill/>
          <a:ln/>
        </p:spPr>
        <p:txBody>
          <a:bodyPr wrap="square" lIns="254" tIns="254" rIns="254" bIns="254" rtlCol="0" anchor="t">
            <a:normAutofit/>
          </a:bodyPr>
          <a:lstStyle/>
          <a:p>
            <a:pPr marL="0" indent="0">
              <a:buNone/>
            </a:pPr>
            <a:r>
              <a:rPr lang="en-US" sz="1280" dirty="0">
                <a:solidFill>
                  <a:srgbClr val="64748B"/>
                </a:solidFill>
              </a:rPr>
              <a:t>Your Java packages and production code.</a:t>
            </a:r>
            <a:endParaRPr lang="en-US" sz="1280" dirty="0"/>
          </a:p>
        </p:txBody>
      </p:sp>
      <p:sp>
        <p:nvSpPr>
          <p:cNvPr id="10" name="Shape 8"/>
          <p:cNvSpPr/>
          <p:nvPr/>
        </p:nvSpPr>
        <p:spPr>
          <a:xfrm>
            <a:off x="7360920" y="2788920"/>
            <a:ext cx="4160520" cy="1143000"/>
          </a:xfrm>
          <a:prstGeom prst="roundRect">
            <a:avLst>
              <a:gd name="adj" fmla="val 6400"/>
            </a:avLst>
          </a:prstGeom>
          <a:solidFill>
            <a:srgbClr val="EEF7E8"/>
          </a:solidFill>
          <a:ln w="12700">
            <a:solidFill>
              <a:srgbClr val="D8E2D2"/>
            </a:solidFill>
            <a:prstDash val="solid"/>
          </a:ln>
          <a:effectLst>
            <a:outerShdw blurRad="19050" dist="50800" dir="2700000" algn="bl" rotWithShape="0">
              <a:srgbClr val="D1D5DB">
                <a:alpha val="12000"/>
              </a:srgbClr>
            </a:outerShdw>
          </a:effectLst>
        </p:spPr>
      </p:sp>
      <p:sp>
        <p:nvSpPr>
          <p:cNvPr id="11" name="Shape 9"/>
          <p:cNvSpPr/>
          <p:nvPr/>
        </p:nvSpPr>
        <p:spPr>
          <a:xfrm>
            <a:off x="7360920" y="2788920"/>
            <a:ext cx="73152" cy="1143000"/>
          </a:xfrm>
          <a:prstGeom prst="rect">
            <a:avLst/>
          </a:prstGeom>
          <a:solidFill>
            <a:srgbClr val="6DB33F"/>
          </a:solidFill>
          <a:ln w="12700">
            <a:solidFill>
              <a:srgbClr val="6DB33F"/>
            </a:solidFill>
            <a:prstDash val="solid"/>
          </a:ln>
        </p:spPr>
      </p:sp>
      <p:sp>
        <p:nvSpPr>
          <p:cNvPr id="12" name="Text 10"/>
          <p:cNvSpPr/>
          <p:nvPr/>
        </p:nvSpPr>
        <p:spPr>
          <a:xfrm>
            <a:off x="7562088" y="2935224"/>
            <a:ext cx="3758184" cy="310896"/>
          </a:xfrm>
          <a:prstGeom prst="rect">
            <a:avLst/>
          </a:prstGeom>
          <a:noFill/>
          <a:ln/>
        </p:spPr>
        <p:txBody>
          <a:bodyPr wrap="square" lIns="0" tIns="0" rIns="0" bIns="0" rtlCol="0" anchor="ctr">
            <a:normAutofit/>
          </a:bodyPr>
          <a:lstStyle/>
          <a:p>
            <a:pPr marL="0" indent="0">
              <a:buNone/>
            </a:pPr>
            <a:r>
              <a:rPr lang="en-US" sz="1650" b="1" dirty="0">
                <a:solidFill>
                  <a:srgbClr val="1F2937"/>
                </a:solidFill>
              </a:rPr>
              <a:t>src/main/resources</a:t>
            </a:r>
            <a:endParaRPr lang="en-US" sz="1650" dirty="0"/>
          </a:p>
        </p:txBody>
      </p:sp>
      <p:sp>
        <p:nvSpPr>
          <p:cNvPr id="13" name="Text 11"/>
          <p:cNvSpPr/>
          <p:nvPr/>
        </p:nvSpPr>
        <p:spPr>
          <a:xfrm>
            <a:off x="7562088" y="3355848"/>
            <a:ext cx="3758184" cy="429768"/>
          </a:xfrm>
          <a:prstGeom prst="rect">
            <a:avLst/>
          </a:prstGeom>
          <a:noFill/>
          <a:ln/>
        </p:spPr>
        <p:txBody>
          <a:bodyPr wrap="square" lIns="254" tIns="254" rIns="254" bIns="254" rtlCol="0" anchor="t">
            <a:normAutofit/>
          </a:bodyPr>
          <a:lstStyle/>
          <a:p>
            <a:pPr marL="0" indent="0">
              <a:buNone/>
            </a:pPr>
            <a:r>
              <a:rPr lang="en-US" sz="1280" dirty="0">
                <a:solidFill>
                  <a:srgbClr val="64748B"/>
                </a:solidFill>
              </a:rPr>
              <a:t>application.properties/YAML, templates, static files and other resources.</a:t>
            </a:r>
            <a:endParaRPr lang="en-US" sz="1280" dirty="0"/>
          </a:p>
        </p:txBody>
      </p:sp>
      <p:sp>
        <p:nvSpPr>
          <p:cNvPr id="14" name="Shape 12"/>
          <p:cNvSpPr/>
          <p:nvPr/>
        </p:nvSpPr>
        <p:spPr>
          <a:xfrm>
            <a:off x="7360920" y="4160520"/>
            <a:ext cx="4160520" cy="1143000"/>
          </a:xfrm>
          <a:prstGeom prst="roundRect">
            <a:avLst>
              <a:gd name="adj" fmla="val 6400"/>
            </a:avLst>
          </a:prstGeom>
          <a:solidFill>
            <a:srgbClr val="F2EBFF"/>
          </a:solidFill>
          <a:ln w="12700">
            <a:solidFill>
              <a:srgbClr val="D8E2D2"/>
            </a:solidFill>
            <a:prstDash val="solid"/>
          </a:ln>
          <a:effectLst>
            <a:outerShdw blurRad="19050" dist="50800" dir="2700000" algn="bl" rotWithShape="0">
              <a:srgbClr val="D1D5DB">
                <a:alpha val="12000"/>
              </a:srgbClr>
            </a:outerShdw>
          </a:effectLst>
        </p:spPr>
      </p:sp>
      <p:sp>
        <p:nvSpPr>
          <p:cNvPr id="15" name="Shape 13"/>
          <p:cNvSpPr/>
          <p:nvPr/>
        </p:nvSpPr>
        <p:spPr>
          <a:xfrm>
            <a:off x="7360920" y="4160520"/>
            <a:ext cx="73152" cy="1143000"/>
          </a:xfrm>
          <a:prstGeom prst="rect">
            <a:avLst/>
          </a:prstGeom>
          <a:solidFill>
            <a:srgbClr val="7C3AED"/>
          </a:solidFill>
          <a:ln w="12700">
            <a:solidFill>
              <a:srgbClr val="7C3AED"/>
            </a:solidFill>
            <a:prstDash val="solid"/>
          </a:ln>
        </p:spPr>
      </p:sp>
      <p:sp>
        <p:nvSpPr>
          <p:cNvPr id="16" name="Text 14"/>
          <p:cNvSpPr/>
          <p:nvPr/>
        </p:nvSpPr>
        <p:spPr>
          <a:xfrm>
            <a:off x="7562088" y="4306824"/>
            <a:ext cx="3758184" cy="310896"/>
          </a:xfrm>
          <a:prstGeom prst="rect">
            <a:avLst/>
          </a:prstGeom>
          <a:noFill/>
          <a:ln/>
        </p:spPr>
        <p:txBody>
          <a:bodyPr wrap="square" lIns="0" tIns="0" rIns="0" bIns="0" rtlCol="0" anchor="ctr">
            <a:normAutofit/>
          </a:bodyPr>
          <a:lstStyle/>
          <a:p>
            <a:pPr marL="0" indent="0">
              <a:buNone/>
            </a:pPr>
            <a:r>
              <a:rPr lang="en-US" sz="1650" b="1" dirty="0">
                <a:solidFill>
                  <a:srgbClr val="1F2937"/>
                </a:solidFill>
              </a:rPr>
              <a:t>src/test/...</a:t>
            </a:r>
            <a:endParaRPr lang="en-US" sz="1650" dirty="0"/>
          </a:p>
        </p:txBody>
      </p:sp>
      <p:sp>
        <p:nvSpPr>
          <p:cNvPr id="17" name="Text 15"/>
          <p:cNvSpPr/>
          <p:nvPr/>
        </p:nvSpPr>
        <p:spPr>
          <a:xfrm>
            <a:off x="7562088" y="4727448"/>
            <a:ext cx="3758184" cy="429768"/>
          </a:xfrm>
          <a:prstGeom prst="rect">
            <a:avLst/>
          </a:prstGeom>
          <a:noFill/>
          <a:ln/>
        </p:spPr>
        <p:txBody>
          <a:bodyPr wrap="square" lIns="254" tIns="254" rIns="254" bIns="254" rtlCol="0" anchor="t">
            <a:normAutofit/>
          </a:bodyPr>
          <a:lstStyle/>
          <a:p>
            <a:pPr marL="0" indent="0">
              <a:buNone/>
            </a:pPr>
            <a:r>
              <a:rPr lang="en-US" sz="1280" dirty="0">
                <a:solidFill>
                  <a:srgbClr val="64748B"/>
                </a:solidFill>
              </a:rPr>
              <a:t>Unit/integration test classes and test-specific resources.</a:t>
            </a:r>
            <a:endParaRPr lang="en-US" sz="1280" dirty="0"/>
          </a:p>
        </p:txBody>
      </p:sp>
      <p:sp>
        <p:nvSpPr>
          <p:cNvPr id="18" name="Text 16"/>
          <p:cNvSpPr/>
          <p:nvPr/>
        </p:nvSpPr>
        <p:spPr>
          <a:xfrm>
            <a:off x="530352" y="6208776"/>
            <a:ext cx="10881360" cy="182880"/>
          </a:xfrm>
          <a:prstGeom prst="rect">
            <a:avLst/>
          </a:prstGeom>
          <a:noFill/>
          <a:ln/>
        </p:spPr>
        <p:txBody>
          <a:bodyPr wrap="square" lIns="0" tIns="0" rIns="0" bIns="0" rtlCol="0" anchor="ctr">
            <a:normAutofit/>
          </a:bodyPr>
          <a:lstStyle/>
          <a:p>
            <a:pPr marL="0" indent="0">
              <a:buNone/>
            </a:pPr>
            <a:r>
              <a:rPr lang="en-US" sz="780" i="1" dirty="0">
                <a:solidFill>
                  <a:srgbClr val="7B8794"/>
                </a:solidFill>
                <a:latin typeface="Arial" pitchFamily="34" charset="0"/>
                <a:ea typeface="Arial" pitchFamily="34" charset="-122"/>
                <a:cs typeface="Arial" pitchFamily="34" charset="-120"/>
              </a:rPr>
              <a:t>Official source: Apache Maven — Introduction to the Standard Directory Layout.</a:t>
            </a:r>
            <a:endParaRPr lang="en-US" sz="780" dirty="0"/>
          </a:p>
        </p:txBody>
      </p:sp>
      <p:sp>
        <p:nvSpPr>
          <p:cNvPr id="25" name="Slide Number Placeholder 0"/>
          <p:cNvSpPr>
            <a:spLocks noGrp="1"/>
          </p:cNvSpPr>
          <p:nvPr>
            <p:ph type="sldNum" sz="quarter" idx="4294967295"/>
          </p:nvPr>
        </p:nvSpPr>
        <p:spPr>
          <a:xfrm>
            <a:off x="11384280" y="6473952"/>
            <a:ext cx="384048"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latin typeface="Arial"/>
                <a:ea typeface="Arial"/>
                <a:cs typeface="Aria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310896"/>
            <a:ext cx="11064240" cy="475488"/>
          </a:xfrm>
          <a:prstGeom prst="rect">
            <a:avLst/>
          </a:prstGeom>
          <a:noFill/>
          <a:ln/>
        </p:spPr>
        <p:txBody>
          <a:bodyPr wrap="square" lIns="0" tIns="0" rIns="0" bIns="0" rtlCol="0" anchor="ctr">
            <a:normAutofit/>
          </a:bodyPr>
          <a:lstStyle/>
          <a:p>
            <a:pPr marL="0" indent="0">
              <a:buNone/>
            </a:pPr>
            <a:r>
              <a:rPr lang="en-US" sz="2700" b="1" dirty="0">
                <a:solidFill>
                  <a:srgbClr val="1F2937"/>
                </a:solidFill>
                <a:latin typeface="Arial" pitchFamily="34" charset="0"/>
                <a:ea typeface="Arial" pitchFamily="34" charset="-122"/>
                <a:cs typeface="Arial" pitchFamily="34" charset="-120"/>
              </a:rPr>
              <a:t>Typical Spring Framework layered package structure</a:t>
            </a:r>
            <a:endParaRPr lang="en-US" sz="2700" dirty="0"/>
          </a:p>
        </p:txBody>
      </p:sp>
      <p:sp>
        <p:nvSpPr>
          <p:cNvPr id="3" name="Text 1"/>
          <p:cNvSpPr/>
          <p:nvPr/>
        </p:nvSpPr>
        <p:spPr>
          <a:xfrm>
            <a:off x="530352" y="804672"/>
            <a:ext cx="10881360" cy="310896"/>
          </a:xfrm>
          <a:prstGeom prst="rect">
            <a:avLst/>
          </a:prstGeom>
          <a:noFill/>
          <a:ln/>
        </p:spPr>
        <p:txBody>
          <a:bodyPr wrap="square" lIns="0" tIns="0" rIns="0" bIns="0" rtlCol="0" anchor="ctr">
            <a:normAutofit/>
          </a:bodyPr>
          <a:lstStyle/>
          <a:p>
            <a:pPr marL="0" indent="0">
              <a:buNone/>
            </a:pPr>
            <a:r>
              <a:rPr lang="en-US" sz="1250" dirty="0">
                <a:solidFill>
                  <a:srgbClr val="64748B"/>
                </a:solidFill>
                <a:latin typeface="Arial" pitchFamily="34" charset="0"/>
                <a:ea typeface="Arial" pitchFamily="34" charset="-122"/>
                <a:cs typeface="Arial" pitchFamily="34" charset="-120"/>
              </a:rPr>
              <a:t>A common convention for a small/medium application — not a hard Spring requirement</a:t>
            </a:r>
            <a:endParaRPr lang="en-US" sz="1250" dirty="0"/>
          </a:p>
        </p:txBody>
      </p:sp>
      <p:sp>
        <p:nvSpPr>
          <p:cNvPr id="4" name="Shape 2"/>
          <p:cNvSpPr/>
          <p:nvPr/>
        </p:nvSpPr>
        <p:spPr>
          <a:xfrm>
            <a:off x="731520" y="1298448"/>
            <a:ext cx="4983480" cy="4663440"/>
          </a:xfrm>
          <a:prstGeom prst="roundRect">
            <a:avLst>
              <a:gd name="adj" fmla="val 784"/>
            </a:avLst>
          </a:prstGeom>
          <a:solidFill>
            <a:srgbClr val="FBFDF9"/>
          </a:solidFill>
          <a:ln w="12700">
            <a:solidFill>
              <a:srgbClr val="D5E4CE"/>
            </a:solidFill>
            <a:prstDash val="solid"/>
          </a:ln>
        </p:spPr>
      </p:sp>
      <p:sp>
        <p:nvSpPr>
          <p:cNvPr id="5" name="Text 3"/>
          <p:cNvSpPr/>
          <p:nvPr/>
        </p:nvSpPr>
        <p:spPr>
          <a:xfrm>
            <a:off x="896112" y="1426464"/>
            <a:ext cx="4654296" cy="4407408"/>
          </a:xfrm>
          <a:prstGeom prst="rect">
            <a:avLst/>
          </a:prstGeom>
          <a:noFill/>
          <a:ln/>
        </p:spPr>
        <p:txBody>
          <a:bodyPr wrap="square" lIns="254" tIns="254" rIns="254" bIns="254" rtlCol="0" anchor="t">
            <a:normAutofit/>
          </a:bodyPr>
          <a:lstStyle/>
          <a:p>
            <a:pPr marL="0" indent="0">
              <a:buNone/>
            </a:pPr>
            <a:r>
              <a:rPr lang="en-US" sz="1420" dirty="0">
                <a:solidFill>
                  <a:srgbClr val="1F2937"/>
                </a:solidFill>
                <a:latin typeface="Courier New" pitchFamily="34" charset="0"/>
                <a:ea typeface="Courier New" pitchFamily="34" charset="-122"/>
                <a:cs typeface="Courier New" pitchFamily="34" charset="-120"/>
              </a:rPr>
              <a:t>com.example.employee/</a:t>
            </a:r>
            <a:endParaRPr lang="en-US" sz="1420" dirty="0"/>
          </a:p>
          <a:p>
            <a:pPr marL="0" indent="0">
              <a:buNone/>
            </a:pPr>
            <a:r>
              <a:rPr lang="en-US" sz="1420" dirty="0">
                <a:solidFill>
                  <a:srgbClr val="1F2937"/>
                </a:solidFill>
                <a:latin typeface="Courier New" pitchFamily="34" charset="0"/>
                <a:ea typeface="Courier New" pitchFamily="34" charset="-122"/>
                <a:cs typeface="Courier New" pitchFamily="34" charset="-120"/>
              </a:rPr>
              <a:t>├─ config/</a:t>
            </a:r>
            <a:endParaRPr lang="en-US" sz="1420" dirty="0"/>
          </a:p>
          <a:p>
            <a:pPr marL="0" indent="0">
              <a:buNone/>
            </a:pPr>
            <a:r>
              <a:rPr lang="en-US" sz="1420" dirty="0">
                <a:solidFill>
                  <a:srgbClr val="1F2937"/>
                </a:solidFill>
                <a:latin typeface="Courier New" pitchFamily="34" charset="0"/>
                <a:ea typeface="Courier New" pitchFamily="34" charset="-122"/>
                <a:cs typeface="Courier New" pitchFamily="34" charset="-120"/>
              </a:rPr>
              <a:t>│  └─ AppConfig.java</a:t>
            </a:r>
            <a:endParaRPr lang="en-US" sz="1420" dirty="0"/>
          </a:p>
          <a:p>
            <a:pPr marL="0" indent="0">
              <a:buNone/>
            </a:pPr>
            <a:r>
              <a:rPr lang="en-US" sz="1420" dirty="0">
                <a:solidFill>
                  <a:srgbClr val="1F2937"/>
                </a:solidFill>
                <a:latin typeface="Courier New" pitchFamily="34" charset="0"/>
                <a:ea typeface="Courier New" pitchFamily="34" charset="-122"/>
                <a:cs typeface="Courier New" pitchFamily="34" charset="-120"/>
              </a:rPr>
              <a:t>├─ controller/</a:t>
            </a:r>
            <a:endParaRPr lang="en-US" sz="1420" dirty="0"/>
          </a:p>
          <a:p>
            <a:pPr marL="0" indent="0">
              <a:buNone/>
            </a:pPr>
            <a:r>
              <a:rPr lang="en-US" sz="1420" dirty="0">
                <a:solidFill>
                  <a:srgbClr val="1F2937"/>
                </a:solidFill>
                <a:latin typeface="Courier New" pitchFamily="34" charset="0"/>
                <a:ea typeface="Courier New" pitchFamily="34" charset="-122"/>
                <a:cs typeface="Courier New" pitchFamily="34" charset="-120"/>
              </a:rPr>
              <a:t>│  └─ EmployeeController.java</a:t>
            </a:r>
            <a:endParaRPr lang="en-US" sz="1420" dirty="0"/>
          </a:p>
          <a:p>
            <a:pPr marL="0" indent="0">
              <a:buNone/>
            </a:pPr>
            <a:r>
              <a:rPr lang="en-US" sz="1420" dirty="0">
                <a:solidFill>
                  <a:srgbClr val="1F2937"/>
                </a:solidFill>
                <a:latin typeface="Courier New" pitchFamily="34" charset="0"/>
                <a:ea typeface="Courier New" pitchFamily="34" charset="-122"/>
                <a:cs typeface="Courier New" pitchFamily="34" charset="-120"/>
              </a:rPr>
              <a:t>├─ service/</a:t>
            </a:r>
            <a:endParaRPr lang="en-US" sz="1420" dirty="0"/>
          </a:p>
          <a:p>
            <a:pPr marL="0" indent="0">
              <a:buNone/>
            </a:pPr>
            <a:r>
              <a:rPr lang="en-US" sz="1420" dirty="0">
                <a:solidFill>
                  <a:srgbClr val="1F2937"/>
                </a:solidFill>
                <a:latin typeface="Courier New" pitchFamily="34" charset="0"/>
                <a:ea typeface="Courier New" pitchFamily="34" charset="-122"/>
                <a:cs typeface="Courier New" pitchFamily="34" charset="-120"/>
              </a:rPr>
              <a:t>│  └─ EmployeeService.java</a:t>
            </a:r>
            <a:endParaRPr lang="en-US" sz="1420" dirty="0"/>
          </a:p>
          <a:p>
            <a:pPr marL="0" indent="0">
              <a:buNone/>
            </a:pPr>
            <a:r>
              <a:rPr lang="en-US" sz="1420" dirty="0">
                <a:solidFill>
                  <a:srgbClr val="1F2937"/>
                </a:solidFill>
                <a:latin typeface="Courier New" pitchFamily="34" charset="0"/>
                <a:ea typeface="Courier New" pitchFamily="34" charset="-122"/>
                <a:cs typeface="Courier New" pitchFamily="34" charset="-120"/>
              </a:rPr>
              <a:t>├─ repository/</a:t>
            </a:r>
            <a:endParaRPr lang="en-US" sz="1420" dirty="0"/>
          </a:p>
          <a:p>
            <a:pPr marL="0" indent="0">
              <a:buNone/>
            </a:pPr>
            <a:r>
              <a:rPr lang="en-US" sz="1420" dirty="0">
                <a:solidFill>
                  <a:srgbClr val="1F2937"/>
                </a:solidFill>
                <a:latin typeface="Courier New" pitchFamily="34" charset="0"/>
                <a:ea typeface="Courier New" pitchFamily="34" charset="-122"/>
                <a:cs typeface="Courier New" pitchFamily="34" charset="-120"/>
              </a:rPr>
              <a:t>│  └─ EmployeeRepository.java</a:t>
            </a:r>
            <a:endParaRPr lang="en-US" sz="1420" dirty="0"/>
          </a:p>
          <a:p>
            <a:pPr marL="0" indent="0">
              <a:buNone/>
            </a:pPr>
            <a:r>
              <a:rPr lang="en-US" sz="1420" dirty="0">
                <a:solidFill>
                  <a:srgbClr val="1F2937"/>
                </a:solidFill>
                <a:latin typeface="Courier New" pitchFamily="34" charset="0"/>
                <a:ea typeface="Courier New" pitchFamily="34" charset="-122"/>
                <a:cs typeface="Courier New" pitchFamily="34" charset="-120"/>
              </a:rPr>
              <a:t>├─ model/</a:t>
            </a:r>
            <a:endParaRPr lang="en-US" sz="1420" dirty="0"/>
          </a:p>
          <a:p>
            <a:pPr marL="0" indent="0">
              <a:buNone/>
            </a:pPr>
            <a:r>
              <a:rPr lang="en-US" sz="1420" dirty="0">
                <a:solidFill>
                  <a:srgbClr val="1F2937"/>
                </a:solidFill>
                <a:latin typeface="Courier New" pitchFamily="34" charset="0"/>
                <a:ea typeface="Courier New" pitchFamily="34" charset="-122"/>
                <a:cs typeface="Courier New" pitchFamily="34" charset="-120"/>
              </a:rPr>
              <a:t>│  └─ Employee.java</a:t>
            </a:r>
            <a:endParaRPr lang="en-US" sz="1420" dirty="0"/>
          </a:p>
          <a:p>
            <a:pPr marL="0" indent="0">
              <a:buNone/>
            </a:pPr>
            <a:r>
              <a:rPr lang="en-US" sz="1420" dirty="0">
                <a:solidFill>
                  <a:srgbClr val="1F2937"/>
                </a:solidFill>
                <a:latin typeface="Courier New" pitchFamily="34" charset="0"/>
                <a:ea typeface="Courier New" pitchFamily="34" charset="-122"/>
                <a:cs typeface="Courier New" pitchFamily="34" charset="-120"/>
              </a:rPr>
              <a:t>└─ exception/</a:t>
            </a:r>
            <a:endParaRPr lang="en-US" sz="1420" dirty="0"/>
          </a:p>
          <a:p>
            <a:pPr marL="0" indent="0">
              <a:buNone/>
            </a:pPr>
            <a:r>
              <a:rPr lang="en-US" sz="1420" dirty="0">
                <a:solidFill>
                  <a:srgbClr val="1F2937"/>
                </a:solidFill>
                <a:latin typeface="Courier New" pitchFamily="34" charset="0"/>
                <a:ea typeface="Courier New" pitchFamily="34" charset="-122"/>
                <a:cs typeface="Courier New" pitchFamily="34" charset="-120"/>
              </a:rPr>
              <a:t>   └─ EmployeeNotFoundException.java</a:t>
            </a:r>
            <a:endParaRPr lang="en-US" sz="1420" dirty="0"/>
          </a:p>
        </p:txBody>
      </p:sp>
      <p:sp>
        <p:nvSpPr>
          <p:cNvPr id="6" name="Shape 4"/>
          <p:cNvSpPr/>
          <p:nvPr/>
        </p:nvSpPr>
        <p:spPr>
          <a:xfrm>
            <a:off x="6537960" y="1417320"/>
            <a:ext cx="4206240" cy="548640"/>
          </a:xfrm>
          <a:prstGeom prst="roundRect">
            <a:avLst>
              <a:gd name="adj" fmla="val 8333"/>
            </a:avLst>
          </a:prstGeom>
          <a:solidFill>
            <a:srgbClr val="EAF2FF"/>
          </a:solidFill>
          <a:ln w="12700">
            <a:solidFill>
              <a:srgbClr val="B9D1FF"/>
            </a:solidFill>
            <a:prstDash val="solid"/>
          </a:ln>
        </p:spPr>
      </p:sp>
      <p:sp>
        <p:nvSpPr>
          <p:cNvPr id="7" name="Text 5"/>
          <p:cNvSpPr/>
          <p:nvPr/>
        </p:nvSpPr>
        <p:spPr>
          <a:xfrm>
            <a:off x="6601968" y="1463040"/>
            <a:ext cx="4078224" cy="457200"/>
          </a:xfrm>
          <a:prstGeom prst="rect">
            <a:avLst/>
          </a:prstGeom>
          <a:noFill/>
          <a:ln/>
        </p:spPr>
        <p:txBody>
          <a:bodyPr wrap="square" lIns="254" tIns="254" rIns="254" bIns="254" rtlCol="0" anchor="ctr">
            <a:normAutofit/>
          </a:bodyPr>
          <a:lstStyle/>
          <a:p>
            <a:pPr marL="0" indent="0" algn="ctr">
              <a:buNone/>
            </a:pPr>
            <a:r>
              <a:rPr lang="en-US" sz="1700" b="1" dirty="0">
                <a:solidFill>
                  <a:srgbClr val="2563EB"/>
                </a:solidFill>
                <a:latin typeface="Arial" pitchFamily="34" charset="0"/>
                <a:ea typeface="Arial" pitchFamily="34" charset="-122"/>
                <a:cs typeface="Arial" pitchFamily="34" charset="-120"/>
              </a:rPr>
              <a:t>Presentation Layer</a:t>
            </a:r>
            <a:endParaRPr lang="en-US" sz="1700" dirty="0"/>
          </a:p>
        </p:txBody>
      </p:sp>
      <p:sp>
        <p:nvSpPr>
          <p:cNvPr id="8" name="Text 6"/>
          <p:cNvSpPr/>
          <p:nvPr/>
        </p:nvSpPr>
        <p:spPr>
          <a:xfrm>
            <a:off x="6766560" y="2029968"/>
            <a:ext cx="3794760" cy="347472"/>
          </a:xfrm>
          <a:prstGeom prst="rect">
            <a:avLst/>
          </a:prstGeom>
          <a:noFill/>
          <a:ln/>
        </p:spPr>
        <p:txBody>
          <a:bodyPr wrap="square" lIns="0" tIns="0" rIns="0" bIns="0" rtlCol="0" anchor="ctr"/>
          <a:lstStyle/>
          <a:p>
            <a:pPr marL="0" indent="0">
              <a:buNone/>
            </a:pPr>
            <a:r>
              <a:rPr lang="en-US" sz="1500" dirty="0">
                <a:solidFill>
                  <a:srgbClr val="64748B"/>
                </a:solidFill>
              </a:rPr>
              <a:t>controller → receives requests / input</a:t>
            </a:r>
            <a:endParaRPr lang="en-US" sz="1500" dirty="0"/>
          </a:p>
        </p:txBody>
      </p:sp>
      <p:sp>
        <p:nvSpPr>
          <p:cNvPr id="9" name="Shape 7"/>
          <p:cNvSpPr/>
          <p:nvPr/>
        </p:nvSpPr>
        <p:spPr>
          <a:xfrm>
            <a:off x="8641080" y="2423160"/>
            <a:ext cx="0" cy="365760"/>
          </a:xfrm>
          <a:prstGeom prst="line">
            <a:avLst/>
          </a:prstGeom>
          <a:noFill/>
          <a:ln w="25400">
            <a:solidFill>
              <a:srgbClr val="64748B"/>
            </a:solidFill>
            <a:prstDash val="solid"/>
            <a:tailEnd type="triangle"/>
          </a:ln>
        </p:spPr>
      </p:sp>
      <p:sp>
        <p:nvSpPr>
          <p:cNvPr id="10" name="Shape 8"/>
          <p:cNvSpPr/>
          <p:nvPr/>
        </p:nvSpPr>
        <p:spPr>
          <a:xfrm>
            <a:off x="6537960" y="2788920"/>
            <a:ext cx="4206240" cy="548640"/>
          </a:xfrm>
          <a:prstGeom prst="roundRect">
            <a:avLst>
              <a:gd name="adj" fmla="val 8333"/>
            </a:avLst>
          </a:prstGeom>
          <a:solidFill>
            <a:srgbClr val="EEF7E8"/>
          </a:solidFill>
          <a:ln w="12700">
            <a:solidFill>
              <a:srgbClr val="A8D98E"/>
            </a:solidFill>
            <a:prstDash val="solid"/>
          </a:ln>
        </p:spPr>
      </p:sp>
      <p:sp>
        <p:nvSpPr>
          <p:cNvPr id="11" name="Text 9"/>
          <p:cNvSpPr/>
          <p:nvPr/>
        </p:nvSpPr>
        <p:spPr>
          <a:xfrm>
            <a:off x="6601968" y="2834640"/>
            <a:ext cx="4078224" cy="457200"/>
          </a:xfrm>
          <a:prstGeom prst="rect">
            <a:avLst/>
          </a:prstGeom>
          <a:noFill/>
          <a:ln/>
        </p:spPr>
        <p:txBody>
          <a:bodyPr wrap="square" lIns="254" tIns="254" rIns="254" bIns="254" rtlCol="0" anchor="ctr">
            <a:normAutofit/>
          </a:bodyPr>
          <a:lstStyle/>
          <a:p>
            <a:pPr marL="0" indent="0" algn="ctr">
              <a:buNone/>
            </a:pPr>
            <a:r>
              <a:rPr lang="en-US" sz="1700" b="1" dirty="0">
                <a:solidFill>
                  <a:srgbClr val="3E7D20"/>
                </a:solidFill>
                <a:latin typeface="Arial" pitchFamily="34" charset="0"/>
                <a:ea typeface="Arial" pitchFamily="34" charset="-122"/>
                <a:cs typeface="Arial" pitchFamily="34" charset="-120"/>
              </a:rPr>
              <a:t>Business Layer</a:t>
            </a:r>
            <a:endParaRPr lang="en-US" sz="1700" dirty="0"/>
          </a:p>
        </p:txBody>
      </p:sp>
      <p:sp>
        <p:nvSpPr>
          <p:cNvPr id="12" name="Text 10"/>
          <p:cNvSpPr/>
          <p:nvPr/>
        </p:nvSpPr>
        <p:spPr>
          <a:xfrm>
            <a:off x="6766560" y="3401568"/>
            <a:ext cx="3794760" cy="347472"/>
          </a:xfrm>
          <a:prstGeom prst="rect">
            <a:avLst/>
          </a:prstGeom>
          <a:noFill/>
          <a:ln/>
        </p:spPr>
        <p:txBody>
          <a:bodyPr wrap="square" lIns="0" tIns="0" rIns="0" bIns="0" rtlCol="0" anchor="ctr"/>
          <a:lstStyle/>
          <a:p>
            <a:pPr marL="0" indent="0">
              <a:buNone/>
            </a:pPr>
            <a:r>
              <a:rPr lang="en-US" sz="1500" dirty="0">
                <a:solidFill>
                  <a:srgbClr val="64748B"/>
                </a:solidFill>
              </a:rPr>
              <a:t>service → business rules and orchestration</a:t>
            </a:r>
            <a:endParaRPr lang="en-US" sz="1500" dirty="0"/>
          </a:p>
        </p:txBody>
      </p:sp>
      <p:sp>
        <p:nvSpPr>
          <p:cNvPr id="13" name="Shape 11"/>
          <p:cNvSpPr/>
          <p:nvPr/>
        </p:nvSpPr>
        <p:spPr>
          <a:xfrm>
            <a:off x="8641080" y="3794760"/>
            <a:ext cx="0" cy="365760"/>
          </a:xfrm>
          <a:prstGeom prst="line">
            <a:avLst/>
          </a:prstGeom>
          <a:noFill/>
          <a:ln w="25400">
            <a:solidFill>
              <a:srgbClr val="64748B"/>
            </a:solidFill>
            <a:prstDash val="solid"/>
            <a:tailEnd type="triangle"/>
          </a:ln>
        </p:spPr>
      </p:sp>
      <p:sp>
        <p:nvSpPr>
          <p:cNvPr id="14" name="Shape 12"/>
          <p:cNvSpPr/>
          <p:nvPr/>
        </p:nvSpPr>
        <p:spPr>
          <a:xfrm>
            <a:off x="6537960" y="4160520"/>
            <a:ext cx="4206240" cy="548640"/>
          </a:xfrm>
          <a:prstGeom prst="roundRect">
            <a:avLst>
              <a:gd name="adj" fmla="val 8333"/>
            </a:avLst>
          </a:prstGeom>
          <a:solidFill>
            <a:srgbClr val="E6F7F4"/>
          </a:solidFill>
          <a:ln w="12700">
            <a:solidFill>
              <a:srgbClr val="B9E8DF"/>
            </a:solidFill>
            <a:prstDash val="solid"/>
          </a:ln>
        </p:spPr>
      </p:sp>
      <p:sp>
        <p:nvSpPr>
          <p:cNvPr id="15" name="Text 13"/>
          <p:cNvSpPr/>
          <p:nvPr/>
        </p:nvSpPr>
        <p:spPr>
          <a:xfrm>
            <a:off x="6601968" y="4206240"/>
            <a:ext cx="4078224" cy="457200"/>
          </a:xfrm>
          <a:prstGeom prst="rect">
            <a:avLst/>
          </a:prstGeom>
          <a:noFill/>
          <a:ln/>
        </p:spPr>
        <p:txBody>
          <a:bodyPr wrap="square" lIns="254" tIns="254" rIns="254" bIns="254" rtlCol="0" anchor="ctr">
            <a:normAutofit/>
          </a:bodyPr>
          <a:lstStyle/>
          <a:p>
            <a:pPr marL="0" indent="0" algn="ctr">
              <a:buNone/>
            </a:pPr>
            <a:r>
              <a:rPr lang="en-US" sz="1700" b="1" dirty="0">
                <a:solidFill>
                  <a:srgbClr val="0F766E"/>
                </a:solidFill>
                <a:latin typeface="Arial" pitchFamily="34" charset="0"/>
                <a:ea typeface="Arial" pitchFamily="34" charset="-122"/>
                <a:cs typeface="Arial" pitchFamily="34" charset="-120"/>
              </a:rPr>
              <a:t>Persistence Layer</a:t>
            </a:r>
            <a:endParaRPr lang="en-US" sz="1700" dirty="0"/>
          </a:p>
        </p:txBody>
      </p:sp>
      <p:sp>
        <p:nvSpPr>
          <p:cNvPr id="16" name="Text 14"/>
          <p:cNvSpPr/>
          <p:nvPr/>
        </p:nvSpPr>
        <p:spPr>
          <a:xfrm>
            <a:off x="6766560" y="4773168"/>
            <a:ext cx="3794760" cy="347472"/>
          </a:xfrm>
          <a:prstGeom prst="rect">
            <a:avLst/>
          </a:prstGeom>
          <a:noFill/>
          <a:ln/>
        </p:spPr>
        <p:txBody>
          <a:bodyPr wrap="square" lIns="0" tIns="0" rIns="0" bIns="0" rtlCol="0" anchor="ctr"/>
          <a:lstStyle/>
          <a:p>
            <a:pPr marL="0" indent="0">
              <a:buNone/>
            </a:pPr>
            <a:r>
              <a:rPr lang="en-US" sz="1500" dirty="0">
                <a:solidFill>
                  <a:srgbClr val="64748B"/>
                </a:solidFill>
              </a:rPr>
              <a:t>repository → database access</a:t>
            </a:r>
            <a:endParaRPr lang="en-US" sz="1500" dirty="0"/>
          </a:p>
        </p:txBody>
      </p:sp>
      <p:sp>
        <p:nvSpPr>
          <p:cNvPr id="25" name="Slide Number Placeholder 0"/>
          <p:cNvSpPr>
            <a:spLocks noGrp="1"/>
          </p:cNvSpPr>
          <p:nvPr>
            <p:ph type="sldNum" sz="quarter" idx="4294967295"/>
          </p:nvPr>
        </p:nvSpPr>
        <p:spPr>
          <a:xfrm>
            <a:off x="11384280" y="6473952"/>
            <a:ext cx="384048"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latin typeface="Arial"/>
                <a:ea typeface="Arial"/>
                <a:cs typeface="Aria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310896"/>
            <a:ext cx="11064240" cy="475488"/>
          </a:xfrm>
          <a:prstGeom prst="rect">
            <a:avLst/>
          </a:prstGeom>
          <a:noFill/>
          <a:ln/>
        </p:spPr>
        <p:txBody>
          <a:bodyPr wrap="square" lIns="0" tIns="0" rIns="0" bIns="0" rtlCol="0" anchor="ctr">
            <a:normAutofit/>
          </a:bodyPr>
          <a:lstStyle/>
          <a:p>
            <a:pPr marL="0" indent="0">
              <a:buNone/>
            </a:pPr>
            <a:r>
              <a:rPr lang="en-US" sz="2700" b="1" dirty="0">
                <a:solidFill>
                  <a:srgbClr val="1F2937"/>
                </a:solidFill>
                <a:latin typeface="Arial" pitchFamily="34" charset="0"/>
                <a:ea typeface="Arial" pitchFamily="34" charset="-122"/>
                <a:cs typeface="Arial" pitchFamily="34" charset="-120"/>
              </a:rPr>
              <a:t>Request flow mapped directly to folders</a:t>
            </a:r>
            <a:endParaRPr lang="en-US" sz="2700" dirty="0"/>
          </a:p>
        </p:txBody>
      </p:sp>
      <p:sp>
        <p:nvSpPr>
          <p:cNvPr id="3" name="Text 1"/>
          <p:cNvSpPr/>
          <p:nvPr/>
        </p:nvSpPr>
        <p:spPr>
          <a:xfrm>
            <a:off x="530352" y="804672"/>
            <a:ext cx="10881360" cy="310896"/>
          </a:xfrm>
          <a:prstGeom prst="rect">
            <a:avLst/>
          </a:prstGeom>
          <a:noFill/>
          <a:ln/>
        </p:spPr>
        <p:txBody>
          <a:bodyPr wrap="square" lIns="0" tIns="0" rIns="0" bIns="0" rtlCol="0" anchor="ctr">
            <a:normAutofit/>
          </a:bodyPr>
          <a:lstStyle/>
          <a:p>
            <a:pPr marL="0" indent="0">
              <a:buNone/>
            </a:pPr>
            <a:r>
              <a:rPr lang="en-US" sz="1250" dirty="0">
                <a:solidFill>
                  <a:srgbClr val="64748B"/>
                </a:solidFill>
                <a:latin typeface="Arial" pitchFamily="34" charset="0"/>
                <a:ea typeface="Arial" pitchFamily="34" charset="-122"/>
                <a:cs typeface="Arial" pitchFamily="34" charset="-120"/>
              </a:rPr>
              <a:t>This is the easiest way to remember why each folder exists</a:t>
            </a:r>
            <a:endParaRPr lang="en-US" sz="1250" dirty="0"/>
          </a:p>
        </p:txBody>
      </p:sp>
      <p:sp>
        <p:nvSpPr>
          <p:cNvPr id="4" name="Shape 2"/>
          <p:cNvSpPr/>
          <p:nvPr/>
        </p:nvSpPr>
        <p:spPr>
          <a:xfrm>
            <a:off x="685800" y="2011680"/>
            <a:ext cx="1737360" cy="530352"/>
          </a:xfrm>
          <a:prstGeom prst="roundRect">
            <a:avLst>
              <a:gd name="adj" fmla="val 8621"/>
            </a:avLst>
          </a:prstGeom>
          <a:solidFill>
            <a:srgbClr val="EAF2FF"/>
          </a:solidFill>
          <a:ln w="12700">
            <a:solidFill>
              <a:srgbClr val="D1D5DB"/>
            </a:solidFill>
            <a:prstDash val="solid"/>
          </a:ln>
        </p:spPr>
      </p:sp>
      <p:sp>
        <p:nvSpPr>
          <p:cNvPr id="5" name="Text 3"/>
          <p:cNvSpPr/>
          <p:nvPr/>
        </p:nvSpPr>
        <p:spPr>
          <a:xfrm>
            <a:off x="749808" y="2057400"/>
            <a:ext cx="1609344" cy="438912"/>
          </a:xfrm>
          <a:prstGeom prst="rect">
            <a:avLst/>
          </a:prstGeom>
          <a:noFill/>
          <a:ln/>
        </p:spPr>
        <p:txBody>
          <a:bodyPr wrap="square" lIns="254" tIns="254" rIns="254" bIns="254" rtlCol="0" anchor="ctr">
            <a:normAutofit/>
          </a:bodyPr>
          <a:lstStyle/>
          <a:p>
            <a:pPr marL="0" indent="0" algn="ctr">
              <a:buNone/>
            </a:pPr>
            <a:r>
              <a:rPr lang="en-US" sz="1330" b="1" dirty="0">
                <a:solidFill>
                  <a:srgbClr val="2563EB"/>
                </a:solidFill>
                <a:latin typeface="Arial" pitchFamily="34" charset="0"/>
                <a:ea typeface="Arial" pitchFamily="34" charset="-122"/>
                <a:cs typeface="Arial" pitchFamily="34" charset="-120"/>
              </a:rPr>
              <a:t>HTTP Request</a:t>
            </a:r>
            <a:endParaRPr lang="en-US" sz="1330" dirty="0"/>
          </a:p>
        </p:txBody>
      </p:sp>
      <p:sp>
        <p:nvSpPr>
          <p:cNvPr id="6" name="Text 4"/>
          <p:cNvSpPr/>
          <p:nvPr/>
        </p:nvSpPr>
        <p:spPr>
          <a:xfrm>
            <a:off x="640080" y="2697480"/>
            <a:ext cx="1828800" cy="603504"/>
          </a:xfrm>
          <a:prstGeom prst="rect">
            <a:avLst/>
          </a:prstGeom>
          <a:noFill/>
          <a:ln/>
        </p:spPr>
        <p:txBody>
          <a:bodyPr wrap="square" lIns="0" tIns="0" rIns="0" bIns="0" rtlCol="0" anchor="ctr">
            <a:normAutofit/>
          </a:bodyPr>
          <a:lstStyle/>
          <a:p>
            <a:pPr marL="0" indent="0" algn="ctr">
              <a:buNone/>
            </a:pPr>
            <a:r>
              <a:rPr lang="en-US" sz="1320" dirty="0">
                <a:solidFill>
                  <a:srgbClr val="64748B"/>
                </a:solidFill>
              </a:rPr>
              <a:t>/employees/101</a:t>
            </a:r>
            <a:endParaRPr lang="en-US" sz="1320" dirty="0"/>
          </a:p>
        </p:txBody>
      </p:sp>
      <p:sp>
        <p:nvSpPr>
          <p:cNvPr id="7" name="Shape 5"/>
          <p:cNvSpPr/>
          <p:nvPr/>
        </p:nvSpPr>
        <p:spPr>
          <a:xfrm>
            <a:off x="2441448" y="2267712"/>
            <a:ext cx="274320" cy="0"/>
          </a:xfrm>
          <a:prstGeom prst="line">
            <a:avLst/>
          </a:prstGeom>
          <a:noFill/>
          <a:ln w="22860">
            <a:solidFill>
              <a:srgbClr val="64748B"/>
            </a:solidFill>
            <a:prstDash val="solid"/>
            <a:tailEnd type="triangle"/>
          </a:ln>
        </p:spPr>
      </p:sp>
      <p:sp>
        <p:nvSpPr>
          <p:cNvPr id="8" name="Shape 6"/>
          <p:cNvSpPr/>
          <p:nvPr/>
        </p:nvSpPr>
        <p:spPr>
          <a:xfrm>
            <a:off x="2514600" y="2011680"/>
            <a:ext cx="1737360" cy="530352"/>
          </a:xfrm>
          <a:prstGeom prst="roundRect">
            <a:avLst>
              <a:gd name="adj" fmla="val 8621"/>
            </a:avLst>
          </a:prstGeom>
          <a:solidFill>
            <a:srgbClr val="EAF2FF"/>
          </a:solidFill>
          <a:ln w="12700">
            <a:solidFill>
              <a:srgbClr val="D1D5DB"/>
            </a:solidFill>
            <a:prstDash val="solid"/>
          </a:ln>
        </p:spPr>
      </p:sp>
      <p:sp>
        <p:nvSpPr>
          <p:cNvPr id="9" name="Text 7"/>
          <p:cNvSpPr/>
          <p:nvPr/>
        </p:nvSpPr>
        <p:spPr>
          <a:xfrm>
            <a:off x="2578608" y="2057400"/>
            <a:ext cx="1609344" cy="438912"/>
          </a:xfrm>
          <a:prstGeom prst="rect">
            <a:avLst/>
          </a:prstGeom>
          <a:noFill/>
          <a:ln/>
        </p:spPr>
        <p:txBody>
          <a:bodyPr wrap="square" lIns="254" tIns="254" rIns="254" bIns="254" rtlCol="0" anchor="ctr">
            <a:normAutofit/>
          </a:bodyPr>
          <a:lstStyle/>
          <a:p>
            <a:pPr marL="0" indent="0" algn="ctr">
              <a:buNone/>
            </a:pPr>
            <a:r>
              <a:rPr lang="en-US" sz="1330" b="1" dirty="0">
                <a:solidFill>
                  <a:srgbClr val="2563EB"/>
                </a:solidFill>
                <a:latin typeface="Arial" pitchFamily="34" charset="0"/>
                <a:ea typeface="Arial" pitchFamily="34" charset="-122"/>
                <a:cs typeface="Arial" pitchFamily="34" charset="-120"/>
              </a:rPr>
              <a:t>controller/</a:t>
            </a:r>
            <a:endParaRPr lang="en-US" sz="1330" dirty="0"/>
          </a:p>
        </p:txBody>
      </p:sp>
      <p:sp>
        <p:nvSpPr>
          <p:cNvPr id="10" name="Text 8"/>
          <p:cNvSpPr/>
          <p:nvPr/>
        </p:nvSpPr>
        <p:spPr>
          <a:xfrm>
            <a:off x="2468880" y="2697480"/>
            <a:ext cx="1828800" cy="603504"/>
          </a:xfrm>
          <a:prstGeom prst="rect">
            <a:avLst/>
          </a:prstGeom>
          <a:noFill/>
          <a:ln/>
        </p:spPr>
        <p:txBody>
          <a:bodyPr wrap="square" lIns="0" tIns="0" rIns="0" bIns="0" rtlCol="0" anchor="ctr">
            <a:normAutofit/>
          </a:bodyPr>
          <a:lstStyle/>
          <a:p>
            <a:pPr marL="0" indent="0" algn="ctr">
              <a:buNone/>
            </a:pPr>
            <a:r>
              <a:rPr lang="en-US" sz="1320" dirty="0">
                <a:solidFill>
                  <a:srgbClr val="64748B"/>
                </a:solidFill>
              </a:rPr>
              <a:t>EmployeeController.java</a:t>
            </a:r>
            <a:endParaRPr lang="en-US" sz="1320" dirty="0"/>
          </a:p>
        </p:txBody>
      </p:sp>
      <p:sp>
        <p:nvSpPr>
          <p:cNvPr id="11" name="Shape 9"/>
          <p:cNvSpPr/>
          <p:nvPr/>
        </p:nvSpPr>
        <p:spPr>
          <a:xfrm>
            <a:off x="4270248" y="2267712"/>
            <a:ext cx="274320" cy="0"/>
          </a:xfrm>
          <a:prstGeom prst="line">
            <a:avLst/>
          </a:prstGeom>
          <a:noFill/>
          <a:ln w="22860">
            <a:solidFill>
              <a:srgbClr val="64748B"/>
            </a:solidFill>
            <a:prstDash val="solid"/>
            <a:tailEnd type="triangle"/>
          </a:ln>
        </p:spPr>
      </p:sp>
      <p:sp>
        <p:nvSpPr>
          <p:cNvPr id="12" name="Shape 10"/>
          <p:cNvSpPr/>
          <p:nvPr/>
        </p:nvSpPr>
        <p:spPr>
          <a:xfrm>
            <a:off x="4617720" y="2011680"/>
            <a:ext cx="1737360" cy="530352"/>
          </a:xfrm>
          <a:prstGeom prst="roundRect">
            <a:avLst>
              <a:gd name="adj" fmla="val 8621"/>
            </a:avLst>
          </a:prstGeom>
          <a:solidFill>
            <a:srgbClr val="EEF7E8"/>
          </a:solidFill>
          <a:ln w="12700">
            <a:solidFill>
              <a:srgbClr val="D1D5DB"/>
            </a:solidFill>
            <a:prstDash val="solid"/>
          </a:ln>
        </p:spPr>
      </p:sp>
      <p:sp>
        <p:nvSpPr>
          <p:cNvPr id="13" name="Text 11"/>
          <p:cNvSpPr/>
          <p:nvPr/>
        </p:nvSpPr>
        <p:spPr>
          <a:xfrm>
            <a:off x="4681728" y="2057400"/>
            <a:ext cx="1609344" cy="438912"/>
          </a:xfrm>
          <a:prstGeom prst="rect">
            <a:avLst/>
          </a:prstGeom>
          <a:noFill/>
          <a:ln/>
        </p:spPr>
        <p:txBody>
          <a:bodyPr wrap="square" lIns="254" tIns="254" rIns="254" bIns="254" rtlCol="0" anchor="ctr">
            <a:normAutofit/>
          </a:bodyPr>
          <a:lstStyle/>
          <a:p>
            <a:pPr marL="0" indent="0" algn="ctr">
              <a:buNone/>
            </a:pPr>
            <a:r>
              <a:rPr lang="en-US" sz="1330" b="1" dirty="0">
                <a:solidFill>
                  <a:srgbClr val="3E7D20"/>
                </a:solidFill>
                <a:latin typeface="Arial" pitchFamily="34" charset="0"/>
                <a:ea typeface="Arial" pitchFamily="34" charset="-122"/>
                <a:cs typeface="Arial" pitchFamily="34" charset="-120"/>
              </a:rPr>
              <a:t>service/</a:t>
            </a:r>
            <a:endParaRPr lang="en-US" sz="1330" dirty="0"/>
          </a:p>
        </p:txBody>
      </p:sp>
      <p:sp>
        <p:nvSpPr>
          <p:cNvPr id="14" name="Text 12"/>
          <p:cNvSpPr/>
          <p:nvPr/>
        </p:nvSpPr>
        <p:spPr>
          <a:xfrm>
            <a:off x="4572000" y="2697480"/>
            <a:ext cx="1828800" cy="603504"/>
          </a:xfrm>
          <a:prstGeom prst="rect">
            <a:avLst/>
          </a:prstGeom>
          <a:noFill/>
          <a:ln/>
        </p:spPr>
        <p:txBody>
          <a:bodyPr wrap="square" lIns="0" tIns="0" rIns="0" bIns="0" rtlCol="0" anchor="ctr">
            <a:normAutofit/>
          </a:bodyPr>
          <a:lstStyle/>
          <a:p>
            <a:pPr marL="0" indent="0" algn="ctr">
              <a:buNone/>
            </a:pPr>
            <a:r>
              <a:rPr lang="en-US" sz="1320" dirty="0">
                <a:solidFill>
                  <a:srgbClr val="64748B"/>
                </a:solidFill>
              </a:rPr>
              <a:t>EmployeeService.java</a:t>
            </a:r>
            <a:endParaRPr lang="en-US" sz="1320" dirty="0"/>
          </a:p>
        </p:txBody>
      </p:sp>
      <p:sp>
        <p:nvSpPr>
          <p:cNvPr id="15" name="Shape 13"/>
          <p:cNvSpPr/>
          <p:nvPr/>
        </p:nvSpPr>
        <p:spPr>
          <a:xfrm>
            <a:off x="6373368" y="2267712"/>
            <a:ext cx="274320" cy="0"/>
          </a:xfrm>
          <a:prstGeom prst="line">
            <a:avLst/>
          </a:prstGeom>
          <a:noFill/>
          <a:ln w="22860">
            <a:solidFill>
              <a:srgbClr val="64748B"/>
            </a:solidFill>
            <a:prstDash val="solid"/>
            <a:tailEnd type="triangle"/>
          </a:ln>
        </p:spPr>
      </p:sp>
      <p:sp>
        <p:nvSpPr>
          <p:cNvPr id="16" name="Shape 14"/>
          <p:cNvSpPr/>
          <p:nvPr/>
        </p:nvSpPr>
        <p:spPr>
          <a:xfrm>
            <a:off x="6720840" y="2011680"/>
            <a:ext cx="1737360" cy="530352"/>
          </a:xfrm>
          <a:prstGeom prst="roundRect">
            <a:avLst>
              <a:gd name="adj" fmla="val 8621"/>
            </a:avLst>
          </a:prstGeom>
          <a:solidFill>
            <a:srgbClr val="E6F7F4"/>
          </a:solidFill>
          <a:ln w="12700">
            <a:solidFill>
              <a:srgbClr val="D1D5DB"/>
            </a:solidFill>
            <a:prstDash val="solid"/>
          </a:ln>
        </p:spPr>
      </p:sp>
      <p:sp>
        <p:nvSpPr>
          <p:cNvPr id="17" name="Text 15"/>
          <p:cNvSpPr/>
          <p:nvPr/>
        </p:nvSpPr>
        <p:spPr>
          <a:xfrm>
            <a:off x="6784848" y="2057400"/>
            <a:ext cx="1609344" cy="438912"/>
          </a:xfrm>
          <a:prstGeom prst="rect">
            <a:avLst/>
          </a:prstGeom>
          <a:noFill/>
          <a:ln/>
        </p:spPr>
        <p:txBody>
          <a:bodyPr wrap="square" lIns="254" tIns="254" rIns="254" bIns="254" rtlCol="0" anchor="ctr">
            <a:normAutofit/>
          </a:bodyPr>
          <a:lstStyle/>
          <a:p>
            <a:pPr marL="0" indent="0" algn="ctr">
              <a:buNone/>
            </a:pPr>
            <a:r>
              <a:rPr lang="en-US" sz="1330" b="1" dirty="0">
                <a:solidFill>
                  <a:srgbClr val="0F766E"/>
                </a:solidFill>
                <a:latin typeface="Arial" pitchFamily="34" charset="0"/>
                <a:ea typeface="Arial" pitchFamily="34" charset="-122"/>
                <a:cs typeface="Arial" pitchFamily="34" charset="-120"/>
              </a:rPr>
              <a:t>repository/</a:t>
            </a:r>
            <a:endParaRPr lang="en-US" sz="1330" dirty="0"/>
          </a:p>
        </p:txBody>
      </p:sp>
      <p:sp>
        <p:nvSpPr>
          <p:cNvPr id="18" name="Text 16"/>
          <p:cNvSpPr/>
          <p:nvPr/>
        </p:nvSpPr>
        <p:spPr>
          <a:xfrm>
            <a:off x="6675120" y="2697480"/>
            <a:ext cx="1828800" cy="603504"/>
          </a:xfrm>
          <a:prstGeom prst="rect">
            <a:avLst/>
          </a:prstGeom>
          <a:noFill/>
          <a:ln/>
        </p:spPr>
        <p:txBody>
          <a:bodyPr wrap="square" lIns="0" tIns="0" rIns="0" bIns="0" rtlCol="0" anchor="ctr">
            <a:normAutofit/>
          </a:bodyPr>
          <a:lstStyle/>
          <a:p>
            <a:pPr marL="0" indent="0" algn="ctr">
              <a:buNone/>
            </a:pPr>
            <a:r>
              <a:rPr lang="en-US" sz="1320" dirty="0">
                <a:solidFill>
                  <a:srgbClr val="64748B"/>
                </a:solidFill>
              </a:rPr>
              <a:t>EmployeeRepository.java</a:t>
            </a:r>
            <a:endParaRPr lang="en-US" sz="1320" dirty="0"/>
          </a:p>
        </p:txBody>
      </p:sp>
      <p:sp>
        <p:nvSpPr>
          <p:cNvPr id="19" name="Shape 17"/>
          <p:cNvSpPr/>
          <p:nvPr/>
        </p:nvSpPr>
        <p:spPr>
          <a:xfrm>
            <a:off x="8476488" y="2267712"/>
            <a:ext cx="274320" cy="0"/>
          </a:xfrm>
          <a:prstGeom prst="line">
            <a:avLst/>
          </a:prstGeom>
          <a:noFill/>
          <a:ln w="22860">
            <a:solidFill>
              <a:srgbClr val="64748B"/>
            </a:solidFill>
            <a:prstDash val="solid"/>
            <a:tailEnd type="triangle"/>
          </a:ln>
        </p:spPr>
      </p:sp>
      <p:sp>
        <p:nvSpPr>
          <p:cNvPr id="20" name="Shape 18"/>
          <p:cNvSpPr/>
          <p:nvPr/>
        </p:nvSpPr>
        <p:spPr>
          <a:xfrm>
            <a:off x="8823960" y="2011680"/>
            <a:ext cx="1737360" cy="530352"/>
          </a:xfrm>
          <a:prstGeom prst="roundRect">
            <a:avLst>
              <a:gd name="adj" fmla="val 8621"/>
            </a:avLst>
          </a:prstGeom>
          <a:solidFill>
            <a:srgbClr val="FFF4DB"/>
          </a:solidFill>
          <a:ln w="12700">
            <a:solidFill>
              <a:srgbClr val="D1D5DB"/>
            </a:solidFill>
            <a:prstDash val="solid"/>
          </a:ln>
        </p:spPr>
      </p:sp>
      <p:sp>
        <p:nvSpPr>
          <p:cNvPr id="21" name="Text 19"/>
          <p:cNvSpPr/>
          <p:nvPr/>
        </p:nvSpPr>
        <p:spPr>
          <a:xfrm>
            <a:off x="8887968" y="2057400"/>
            <a:ext cx="1609344" cy="438912"/>
          </a:xfrm>
          <a:prstGeom prst="rect">
            <a:avLst/>
          </a:prstGeom>
          <a:noFill/>
          <a:ln/>
        </p:spPr>
        <p:txBody>
          <a:bodyPr wrap="square" lIns="254" tIns="254" rIns="254" bIns="254" rtlCol="0" anchor="ctr">
            <a:normAutofit/>
          </a:bodyPr>
          <a:lstStyle/>
          <a:p>
            <a:pPr marL="0" indent="0" algn="ctr">
              <a:buNone/>
            </a:pPr>
            <a:r>
              <a:rPr lang="en-US" sz="1330" b="1" dirty="0">
                <a:solidFill>
                  <a:srgbClr val="A16207"/>
                </a:solidFill>
                <a:latin typeface="Arial" pitchFamily="34" charset="0"/>
                <a:ea typeface="Arial" pitchFamily="34" charset="-122"/>
                <a:cs typeface="Arial" pitchFamily="34" charset="-120"/>
              </a:rPr>
              <a:t>database</a:t>
            </a:r>
            <a:endParaRPr lang="en-US" sz="1330" dirty="0"/>
          </a:p>
        </p:txBody>
      </p:sp>
      <p:sp>
        <p:nvSpPr>
          <p:cNvPr id="22" name="Text 20"/>
          <p:cNvSpPr/>
          <p:nvPr/>
        </p:nvSpPr>
        <p:spPr>
          <a:xfrm>
            <a:off x="8778240" y="2697480"/>
            <a:ext cx="1828800" cy="603504"/>
          </a:xfrm>
          <a:prstGeom prst="rect">
            <a:avLst/>
          </a:prstGeom>
          <a:noFill/>
          <a:ln/>
        </p:spPr>
        <p:txBody>
          <a:bodyPr wrap="square" lIns="0" tIns="0" rIns="0" bIns="0" rtlCol="0" anchor="ctr">
            <a:normAutofit/>
          </a:bodyPr>
          <a:lstStyle/>
          <a:p>
            <a:pPr marL="0" indent="0" algn="ctr">
              <a:buNone/>
            </a:pPr>
            <a:r>
              <a:rPr lang="en-US" sz="1320" dirty="0">
                <a:solidFill>
                  <a:srgbClr val="64748B"/>
                </a:solidFill>
              </a:rPr>
              <a:t>employees table</a:t>
            </a:r>
            <a:endParaRPr lang="en-US" sz="1320" dirty="0"/>
          </a:p>
        </p:txBody>
      </p:sp>
      <p:sp>
        <p:nvSpPr>
          <p:cNvPr id="23" name="Text 21"/>
          <p:cNvSpPr/>
          <p:nvPr/>
        </p:nvSpPr>
        <p:spPr>
          <a:xfrm>
            <a:off x="3566160" y="3886200"/>
            <a:ext cx="2286000" cy="329184"/>
          </a:xfrm>
          <a:prstGeom prst="rect">
            <a:avLst/>
          </a:prstGeom>
          <a:noFill/>
          <a:ln/>
        </p:spPr>
        <p:txBody>
          <a:bodyPr wrap="square" lIns="0" tIns="0" rIns="0" bIns="0" rtlCol="0" anchor="ctr"/>
          <a:lstStyle/>
          <a:p>
            <a:pPr marL="0" indent="0" algn="ctr">
              <a:buNone/>
            </a:pPr>
            <a:r>
              <a:rPr lang="en-US" sz="1500" b="1" dirty="0">
                <a:solidFill>
                  <a:srgbClr val="1F2937"/>
                </a:solidFill>
              </a:rPr>
              <a:t>Where is the business rule?</a:t>
            </a:r>
            <a:endParaRPr lang="en-US" sz="1500" dirty="0"/>
          </a:p>
        </p:txBody>
      </p:sp>
      <p:sp>
        <p:nvSpPr>
          <p:cNvPr id="24" name="Shape 22"/>
          <p:cNvSpPr/>
          <p:nvPr/>
        </p:nvSpPr>
        <p:spPr>
          <a:xfrm>
            <a:off x="4663440" y="4224528"/>
            <a:ext cx="731520" cy="0"/>
          </a:xfrm>
          <a:prstGeom prst="line">
            <a:avLst/>
          </a:prstGeom>
          <a:noFill/>
          <a:ln w="25400">
            <a:solidFill>
              <a:srgbClr val="6DB33F"/>
            </a:solidFill>
            <a:prstDash val="solid"/>
            <a:tailEnd type="triangle"/>
          </a:ln>
        </p:spPr>
      </p:sp>
      <p:sp>
        <p:nvSpPr>
          <p:cNvPr id="25" name="Text 23"/>
          <p:cNvSpPr/>
          <p:nvPr/>
        </p:nvSpPr>
        <p:spPr>
          <a:xfrm>
            <a:off x="6675120" y="3886200"/>
            <a:ext cx="2560320" cy="329184"/>
          </a:xfrm>
          <a:prstGeom prst="rect">
            <a:avLst/>
          </a:prstGeom>
          <a:noFill/>
          <a:ln/>
        </p:spPr>
        <p:txBody>
          <a:bodyPr wrap="square" lIns="0" tIns="0" rIns="0" bIns="0" rtlCol="0" anchor="ctr"/>
          <a:lstStyle/>
          <a:p>
            <a:pPr marL="0" indent="0" algn="ctr">
              <a:buNone/>
            </a:pPr>
            <a:r>
              <a:rPr lang="en-US" sz="1500" b="1" dirty="0">
                <a:solidFill>
                  <a:srgbClr val="1F2937"/>
                </a:solidFill>
              </a:rPr>
              <a:t>Where is SQL / persistence access?</a:t>
            </a:r>
            <a:endParaRPr lang="en-US" sz="1500" dirty="0"/>
          </a:p>
        </p:txBody>
      </p:sp>
      <p:sp>
        <p:nvSpPr>
          <p:cNvPr id="26" name="Shape 24"/>
          <p:cNvSpPr/>
          <p:nvPr/>
        </p:nvSpPr>
        <p:spPr>
          <a:xfrm>
            <a:off x="7909560" y="4224528"/>
            <a:ext cx="0" cy="0"/>
          </a:xfrm>
          <a:prstGeom prst="line">
            <a:avLst/>
          </a:prstGeom>
          <a:noFill/>
          <a:ln w="25400">
            <a:solidFill>
              <a:srgbClr val="0F766E"/>
            </a:solidFill>
            <a:prstDash val="solid"/>
            <a:tailEnd type="triangle"/>
          </a:ln>
        </p:spPr>
      </p:sp>
      <p:sp>
        <p:nvSpPr>
          <p:cNvPr id="27" name="Text 25"/>
          <p:cNvSpPr/>
          <p:nvPr/>
        </p:nvSpPr>
        <p:spPr>
          <a:xfrm>
            <a:off x="1645920" y="3886200"/>
            <a:ext cx="2194560" cy="329184"/>
          </a:xfrm>
          <a:prstGeom prst="rect">
            <a:avLst/>
          </a:prstGeom>
          <a:noFill/>
          <a:ln/>
        </p:spPr>
        <p:txBody>
          <a:bodyPr wrap="square" lIns="0" tIns="0" rIns="0" bIns="0" rtlCol="0" anchor="ctr"/>
          <a:lstStyle/>
          <a:p>
            <a:pPr marL="0" indent="0" algn="ctr">
              <a:buNone/>
            </a:pPr>
            <a:r>
              <a:rPr lang="en-US" sz="1500" b="1" dirty="0">
                <a:solidFill>
                  <a:srgbClr val="1F2937"/>
                </a:solidFill>
              </a:rPr>
              <a:t>Where is HTTP mapping?</a:t>
            </a:r>
            <a:endParaRPr lang="en-US" sz="1500" dirty="0"/>
          </a:p>
        </p:txBody>
      </p:sp>
      <p:sp>
        <p:nvSpPr>
          <p:cNvPr id="28" name="Shape 26"/>
          <p:cNvSpPr/>
          <p:nvPr/>
        </p:nvSpPr>
        <p:spPr>
          <a:xfrm>
            <a:off x="2743200" y="4224528"/>
            <a:ext cx="566928" cy="0"/>
          </a:xfrm>
          <a:prstGeom prst="line">
            <a:avLst/>
          </a:prstGeom>
          <a:noFill/>
          <a:ln w="25400">
            <a:solidFill>
              <a:srgbClr val="2563EB"/>
            </a:solidFill>
            <a:prstDash val="solid"/>
            <a:tailEnd type="triangle"/>
          </a:ln>
        </p:spPr>
      </p:sp>
      <p:sp>
        <p:nvSpPr>
          <p:cNvPr id="29" name="Text 27"/>
          <p:cNvSpPr/>
          <p:nvPr/>
        </p:nvSpPr>
        <p:spPr>
          <a:xfrm>
            <a:off x="1691640" y="5120640"/>
            <a:ext cx="9052560" cy="502920"/>
          </a:xfrm>
          <a:prstGeom prst="rect">
            <a:avLst/>
          </a:prstGeom>
          <a:noFill/>
          <a:ln/>
        </p:spPr>
        <p:txBody>
          <a:bodyPr wrap="square" lIns="0" tIns="0" rIns="0" bIns="0" rtlCol="0" anchor="ctr">
            <a:normAutofit/>
          </a:bodyPr>
          <a:lstStyle/>
          <a:p>
            <a:pPr marL="0" indent="0" algn="ctr">
              <a:buNone/>
            </a:pPr>
            <a:r>
              <a:rPr lang="en-US" sz="1700" b="1" dirty="0">
                <a:solidFill>
                  <a:srgbClr val="3E7D20"/>
                </a:solidFill>
              </a:rPr>
              <a:t>Think “one responsibility per layer.” That keeps code easier to test, change and explain.</a:t>
            </a:r>
            <a:endParaRPr lang="en-US" sz="1700" dirty="0"/>
          </a:p>
        </p:txBody>
      </p:sp>
      <p:sp>
        <p:nvSpPr>
          <p:cNvPr id="30" name="Slide Number Placeholder 0"/>
          <p:cNvSpPr>
            <a:spLocks noGrp="1"/>
          </p:cNvSpPr>
          <p:nvPr>
            <p:ph type="sldNum" sz="quarter" idx="4294967295"/>
          </p:nvPr>
        </p:nvSpPr>
        <p:spPr>
          <a:xfrm>
            <a:off x="11384280" y="6473952"/>
            <a:ext cx="384048"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latin typeface="Arial"/>
                <a:ea typeface="Arial"/>
                <a:cs typeface="Aria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02920" y="310896"/>
            <a:ext cx="11064240" cy="475488"/>
          </a:xfrm>
          <a:prstGeom prst="rect">
            <a:avLst/>
          </a:prstGeom>
          <a:noFill/>
          <a:ln/>
        </p:spPr>
        <p:txBody>
          <a:bodyPr wrap="square" lIns="0" tIns="0" rIns="0" bIns="0" rtlCol="0" anchor="ctr">
            <a:normAutofit/>
          </a:bodyPr>
          <a:lstStyle/>
          <a:p>
            <a:pPr marL="0" indent="0">
              <a:buNone/>
            </a:pPr>
            <a:r>
              <a:rPr lang="en-US" sz="2700" b="1" dirty="0">
                <a:solidFill>
                  <a:srgbClr val="1F2937"/>
                </a:solidFill>
                <a:latin typeface="Arial" pitchFamily="34" charset="0"/>
                <a:ea typeface="Arial" pitchFamily="34" charset="-122"/>
                <a:cs typeface="Arial" pitchFamily="34" charset="-120"/>
              </a:rPr>
              <a:t>Spring Boot in one architecture picture</a:t>
            </a:r>
            <a:endParaRPr lang="en-US" sz="2700" dirty="0"/>
          </a:p>
        </p:txBody>
      </p:sp>
      <p:sp>
        <p:nvSpPr>
          <p:cNvPr id="3" name="Text 1"/>
          <p:cNvSpPr/>
          <p:nvPr/>
        </p:nvSpPr>
        <p:spPr>
          <a:xfrm>
            <a:off x="530352" y="804672"/>
            <a:ext cx="10881360" cy="310896"/>
          </a:xfrm>
          <a:prstGeom prst="rect">
            <a:avLst/>
          </a:prstGeom>
          <a:noFill/>
          <a:ln/>
        </p:spPr>
        <p:txBody>
          <a:bodyPr wrap="square" lIns="0" tIns="0" rIns="0" bIns="0" rtlCol="0" anchor="ctr">
            <a:normAutofit/>
          </a:bodyPr>
          <a:lstStyle/>
          <a:p>
            <a:pPr marL="0" indent="0">
              <a:buNone/>
            </a:pPr>
            <a:r>
              <a:rPr lang="en-US" sz="1250" dirty="0">
                <a:solidFill>
                  <a:srgbClr val="64748B"/>
                </a:solidFill>
                <a:latin typeface="Arial" pitchFamily="34" charset="0"/>
                <a:ea typeface="Arial" pitchFamily="34" charset="-122"/>
                <a:cs typeface="Arial" pitchFamily="34" charset="-120"/>
              </a:rPr>
              <a:t>Boot wraps common setup around the same Spring Framework foundation</a:t>
            </a:r>
            <a:endParaRPr lang="en-US" sz="1250" dirty="0"/>
          </a:p>
        </p:txBody>
      </p:sp>
      <p:sp>
        <p:nvSpPr>
          <p:cNvPr id="4" name="Shape 2"/>
          <p:cNvSpPr/>
          <p:nvPr/>
        </p:nvSpPr>
        <p:spPr>
          <a:xfrm>
            <a:off x="822960" y="2240280"/>
            <a:ext cx="1828800" cy="685800"/>
          </a:xfrm>
          <a:prstGeom prst="roundRect">
            <a:avLst>
              <a:gd name="adj" fmla="val 6667"/>
            </a:avLst>
          </a:prstGeom>
          <a:solidFill>
            <a:srgbClr val="FFFFFF"/>
          </a:solidFill>
          <a:ln w="12700">
            <a:solidFill>
              <a:srgbClr val="CBD5E1"/>
            </a:solidFill>
            <a:prstDash val="solid"/>
          </a:ln>
        </p:spPr>
      </p:sp>
      <p:sp>
        <p:nvSpPr>
          <p:cNvPr id="5" name="Text 3"/>
          <p:cNvSpPr/>
          <p:nvPr/>
        </p:nvSpPr>
        <p:spPr>
          <a:xfrm>
            <a:off x="886968" y="2286000"/>
            <a:ext cx="1700784" cy="594360"/>
          </a:xfrm>
          <a:prstGeom prst="rect">
            <a:avLst/>
          </a:prstGeom>
          <a:noFill/>
          <a:ln/>
        </p:spPr>
        <p:txBody>
          <a:bodyPr wrap="square" lIns="254" tIns="254" rIns="254" bIns="254" rtlCol="0" anchor="ctr">
            <a:normAutofit/>
          </a:bodyPr>
          <a:lstStyle/>
          <a:p>
            <a:pPr marL="0" indent="0" algn="ctr">
              <a:buNone/>
            </a:pPr>
            <a:r>
              <a:rPr lang="en-US" sz="1800" b="1" dirty="0">
                <a:solidFill>
                  <a:srgbClr val="1F2937"/>
                </a:solidFill>
                <a:latin typeface="Arial" pitchFamily="34" charset="0"/>
                <a:ea typeface="Arial" pitchFamily="34" charset="-122"/>
                <a:cs typeface="Arial" pitchFamily="34" charset="-120"/>
              </a:rPr>
              <a:t>Your Code</a:t>
            </a:r>
            <a:endParaRPr lang="en-US" sz="1800" dirty="0"/>
          </a:p>
        </p:txBody>
      </p:sp>
      <p:sp>
        <p:nvSpPr>
          <p:cNvPr id="6" name="Shape 4"/>
          <p:cNvSpPr/>
          <p:nvPr/>
        </p:nvSpPr>
        <p:spPr>
          <a:xfrm>
            <a:off x="2697480" y="2578608"/>
            <a:ext cx="731520" cy="0"/>
          </a:xfrm>
          <a:prstGeom prst="line">
            <a:avLst/>
          </a:prstGeom>
          <a:noFill/>
          <a:ln w="30480">
            <a:solidFill>
              <a:srgbClr val="6DB33F"/>
            </a:solidFill>
            <a:prstDash val="solid"/>
            <a:tailEnd type="triangle"/>
          </a:ln>
        </p:spPr>
      </p:sp>
      <p:sp>
        <p:nvSpPr>
          <p:cNvPr id="7" name="Shape 5"/>
          <p:cNvSpPr/>
          <p:nvPr/>
        </p:nvSpPr>
        <p:spPr>
          <a:xfrm>
            <a:off x="3429000" y="1234440"/>
            <a:ext cx="2057400" cy="621792"/>
          </a:xfrm>
          <a:prstGeom prst="roundRect">
            <a:avLst>
              <a:gd name="adj" fmla="val 7353"/>
            </a:avLst>
          </a:prstGeom>
          <a:solidFill>
            <a:srgbClr val="EEF7E8"/>
          </a:solidFill>
          <a:ln w="12700">
            <a:solidFill>
              <a:srgbClr val="A8D98E"/>
            </a:solidFill>
            <a:prstDash val="solid"/>
          </a:ln>
        </p:spPr>
      </p:sp>
      <p:sp>
        <p:nvSpPr>
          <p:cNvPr id="8" name="Text 6"/>
          <p:cNvSpPr/>
          <p:nvPr/>
        </p:nvSpPr>
        <p:spPr>
          <a:xfrm>
            <a:off x="3493008" y="1280160"/>
            <a:ext cx="1929384" cy="530352"/>
          </a:xfrm>
          <a:prstGeom prst="rect">
            <a:avLst/>
          </a:prstGeom>
          <a:noFill/>
          <a:ln/>
        </p:spPr>
        <p:txBody>
          <a:bodyPr wrap="square" lIns="254" tIns="254" rIns="254" bIns="254" rtlCol="0" anchor="ctr">
            <a:normAutofit/>
          </a:bodyPr>
          <a:lstStyle/>
          <a:p>
            <a:pPr marL="0" indent="0" algn="ctr">
              <a:buNone/>
            </a:pPr>
            <a:r>
              <a:rPr lang="en-US" sz="1600" b="1" dirty="0">
                <a:solidFill>
                  <a:srgbClr val="3E7D20"/>
                </a:solidFill>
                <a:latin typeface="Arial" pitchFamily="34" charset="0"/>
                <a:ea typeface="Arial" pitchFamily="34" charset="-122"/>
                <a:cs typeface="Arial" pitchFamily="34" charset="-120"/>
              </a:rPr>
              <a:t>Starters</a:t>
            </a:r>
            <a:endParaRPr lang="en-US" sz="1600" dirty="0"/>
          </a:p>
        </p:txBody>
      </p:sp>
      <p:sp>
        <p:nvSpPr>
          <p:cNvPr id="9" name="Shape 7"/>
          <p:cNvSpPr/>
          <p:nvPr/>
        </p:nvSpPr>
        <p:spPr>
          <a:xfrm>
            <a:off x="3429000" y="2240280"/>
            <a:ext cx="2057400" cy="621792"/>
          </a:xfrm>
          <a:prstGeom prst="roundRect">
            <a:avLst>
              <a:gd name="adj" fmla="val 7353"/>
            </a:avLst>
          </a:prstGeom>
          <a:solidFill>
            <a:srgbClr val="EAF2FF"/>
          </a:solidFill>
          <a:ln w="12700">
            <a:solidFill>
              <a:srgbClr val="B9D1FF"/>
            </a:solidFill>
            <a:prstDash val="solid"/>
          </a:ln>
        </p:spPr>
      </p:sp>
      <p:sp>
        <p:nvSpPr>
          <p:cNvPr id="10" name="Text 8"/>
          <p:cNvSpPr/>
          <p:nvPr/>
        </p:nvSpPr>
        <p:spPr>
          <a:xfrm>
            <a:off x="3493008" y="2286000"/>
            <a:ext cx="1929384" cy="530352"/>
          </a:xfrm>
          <a:prstGeom prst="rect">
            <a:avLst/>
          </a:prstGeom>
          <a:noFill/>
          <a:ln/>
        </p:spPr>
        <p:txBody>
          <a:bodyPr wrap="square" lIns="254" tIns="254" rIns="254" bIns="254" rtlCol="0" anchor="ctr">
            <a:normAutofit/>
          </a:bodyPr>
          <a:lstStyle/>
          <a:p>
            <a:pPr marL="0" indent="0" algn="ctr">
              <a:buNone/>
            </a:pPr>
            <a:r>
              <a:rPr lang="en-US" sz="1600" b="1" dirty="0">
                <a:solidFill>
                  <a:srgbClr val="2563EB"/>
                </a:solidFill>
                <a:latin typeface="Arial" pitchFamily="34" charset="0"/>
                <a:ea typeface="Arial" pitchFamily="34" charset="-122"/>
                <a:cs typeface="Arial" pitchFamily="34" charset="-120"/>
              </a:rPr>
              <a:t>Auto-configuration</a:t>
            </a:r>
            <a:endParaRPr lang="en-US" sz="1600" dirty="0"/>
          </a:p>
        </p:txBody>
      </p:sp>
      <p:sp>
        <p:nvSpPr>
          <p:cNvPr id="11" name="Shape 9"/>
          <p:cNvSpPr/>
          <p:nvPr/>
        </p:nvSpPr>
        <p:spPr>
          <a:xfrm>
            <a:off x="3429000" y="3246120"/>
            <a:ext cx="2057400" cy="621792"/>
          </a:xfrm>
          <a:prstGeom prst="roundRect">
            <a:avLst>
              <a:gd name="adj" fmla="val 7353"/>
            </a:avLst>
          </a:prstGeom>
          <a:solidFill>
            <a:srgbClr val="FFF4DB"/>
          </a:solidFill>
          <a:ln w="12700">
            <a:solidFill>
              <a:srgbClr val="F0C36C"/>
            </a:solidFill>
            <a:prstDash val="solid"/>
          </a:ln>
        </p:spPr>
      </p:sp>
      <p:sp>
        <p:nvSpPr>
          <p:cNvPr id="12" name="Text 10"/>
          <p:cNvSpPr/>
          <p:nvPr/>
        </p:nvSpPr>
        <p:spPr>
          <a:xfrm>
            <a:off x="3493008" y="3291840"/>
            <a:ext cx="1929384" cy="530352"/>
          </a:xfrm>
          <a:prstGeom prst="rect">
            <a:avLst/>
          </a:prstGeom>
          <a:noFill/>
          <a:ln/>
        </p:spPr>
        <p:txBody>
          <a:bodyPr wrap="square" lIns="254" tIns="254" rIns="254" bIns="254" rtlCol="0" anchor="ctr">
            <a:normAutofit/>
          </a:bodyPr>
          <a:lstStyle/>
          <a:p>
            <a:pPr marL="0" indent="0" algn="ctr">
              <a:buNone/>
            </a:pPr>
            <a:r>
              <a:rPr lang="en-US" sz="1600" b="1" dirty="0">
                <a:solidFill>
                  <a:srgbClr val="A16207"/>
                </a:solidFill>
                <a:latin typeface="Arial" pitchFamily="34" charset="0"/>
                <a:ea typeface="Arial" pitchFamily="34" charset="-122"/>
                <a:cs typeface="Arial" pitchFamily="34" charset="-120"/>
              </a:rPr>
              <a:t>External Config</a:t>
            </a:r>
            <a:endParaRPr lang="en-US" sz="1600" dirty="0"/>
          </a:p>
        </p:txBody>
      </p:sp>
      <p:sp>
        <p:nvSpPr>
          <p:cNvPr id="13" name="Shape 11"/>
          <p:cNvSpPr/>
          <p:nvPr/>
        </p:nvSpPr>
        <p:spPr>
          <a:xfrm>
            <a:off x="5577840" y="2578608"/>
            <a:ext cx="822960" cy="0"/>
          </a:xfrm>
          <a:prstGeom prst="line">
            <a:avLst/>
          </a:prstGeom>
          <a:noFill/>
          <a:ln w="30480">
            <a:solidFill>
              <a:srgbClr val="6DB33F"/>
            </a:solidFill>
            <a:prstDash val="solid"/>
            <a:tailEnd type="triangle"/>
          </a:ln>
        </p:spPr>
      </p:sp>
      <p:sp>
        <p:nvSpPr>
          <p:cNvPr id="14" name="Shape 12"/>
          <p:cNvSpPr/>
          <p:nvPr/>
        </p:nvSpPr>
        <p:spPr>
          <a:xfrm>
            <a:off x="6400800" y="2057400"/>
            <a:ext cx="2194560" cy="1078992"/>
          </a:xfrm>
          <a:prstGeom prst="roundRect">
            <a:avLst>
              <a:gd name="adj" fmla="val 4237"/>
            </a:avLst>
          </a:prstGeom>
          <a:solidFill>
            <a:srgbClr val="F4F8F1"/>
          </a:solidFill>
          <a:ln w="12700">
            <a:solidFill>
              <a:srgbClr val="A8D98E"/>
            </a:solidFill>
            <a:prstDash val="solid"/>
          </a:ln>
        </p:spPr>
      </p:sp>
      <p:sp>
        <p:nvSpPr>
          <p:cNvPr id="15" name="Text 13"/>
          <p:cNvSpPr/>
          <p:nvPr/>
        </p:nvSpPr>
        <p:spPr>
          <a:xfrm>
            <a:off x="6464808" y="2103120"/>
            <a:ext cx="2066544" cy="987552"/>
          </a:xfrm>
          <a:prstGeom prst="rect">
            <a:avLst/>
          </a:prstGeom>
          <a:noFill/>
          <a:ln/>
        </p:spPr>
        <p:txBody>
          <a:bodyPr wrap="square" lIns="254" tIns="254" rIns="254" bIns="254" rtlCol="0" anchor="ctr">
            <a:normAutofit/>
          </a:bodyPr>
          <a:lstStyle/>
          <a:p>
            <a:pPr marL="0" indent="0" algn="ctr">
              <a:buNone/>
            </a:pPr>
            <a:r>
              <a:rPr lang="en-US" sz="1800" b="1" dirty="0">
                <a:solidFill>
                  <a:srgbClr val="3E7D20"/>
                </a:solidFill>
                <a:latin typeface="Arial" pitchFamily="34" charset="0"/>
                <a:ea typeface="Arial" pitchFamily="34" charset="-122"/>
                <a:cs typeface="Arial" pitchFamily="34" charset="-120"/>
              </a:rPr>
              <a:t>Spring Framework</a:t>
            </a:r>
            <a:endParaRPr lang="en-US" sz="1800" dirty="0"/>
          </a:p>
          <a:p>
            <a:pPr marL="0" indent="0" algn="ctr">
              <a:buNone/>
            </a:pPr>
            <a:r>
              <a:rPr lang="en-US" sz="1800" b="1" dirty="0">
                <a:solidFill>
                  <a:srgbClr val="3E7D20"/>
                </a:solidFill>
                <a:latin typeface="Arial" pitchFamily="34" charset="0"/>
                <a:ea typeface="Arial" pitchFamily="34" charset="-122"/>
                <a:cs typeface="Arial" pitchFamily="34" charset="-120"/>
              </a:rPr>
              <a:t>ApplicationContext</a:t>
            </a:r>
            <a:endParaRPr lang="en-US" sz="1800" dirty="0"/>
          </a:p>
        </p:txBody>
      </p:sp>
      <p:sp>
        <p:nvSpPr>
          <p:cNvPr id="16" name="Shape 14"/>
          <p:cNvSpPr/>
          <p:nvPr/>
        </p:nvSpPr>
        <p:spPr>
          <a:xfrm>
            <a:off x="8641080" y="2578608"/>
            <a:ext cx="640080" cy="0"/>
          </a:xfrm>
          <a:prstGeom prst="line">
            <a:avLst/>
          </a:prstGeom>
          <a:noFill/>
          <a:ln w="30480">
            <a:solidFill>
              <a:srgbClr val="6DB33F"/>
            </a:solidFill>
            <a:prstDash val="solid"/>
            <a:tailEnd type="triangle"/>
          </a:ln>
        </p:spPr>
      </p:sp>
      <p:sp>
        <p:nvSpPr>
          <p:cNvPr id="17" name="Shape 15"/>
          <p:cNvSpPr/>
          <p:nvPr/>
        </p:nvSpPr>
        <p:spPr>
          <a:xfrm>
            <a:off x="9281160" y="1417320"/>
            <a:ext cx="2103120" cy="640080"/>
          </a:xfrm>
          <a:prstGeom prst="roundRect">
            <a:avLst>
              <a:gd name="adj" fmla="val 7143"/>
            </a:avLst>
          </a:prstGeom>
          <a:solidFill>
            <a:srgbClr val="EEF2FF"/>
          </a:solidFill>
          <a:ln w="12700">
            <a:solidFill>
              <a:srgbClr val="C7D2FE"/>
            </a:solidFill>
            <a:prstDash val="solid"/>
          </a:ln>
        </p:spPr>
      </p:sp>
      <p:sp>
        <p:nvSpPr>
          <p:cNvPr id="18" name="Text 16"/>
          <p:cNvSpPr/>
          <p:nvPr/>
        </p:nvSpPr>
        <p:spPr>
          <a:xfrm>
            <a:off x="9345168" y="1463040"/>
            <a:ext cx="1975104" cy="548640"/>
          </a:xfrm>
          <a:prstGeom prst="rect">
            <a:avLst/>
          </a:prstGeom>
          <a:noFill/>
          <a:ln/>
        </p:spPr>
        <p:txBody>
          <a:bodyPr wrap="square" lIns="254" tIns="254" rIns="254" bIns="254" rtlCol="0" anchor="ctr">
            <a:normAutofit/>
          </a:bodyPr>
          <a:lstStyle/>
          <a:p>
            <a:pPr marL="0" indent="0" algn="ctr">
              <a:buNone/>
            </a:pPr>
            <a:r>
              <a:rPr lang="en-US" sz="1400" b="1" dirty="0">
                <a:solidFill>
                  <a:srgbClr val="4338CA"/>
                </a:solidFill>
                <a:latin typeface="Arial" pitchFamily="34" charset="0"/>
                <a:ea typeface="Arial" pitchFamily="34" charset="-122"/>
                <a:cs typeface="Arial" pitchFamily="34" charset="-120"/>
              </a:rPr>
              <a:t>Embedded Web Server</a:t>
            </a:r>
            <a:endParaRPr lang="en-US" sz="1400" dirty="0"/>
          </a:p>
        </p:txBody>
      </p:sp>
      <p:sp>
        <p:nvSpPr>
          <p:cNvPr id="19" name="Shape 17"/>
          <p:cNvSpPr/>
          <p:nvPr/>
        </p:nvSpPr>
        <p:spPr>
          <a:xfrm>
            <a:off x="9281160" y="2423160"/>
            <a:ext cx="2103120" cy="640080"/>
          </a:xfrm>
          <a:prstGeom prst="roundRect">
            <a:avLst>
              <a:gd name="adj" fmla="val 7143"/>
            </a:avLst>
          </a:prstGeom>
          <a:solidFill>
            <a:srgbClr val="E6F7F4"/>
          </a:solidFill>
          <a:ln w="12700">
            <a:solidFill>
              <a:srgbClr val="B9E8DF"/>
            </a:solidFill>
            <a:prstDash val="solid"/>
          </a:ln>
        </p:spPr>
      </p:sp>
      <p:sp>
        <p:nvSpPr>
          <p:cNvPr id="20" name="Text 18"/>
          <p:cNvSpPr/>
          <p:nvPr/>
        </p:nvSpPr>
        <p:spPr>
          <a:xfrm>
            <a:off x="9345168" y="2468880"/>
            <a:ext cx="1975104" cy="548640"/>
          </a:xfrm>
          <a:prstGeom prst="rect">
            <a:avLst/>
          </a:prstGeom>
          <a:noFill/>
          <a:ln/>
        </p:spPr>
        <p:txBody>
          <a:bodyPr wrap="square" lIns="254" tIns="254" rIns="254" bIns="254" rtlCol="0" anchor="ctr">
            <a:normAutofit/>
          </a:bodyPr>
          <a:lstStyle/>
          <a:p>
            <a:pPr marL="0" indent="0" algn="ctr">
              <a:buNone/>
            </a:pPr>
            <a:r>
              <a:rPr lang="en-US" sz="1400" b="1" dirty="0">
                <a:solidFill>
                  <a:srgbClr val="0F766E"/>
                </a:solidFill>
                <a:latin typeface="Arial" pitchFamily="34" charset="0"/>
                <a:ea typeface="Arial" pitchFamily="34" charset="-122"/>
                <a:cs typeface="Arial" pitchFamily="34" charset="-120"/>
              </a:rPr>
              <a:t>DataSource / JPA</a:t>
            </a:r>
            <a:endParaRPr lang="en-US" sz="1400" dirty="0"/>
          </a:p>
        </p:txBody>
      </p:sp>
      <p:sp>
        <p:nvSpPr>
          <p:cNvPr id="21" name="Shape 19"/>
          <p:cNvSpPr/>
          <p:nvPr/>
        </p:nvSpPr>
        <p:spPr>
          <a:xfrm>
            <a:off x="9281160" y="3429000"/>
            <a:ext cx="2103120" cy="640080"/>
          </a:xfrm>
          <a:prstGeom prst="roundRect">
            <a:avLst>
              <a:gd name="adj" fmla="val 7143"/>
            </a:avLst>
          </a:prstGeom>
          <a:solidFill>
            <a:srgbClr val="F3F4F6"/>
          </a:solidFill>
          <a:ln w="12700">
            <a:solidFill>
              <a:srgbClr val="CBD5E1"/>
            </a:solidFill>
            <a:prstDash val="solid"/>
          </a:ln>
        </p:spPr>
      </p:sp>
      <p:sp>
        <p:nvSpPr>
          <p:cNvPr id="22" name="Text 20"/>
          <p:cNvSpPr/>
          <p:nvPr/>
        </p:nvSpPr>
        <p:spPr>
          <a:xfrm>
            <a:off x="9345168" y="3474720"/>
            <a:ext cx="1975104" cy="548640"/>
          </a:xfrm>
          <a:prstGeom prst="rect">
            <a:avLst/>
          </a:prstGeom>
          <a:noFill/>
          <a:ln/>
        </p:spPr>
        <p:txBody>
          <a:bodyPr wrap="square" lIns="254" tIns="254" rIns="254" bIns="254" rtlCol="0" anchor="ctr">
            <a:normAutofit/>
          </a:bodyPr>
          <a:lstStyle/>
          <a:p>
            <a:pPr marL="0" indent="0" algn="ctr">
              <a:buNone/>
            </a:pPr>
            <a:r>
              <a:rPr lang="en-US" sz="1400" b="1" dirty="0">
                <a:solidFill>
                  <a:srgbClr val="1F2937"/>
                </a:solidFill>
                <a:latin typeface="Arial" pitchFamily="34" charset="0"/>
                <a:ea typeface="Arial" pitchFamily="34" charset="-122"/>
                <a:cs typeface="Arial" pitchFamily="34" charset="-120"/>
              </a:rPr>
              <a:t>Logging / JSON / etc.</a:t>
            </a:r>
            <a:endParaRPr lang="en-US" sz="1400" dirty="0"/>
          </a:p>
        </p:txBody>
      </p:sp>
      <p:sp>
        <p:nvSpPr>
          <p:cNvPr id="23" name="Text 21"/>
          <p:cNvSpPr/>
          <p:nvPr/>
        </p:nvSpPr>
        <p:spPr>
          <a:xfrm>
            <a:off x="1554480" y="5166360"/>
            <a:ext cx="9144000" cy="493776"/>
          </a:xfrm>
          <a:prstGeom prst="rect">
            <a:avLst/>
          </a:prstGeom>
          <a:noFill/>
          <a:ln/>
        </p:spPr>
        <p:txBody>
          <a:bodyPr wrap="square" lIns="0" tIns="0" rIns="0" bIns="0" rtlCol="0" anchor="ctr">
            <a:normAutofit/>
          </a:bodyPr>
          <a:lstStyle/>
          <a:p>
            <a:pPr marL="0" indent="0" algn="ctr">
              <a:buNone/>
            </a:pPr>
            <a:r>
              <a:rPr lang="en-US" sz="1650" b="1" dirty="0">
                <a:solidFill>
                  <a:srgbClr val="1F2937"/>
                </a:solidFill>
              </a:rPr>
              <a:t>Boot automates common configuration; the managed objects still live in Spring’s ApplicationContext.</a:t>
            </a:r>
            <a:endParaRPr lang="en-US" sz="1650" dirty="0"/>
          </a:p>
        </p:txBody>
      </p:sp>
      <p:sp>
        <p:nvSpPr>
          <p:cNvPr id="25" name="Slide Number Placeholder 0"/>
          <p:cNvSpPr>
            <a:spLocks noGrp="1"/>
          </p:cNvSpPr>
          <p:nvPr>
            <p:ph type="sldNum" sz="quarter" idx="4294967295"/>
          </p:nvPr>
        </p:nvSpPr>
        <p:spPr>
          <a:xfrm>
            <a:off x="11384280" y="6473952"/>
            <a:ext cx="384048"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latin typeface="Arial"/>
                <a:ea typeface="Arial"/>
                <a:cs typeface="Aria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02920" y="310896"/>
            <a:ext cx="11064240" cy="475488"/>
          </a:xfrm>
          <a:prstGeom prst="rect">
            <a:avLst/>
          </a:prstGeom>
          <a:noFill/>
          <a:ln/>
        </p:spPr>
        <p:txBody>
          <a:bodyPr wrap="square" lIns="0" tIns="0" rIns="0" bIns="0" rtlCol="0" anchor="ctr">
            <a:normAutofit/>
          </a:bodyPr>
          <a:lstStyle/>
          <a:p>
            <a:pPr marL="0" indent="0">
              <a:buNone/>
            </a:pPr>
            <a:r>
              <a:rPr lang="en-US" sz="2700" b="1" dirty="0">
                <a:solidFill>
                  <a:srgbClr val="1F2937"/>
                </a:solidFill>
                <a:latin typeface="Arial" pitchFamily="34" charset="0"/>
                <a:ea typeface="Arial" pitchFamily="34" charset="-122"/>
                <a:cs typeface="Arial" pitchFamily="34" charset="-120"/>
              </a:rPr>
              <a:t>Official recommended Spring Boot root-package layout</a:t>
            </a:r>
            <a:endParaRPr lang="en-US" sz="2700" dirty="0"/>
          </a:p>
        </p:txBody>
      </p:sp>
      <p:sp>
        <p:nvSpPr>
          <p:cNvPr id="3" name="Text 1"/>
          <p:cNvSpPr/>
          <p:nvPr/>
        </p:nvSpPr>
        <p:spPr>
          <a:xfrm>
            <a:off x="530352" y="804672"/>
            <a:ext cx="10881360" cy="310896"/>
          </a:xfrm>
          <a:prstGeom prst="rect">
            <a:avLst/>
          </a:prstGeom>
          <a:noFill/>
          <a:ln/>
        </p:spPr>
        <p:txBody>
          <a:bodyPr wrap="square" lIns="0" tIns="0" rIns="0" bIns="0" rtlCol="0" anchor="ctr">
            <a:normAutofit/>
          </a:bodyPr>
          <a:lstStyle/>
          <a:p>
            <a:pPr marL="0" indent="0">
              <a:buNone/>
            </a:pPr>
            <a:r>
              <a:rPr lang="en-US" sz="1250" dirty="0">
                <a:solidFill>
                  <a:srgbClr val="64748B"/>
                </a:solidFill>
                <a:latin typeface="Arial" pitchFamily="34" charset="0"/>
                <a:ea typeface="Arial" pitchFamily="34" charset="-122"/>
                <a:cs typeface="Arial" pitchFamily="34" charset="-120"/>
              </a:rPr>
              <a:t>Spring recommends placing the main application class in a root package above the rest of the code</a:t>
            </a:r>
            <a:endParaRPr lang="en-US" sz="1250" dirty="0"/>
          </a:p>
        </p:txBody>
      </p:sp>
      <p:sp>
        <p:nvSpPr>
          <p:cNvPr id="4" name="Shape 2"/>
          <p:cNvSpPr/>
          <p:nvPr/>
        </p:nvSpPr>
        <p:spPr>
          <a:xfrm>
            <a:off x="731520" y="1298448"/>
            <a:ext cx="5989320" cy="4754880"/>
          </a:xfrm>
          <a:prstGeom prst="roundRect">
            <a:avLst>
              <a:gd name="adj" fmla="val 769"/>
            </a:avLst>
          </a:prstGeom>
          <a:solidFill>
            <a:srgbClr val="FBFDF9"/>
          </a:solidFill>
          <a:ln w="12700">
            <a:solidFill>
              <a:srgbClr val="D5E4CE"/>
            </a:solidFill>
            <a:prstDash val="solid"/>
          </a:ln>
        </p:spPr>
      </p:sp>
      <p:sp>
        <p:nvSpPr>
          <p:cNvPr id="5" name="Text 3"/>
          <p:cNvSpPr/>
          <p:nvPr/>
        </p:nvSpPr>
        <p:spPr>
          <a:xfrm>
            <a:off x="896112" y="1426464"/>
            <a:ext cx="5660136" cy="4498848"/>
          </a:xfrm>
          <a:prstGeom prst="rect">
            <a:avLst/>
          </a:prstGeom>
          <a:noFill/>
          <a:ln/>
        </p:spPr>
        <p:txBody>
          <a:bodyPr wrap="square" lIns="254" tIns="254" rIns="254" bIns="254" rtlCol="0" anchor="t">
            <a:normAutofit/>
          </a:bodyPr>
          <a:lstStyle/>
          <a:p>
            <a:pPr marL="0" indent="0">
              <a:buNone/>
            </a:pPr>
            <a:r>
              <a:rPr lang="en-US" sz="1380" dirty="0">
                <a:solidFill>
                  <a:srgbClr val="1F2937"/>
                </a:solidFill>
                <a:latin typeface="Courier New" pitchFamily="34" charset="0"/>
                <a:ea typeface="Courier New" pitchFamily="34" charset="-122"/>
                <a:cs typeface="Courier New" pitchFamily="34" charset="-120"/>
              </a:rPr>
              <a:t>com/</a:t>
            </a:r>
            <a:endParaRPr lang="en-US" sz="1380" dirty="0"/>
          </a:p>
          <a:p>
            <a:pPr marL="0" indent="0">
              <a:buNone/>
            </a:pPr>
            <a:r>
              <a:rPr lang="en-US" sz="1380" dirty="0">
                <a:solidFill>
                  <a:srgbClr val="1F2937"/>
                </a:solidFill>
                <a:latin typeface="Courier New" pitchFamily="34" charset="0"/>
                <a:ea typeface="Courier New" pitchFamily="34" charset="-122"/>
                <a:cs typeface="Courier New" pitchFamily="34" charset="-120"/>
              </a:rPr>
              <a:t>└─ example/</a:t>
            </a:r>
            <a:endParaRPr lang="en-US" sz="1380" dirty="0"/>
          </a:p>
          <a:p>
            <a:pPr marL="0" indent="0">
              <a:buNone/>
            </a:pPr>
            <a:r>
              <a:rPr lang="en-US" sz="1380" dirty="0">
                <a:solidFill>
                  <a:srgbClr val="1F2937"/>
                </a:solidFill>
                <a:latin typeface="Courier New" pitchFamily="34" charset="0"/>
                <a:ea typeface="Courier New" pitchFamily="34" charset="-122"/>
                <a:cs typeface="Courier New" pitchFamily="34" charset="-120"/>
              </a:rPr>
              <a:t>   └─ myapplication/</a:t>
            </a:r>
            <a:endParaRPr lang="en-US" sz="1380" dirty="0"/>
          </a:p>
          <a:p>
            <a:pPr marL="0" indent="0">
              <a:buNone/>
            </a:pPr>
            <a:r>
              <a:rPr lang="en-US" sz="1380" dirty="0">
                <a:solidFill>
                  <a:srgbClr val="1F2937"/>
                </a:solidFill>
                <a:latin typeface="Courier New" pitchFamily="34" charset="0"/>
                <a:ea typeface="Courier New" pitchFamily="34" charset="-122"/>
                <a:cs typeface="Courier New" pitchFamily="34" charset="-120"/>
              </a:rPr>
              <a:t>      ├─ MyApplication.java       ← @SpringBootApplication</a:t>
            </a:r>
            <a:endParaRPr lang="en-US" sz="1380" dirty="0"/>
          </a:p>
          <a:p>
            <a:pPr marL="0" indent="0">
              <a:buNone/>
            </a:pPr>
            <a:r>
              <a:rPr lang="en-US" sz="1380" dirty="0">
                <a:solidFill>
                  <a:srgbClr val="1F2937"/>
                </a:solidFill>
                <a:latin typeface="Courier New" pitchFamily="34" charset="0"/>
                <a:ea typeface="Courier New" pitchFamily="34" charset="-122"/>
                <a:cs typeface="Courier New" pitchFamily="34" charset="-120"/>
              </a:rPr>
              <a:t>      ├─ customer/</a:t>
            </a:r>
            <a:endParaRPr lang="en-US" sz="1380" dirty="0"/>
          </a:p>
          <a:p>
            <a:pPr marL="0" indent="0">
              <a:buNone/>
            </a:pPr>
            <a:r>
              <a:rPr lang="en-US" sz="1380" dirty="0">
                <a:solidFill>
                  <a:srgbClr val="1F2937"/>
                </a:solidFill>
                <a:latin typeface="Courier New" pitchFamily="34" charset="0"/>
                <a:ea typeface="Courier New" pitchFamily="34" charset="-122"/>
                <a:cs typeface="Courier New" pitchFamily="34" charset="-120"/>
              </a:rPr>
              <a:t>      │  ├─ Customer.java</a:t>
            </a:r>
            <a:endParaRPr lang="en-US" sz="1380" dirty="0"/>
          </a:p>
          <a:p>
            <a:pPr marL="0" indent="0">
              <a:buNone/>
            </a:pPr>
            <a:r>
              <a:rPr lang="en-US" sz="1380" dirty="0">
                <a:solidFill>
                  <a:srgbClr val="1F2937"/>
                </a:solidFill>
                <a:latin typeface="Courier New" pitchFamily="34" charset="0"/>
                <a:ea typeface="Courier New" pitchFamily="34" charset="-122"/>
                <a:cs typeface="Courier New" pitchFamily="34" charset="-120"/>
              </a:rPr>
              <a:t>      │  ├─ CustomerController.java</a:t>
            </a:r>
            <a:endParaRPr lang="en-US" sz="1380" dirty="0"/>
          </a:p>
          <a:p>
            <a:pPr marL="0" indent="0">
              <a:buNone/>
            </a:pPr>
            <a:r>
              <a:rPr lang="en-US" sz="1380" dirty="0">
                <a:solidFill>
                  <a:srgbClr val="1F2937"/>
                </a:solidFill>
                <a:latin typeface="Courier New" pitchFamily="34" charset="0"/>
                <a:ea typeface="Courier New" pitchFamily="34" charset="-122"/>
                <a:cs typeface="Courier New" pitchFamily="34" charset="-120"/>
              </a:rPr>
              <a:t>      │  ├─ CustomerService.java</a:t>
            </a:r>
            <a:endParaRPr lang="en-US" sz="1380" dirty="0"/>
          </a:p>
          <a:p>
            <a:pPr marL="0" indent="0">
              <a:buNone/>
            </a:pPr>
            <a:r>
              <a:rPr lang="en-US" sz="1380" dirty="0">
                <a:solidFill>
                  <a:srgbClr val="1F2937"/>
                </a:solidFill>
                <a:latin typeface="Courier New" pitchFamily="34" charset="0"/>
                <a:ea typeface="Courier New" pitchFamily="34" charset="-122"/>
                <a:cs typeface="Courier New" pitchFamily="34" charset="-120"/>
              </a:rPr>
              <a:t>      │  └─ CustomerRepository.java</a:t>
            </a:r>
            <a:endParaRPr lang="en-US" sz="1380" dirty="0"/>
          </a:p>
          <a:p>
            <a:pPr marL="0" indent="0">
              <a:buNone/>
            </a:pPr>
            <a:r>
              <a:rPr lang="en-US" sz="1380" dirty="0">
                <a:solidFill>
                  <a:srgbClr val="1F2937"/>
                </a:solidFill>
                <a:latin typeface="Courier New" pitchFamily="34" charset="0"/>
                <a:ea typeface="Courier New" pitchFamily="34" charset="-122"/>
                <a:cs typeface="Courier New" pitchFamily="34" charset="-120"/>
              </a:rPr>
              <a:t>      └─ order/</a:t>
            </a:r>
            <a:endParaRPr lang="en-US" sz="1380" dirty="0"/>
          </a:p>
          <a:p>
            <a:pPr marL="0" indent="0">
              <a:buNone/>
            </a:pPr>
            <a:r>
              <a:rPr lang="en-US" sz="1380" dirty="0">
                <a:solidFill>
                  <a:srgbClr val="1F2937"/>
                </a:solidFill>
                <a:latin typeface="Courier New" pitchFamily="34" charset="0"/>
                <a:ea typeface="Courier New" pitchFamily="34" charset="-122"/>
                <a:cs typeface="Courier New" pitchFamily="34" charset="-120"/>
              </a:rPr>
              <a:t>         ├─ Order.java</a:t>
            </a:r>
            <a:endParaRPr lang="en-US" sz="1380" dirty="0"/>
          </a:p>
          <a:p>
            <a:pPr marL="0" indent="0">
              <a:buNone/>
            </a:pPr>
            <a:r>
              <a:rPr lang="en-US" sz="1380" dirty="0">
                <a:solidFill>
                  <a:srgbClr val="1F2937"/>
                </a:solidFill>
                <a:latin typeface="Courier New" pitchFamily="34" charset="0"/>
                <a:ea typeface="Courier New" pitchFamily="34" charset="-122"/>
                <a:cs typeface="Courier New" pitchFamily="34" charset="-120"/>
              </a:rPr>
              <a:t>         ├─ OrderController.java</a:t>
            </a:r>
            <a:endParaRPr lang="en-US" sz="1380" dirty="0"/>
          </a:p>
          <a:p>
            <a:pPr marL="0" indent="0">
              <a:buNone/>
            </a:pPr>
            <a:r>
              <a:rPr lang="en-US" sz="1380" dirty="0">
                <a:solidFill>
                  <a:srgbClr val="1F2937"/>
                </a:solidFill>
                <a:latin typeface="Courier New" pitchFamily="34" charset="0"/>
                <a:ea typeface="Courier New" pitchFamily="34" charset="-122"/>
                <a:cs typeface="Courier New" pitchFamily="34" charset="-120"/>
              </a:rPr>
              <a:t>         ├─ OrderService.java</a:t>
            </a:r>
            <a:endParaRPr lang="en-US" sz="1380" dirty="0"/>
          </a:p>
          <a:p>
            <a:pPr marL="0" indent="0">
              <a:buNone/>
            </a:pPr>
            <a:r>
              <a:rPr lang="en-US" sz="1380" dirty="0">
                <a:solidFill>
                  <a:srgbClr val="1F2937"/>
                </a:solidFill>
                <a:latin typeface="Courier New" pitchFamily="34" charset="0"/>
                <a:ea typeface="Courier New" pitchFamily="34" charset="-122"/>
                <a:cs typeface="Courier New" pitchFamily="34" charset="-120"/>
              </a:rPr>
              <a:t>         └─ OrderRepository.java</a:t>
            </a:r>
            <a:endParaRPr lang="en-US" sz="1380" dirty="0"/>
          </a:p>
        </p:txBody>
      </p:sp>
      <p:sp>
        <p:nvSpPr>
          <p:cNvPr id="6" name="Shape 4"/>
          <p:cNvSpPr/>
          <p:nvPr/>
        </p:nvSpPr>
        <p:spPr>
          <a:xfrm>
            <a:off x="7086600" y="1417320"/>
            <a:ext cx="4297680" cy="1280160"/>
          </a:xfrm>
          <a:prstGeom prst="roundRect">
            <a:avLst>
              <a:gd name="adj" fmla="val 5714"/>
            </a:avLst>
          </a:prstGeom>
          <a:solidFill>
            <a:srgbClr val="EEF7E8"/>
          </a:solidFill>
          <a:ln w="12700">
            <a:solidFill>
              <a:srgbClr val="D8E2D2"/>
            </a:solidFill>
            <a:prstDash val="solid"/>
          </a:ln>
          <a:effectLst>
            <a:outerShdw blurRad="19050" dist="50800" dir="2700000" algn="bl" rotWithShape="0">
              <a:srgbClr val="D1D5DB">
                <a:alpha val="12000"/>
              </a:srgbClr>
            </a:outerShdw>
          </a:effectLst>
        </p:spPr>
      </p:sp>
      <p:sp>
        <p:nvSpPr>
          <p:cNvPr id="7" name="Shape 5"/>
          <p:cNvSpPr/>
          <p:nvPr/>
        </p:nvSpPr>
        <p:spPr>
          <a:xfrm>
            <a:off x="7086600" y="1417320"/>
            <a:ext cx="73152" cy="1280160"/>
          </a:xfrm>
          <a:prstGeom prst="rect">
            <a:avLst/>
          </a:prstGeom>
          <a:solidFill>
            <a:srgbClr val="6DB33F"/>
          </a:solidFill>
          <a:ln w="12700">
            <a:solidFill>
              <a:srgbClr val="6DB33F"/>
            </a:solidFill>
            <a:prstDash val="solid"/>
          </a:ln>
        </p:spPr>
      </p:sp>
      <p:sp>
        <p:nvSpPr>
          <p:cNvPr id="8" name="Shape 6"/>
          <p:cNvSpPr/>
          <p:nvPr/>
        </p:nvSpPr>
        <p:spPr>
          <a:xfrm>
            <a:off x="7251192" y="1581912"/>
            <a:ext cx="438912" cy="438912"/>
          </a:xfrm>
          <a:prstGeom prst="ellipse">
            <a:avLst/>
          </a:prstGeom>
          <a:solidFill>
            <a:srgbClr val="6DB33F"/>
          </a:solidFill>
          <a:ln w="12700">
            <a:solidFill>
              <a:srgbClr val="6DB33F"/>
            </a:solidFill>
            <a:prstDash val="solid"/>
          </a:ln>
        </p:spPr>
      </p:sp>
      <p:sp>
        <p:nvSpPr>
          <p:cNvPr id="9" name="Text 7"/>
          <p:cNvSpPr/>
          <p:nvPr/>
        </p:nvSpPr>
        <p:spPr>
          <a:xfrm>
            <a:off x="7251192" y="1618488"/>
            <a:ext cx="438912" cy="292608"/>
          </a:xfrm>
          <a:prstGeom prst="rect">
            <a:avLst/>
          </a:prstGeom>
          <a:noFill/>
          <a:ln/>
        </p:spPr>
        <p:txBody>
          <a:bodyPr wrap="square" lIns="0" tIns="0" rIns="0" bIns="0" rtlCol="0" anchor="ctr"/>
          <a:lstStyle/>
          <a:p>
            <a:pPr marL="0" indent="0" algn="ctr">
              <a:buNone/>
            </a:pPr>
            <a:r>
              <a:rPr lang="en-US" sz="1500" b="1" dirty="0">
                <a:solidFill>
                  <a:srgbClr val="FFFFFF"/>
                </a:solidFill>
              </a:rPr>
              <a:t>✓</a:t>
            </a:r>
            <a:endParaRPr lang="en-US" sz="1500" dirty="0"/>
          </a:p>
        </p:txBody>
      </p:sp>
      <p:sp>
        <p:nvSpPr>
          <p:cNvPr id="10" name="Text 8"/>
          <p:cNvSpPr/>
          <p:nvPr/>
        </p:nvSpPr>
        <p:spPr>
          <a:xfrm>
            <a:off x="7799832" y="1563624"/>
            <a:ext cx="3419856" cy="310896"/>
          </a:xfrm>
          <a:prstGeom prst="rect">
            <a:avLst/>
          </a:prstGeom>
          <a:noFill/>
          <a:ln/>
        </p:spPr>
        <p:txBody>
          <a:bodyPr wrap="square" lIns="0" tIns="0" rIns="0" bIns="0" rtlCol="0" anchor="ctr">
            <a:normAutofit/>
          </a:bodyPr>
          <a:lstStyle/>
          <a:p>
            <a:pPr marL="0" indent="0">
              <a:buNone/>
            </a:pPr>
            <a:r>
              <a:rPr lang="en-US" sz="1650" b="1" dirty="0">
                <a:solidFill>
                  <a:srgbClr val="1F2937"/>
                </a:solidFill>
              </a:rPr>
              <a:t>Why the root package matters</a:t>
            </a:r>
            <a:endParaRPr lang="en-US" sz="1650" dirty="0"/>
          </a:p>
        </p:txBody>
      </p:sp>
      <p:sp>
        <p:nvSpPr>
          <p:cNvPr id="11" name="Text 9"/>
          <p:cNvSpPr/>
          <p:nvPr/>
        </p:nvSpPr>
        <p:spPr>
          <a:xfrm>
            <a:off x="7269480" y="2075688"/>
            <a:ext cx="3931920" cy="475488"/>
          </a:xfrm>
          <a:prstGeom prst="rect">
            <a:avLst/>
          </a:prstGeom>
          <a:noFill/>
          <a:ln/>
        </p:spPr>
        <p:txBody>
          <a:bodyPr wrap="square" lIns="254" tIns="254" rIns="254" bIns="254" rtlCol="0" anchor="t">
            <a:normAutofit/>
          </a:bodyPr>
          <a:lstStyle/>
          <a:p>
            <a:pPr marL="0" indent="0">
              <a:buNone/>
            </a:pPr>
            <a:r>
              <a:rPr lang="en-US" sz="1280" dirty="0">
                <a:solidFill>
                  <a:srgbClr val="64748B"/>
                </a:solidFill>
              </a:rPr>
              <a:t>@SpringBootApplication defines a natural base package for component scanning and, in JPA applications, helps define where entities are searched.</a:t>
            </a:r>
            <a:endParaRPr lang="en-US" sz="1280" dirty="0"/>
          </a:p>
        </p:txBody>
      </p:sp>
      <p:sp>
        <p:nvSpPr>
          <p:cNvPr id="12" name="Shape 10"/>
          <p:cNvSpPr/>
          <p:nvPr/>
        </p:nvSpPr>
        <p:spPr>
          <a:xfrm>
            <a:off x="7086600" y="3017520"/>
            <a:ext cx="4297680" cy="1280160"/>
          </a:xfrm>
          <a:prstGeom prst="roundRect">
            <a:avLst>
              <a:gd name="adj" fmla="val 5714"/>
            </a:avLst>
          </a:prstGeom>
          <a:solidFill>
            <a:srgbClr val="FEECEC"/>
          </a:solidFill>
          <a:ln w="12700">
            <a:solidFill>
              <a:srgbClr val="D8E2D2"/>
            </a:solidFill>
            <a:prstDash val="solid"/>
          </a:ln>
          <a:effectLst>
            <a:outerShdw blurRad="19050" dist="50800" dir="2700000" algn="bl" rotWithShape="0">
              <a:srgbClr val="D1D5DB">
                <a:alpha val="12000"/>
              </a:srgbClr>
            </a:outerShdw>
          </a:effectLst>
        </p:spPr>
      </p:sp>
      <p:sp>
        <p:nvSpPr>
          <p:cNvPr id="13" name="Shape 11"/>
          <p:cNvSpPr/>
          <p:nvPr/>
        </p:nvSpPr>
        <p:spPr>
          <a:xfrm>
            <a:off x="7086600" y="3017520"/>
            <a:ext cx="73152" cy="1280160"/>
          </a:xfrm>
          <a:prstGeom prst="rect">
            <a:avLst/>
          </a:prstGeom>
          <a:solidFill>
            <a:srgbClr val="DC2626"/>
          </a:solidFill>
          <a:ln w="12700">
            <a:solidFill>
              <a:srgbClr val="DC2626"/>
            </a:solidFill>
            <a:prstDash val="solid"/>
          </a:ln>
        </p:spPr>
      </p:sp>
      <p:sp>
        <p:nvSpPr>
          <p:cNvPr id="14" name="Shape 12"/>
          <p:cNvSpPr/>
          <p:nvPr/>
        </p:nvSpPr>
        <p:spPr>
          <a:xfrm>
            <a:off x="7251192" y="3182112"/>
            <a:ext cx="438912" cy="438912"/>
          </a:xfrm>
          <a:prstGeom prst="ellipse">
            <a:avLst/>
          </a:prstGeom>
          <a:solidFill>
            <a:srgbClr val="DC2626"/>
          </a:solidFill>
          <a:ln w="12700">
            <a:solidFill>
              <a:srgbClr val="DC2626"/>
            </a:solidFill>
            <a:prstDash val="solid"/>
          </a:ln>
        </p:spPr>
      </p:sp>
      <p:sp>
        <p:nvSpPr>
          <p:cNvPr id="15" name="Text 13"/>
          <p:cNvSpPr/>
          <p:nvPr/>
        </p:nvSpPr>
        <p:spPr>
          <a:xfrm>
            <a:off x="7251192" y="3218688"/>
            <a:ext cx="438912" cy="292608"/>
          </a:xfrm>
          <a:prstGeom prst="rect">
            <a:avLst/>
          </a:prstGeom>
          <a:noFill/>
          <a:ln/>
        </p:spPr>
        <p:txBody>
          <a:bodyPr wrap="square" lIns="0" tIns="0" rIns="0" bIns="0" rtlCol="0" anchor="ctr"/>
          <a:lstStyle/>
          <a:p>
            <a:pPr marL="0" indent="0" algn="ctr">
              <a:buNone/>
            </a:pPr>
            <a:r>
              <a:rPr lang="en-US" sz="1500" b="1" dirty="0">
                <a:solidFill>
                  <a:srgbClr val="FFFFFF"/>
                </a:solidFill>
              </a:rPr>
              <a:t>!</a:t>
            </a:r>
            <a:endParaRPr lang="en-US" sz="1500" dirty="0"/>
          </a:p>
        </p:txBody>
      </p:sp>
      <p:sp>
        <p:nvSpPr>
          <p:cNvPr id="16" name="Text 14"/>
          <p:cNvSpPr/>
          <p:nvPr/>
        </p:nvSpPr>
        <p:spPr>
          <a:xfrm>
            <a:off x="7799832" y="3163824"/>
            <a:ext cx="3419856" cy="310896"/>
          </a:xfrm>
          <a:prstGeom prst="rect">
            <a:avLst/>
          </a:prstGeom>
          <a:noFill/>
          <a:ln/>
        </p:spPr>
        <p:txBody>
          <a:bodyPr wrap="square" lIns="0" tIns="0" rIns="0" bIns="0" rtlCol="0" anchor="ctr">
            <a:normAutofit/>
          </a:bodyPr>
          <a:lstStyle/>
          <a:p>
            <a:pPr marL="0" indent="0">
              <a:buNone/>
            </a:pPr>
            <a:r>
              <a:rPr lang="en-US" sz="1650" b="1" dirty="0">
                <a:solidFill>
                  <a:srgbClr val="1F2937"/>
                </a:solidFill>
              </a:rPr>
              <a:t>Avoid the default package</a:t>
            </a:r>
            <a:endParaRPr lang="en-US" sz="1650" dirty="0"/>
          </a:p>
        </p:txBody>
      </p:sp>
      <p:sp>
        <p:nvSpPr>
          <p:cNvPr id="17" name="Text 15"/>
          <p:cNvSpPr/>
          <p:nvPr/>
        </p:nvSpPr>
        <p:spPr>
          <a:xfrm>
            <a:off x="7269480" y="3675888"/>
            <a:ext cx="3931920" cy="475488"/>
          </a:xfrm>
          <a:prstGeom prst="rect">
            <a:avLst/>
          </a:prstGeom>
          <a:noFill/>
          <a:ln/>
        </p:spPr>
        <p:txBody>
          <a:bodyPr wrap="square" lIns="254" tIns="254" rIns="254" bIns="254" rtlCol="0" anchor="t">
            <a:normAutofit/>
          </a:bodyPr>
          <a:lstStyle/>
          <a:p>
            <a:pPr marL="0" indent="0">
              <a:buNone/>
            </a:pPr>
            <a:r>
              <a:rPr lang="en-US" sz="1280" dirty="0">
                <a:solidFill>
                  <a:srgbClr val="64748B"/>
                </a:solidFill>
              </a:rPr>
              <a:t>Spring warns that classes without a package declaration can cause broad scanning and unexpected behavior.</a:t>
            </a:r>
            <a:endParaRPr lang="en-US" sz="1280" dirty="0"/>
          </a:p>
        </p:txBody>
      </p:sp>
      <p:sp>
        <p:nvSpPr>
          <p:cNvPr id="18" name="Shape 16"/>
          <p:cNvSpPr/>
          <p:nvPr/>
        </p:nvSpPr>
        <p:spPr>
          <a:xfrm>
            <a:off x="7086600" y="4617720"/>
            <a:ext cx="4297680" cy="1051560"/>
          </a:xfrm>
          <a:prstGeom prst="roundRect">
            <a:avLst>
              <a:gd name="adj" fmla="val 6957"/>
            </a:avLst>
          </a:prstGeom>
          <a:solidFill>
            <a:srgbClr val="EAF2FF"/>
          </a:solidFill>
          <a:ln w="12700">
            <a:solidFill>
              <a:srgbClr val="D8E2D2"/>
            </a:solidFill>
            <a:prstDash val="solid"/>
          </a:ln>
          <a:effectLst>
            <a:outerShdw blurRad="19050" dist="50800" dir="2700000" algn="bl" rotWithShape="0">
              <a:srgbClr val="D1D5DB">
                <a:alpha val="12000"/>
              </a:srgbClr>
            </a:outerShdw>
          </a:effectLst>
        </p:spPr>
      </p:sp>
      <p:sp>
        <p:nvSpPr>
          <p:cNvPr id="19" name="Shape 17"/>
          <p:cNvSpPr/>
          <p:nvPr/>
        </p:nvSpPr>
        <p:spPr>
          <a:xfrm>
            <a:off x="7086600" y="4617720"/>
            <a:ext cx="73152" cy="1051560"/>
          </a:xfrm>
          <a:prstGeom prst="rect">
            <a:avLst/>
          </a:prstGeom>
          <a:solidFill>
            <a:srgbClr val="2563EB"/>
          </a:solidFill>
          <a:ln w="12700">
            <a:solidFill>
              <a:srgbClr val="2563EB"/>
            </a:solidFill>
            <a:prstDash val="solid"/>
          </a:ln>
        </p:spPr>
      </p:sp>
      <p:sp>
        <p:nvSpPr>
          <p:cNvPr id="20" name="Shape 18"/>
          <p:cNvSpPr/>
          <p:nvPr/>
        </p:nvSpPr>
        <p:spPr>
          <a:xfrm>
            <a:off x="7251192" y="4782312"/>
            <a:ext cx="438912" cy="438912"/>
          </a:xfrm>
          <a:prstGeom prst="ellipse">
            <a:avLst/>
          </a:prstGeom>
          <a:solidFill>
            <a:srgbClr val="2563EB"/>
          </a:solidFill>
          <a:ln w="12700">
            <a:solidFill>
              <a:srgbClr val="2563EB"/>
            </a:solidFill>
            <a:prstDash val="solid"/>
          </a:ln>
        </p:spPr>
      </p:sp>
      <p:sp>
        <p:nvSpPr>
          <p:cNvPr id="21" name="Text 19"/>
          <p:cNvSpPr/>
          <p:nvPr/>
        </p:nvSpPr>
        <p:spPr>
          <a:xfrm>
            <a:off x="7251192" y="4818888"/>
            <a:ext cx="438912" cy="292608"/>
          </a:xfrm>
          <a:prstGeom prst="rect">
            <a:avLst/>
          </a:prstGeom>
          <a:noFill/>
          <a:ln/>
        </p:spPr>
        <p:txBody>
          <a:bodyPr wrap="square" lIns="0" tIns="0" rIns="0" bIns="0" rtlCol="0" anchor="ctr"/>
          <a:lstStyle/>
          <a:p>
            <a:pPr marL="0" indent="0" algn="ctr">
              <a:buNone/>
            </a:pPr>
            <a:r>
              <a:rPr lang="en-US" sz="1500" b="1" dirty="0">
                <a:solidFill>
                  <a:srgbClr val="FFFFFF"/>
                </a:solidFill>
              </a:rPr>
              <a:t>P</a:t>
            </a:r>
            <a:endParaRPr lang="en-US" sz="1500" dirty="0"/>
          </a:p>
        </p:txBody>
      </p:sp>
      <p:sp>
        <p:nvSpPr>
          <p:cNvPr id="22" name="Text 20"/>
          <p:cNvSpPr/>
          <p:nvPr/>
        </p:nvSpPr>
        <p:spPr>
          <a:xfrm>
            <a:off x="7799832" y="4764024"/>
            <a:ext cx="3419856" cy="310896"/>
          </a:xfrm>
          <a:prstGeom prst="rect">
            <a:avLst/>
          </a:prstGeom>
          <a:noFill/>
          <a:ln/>
        </p:spPr>
        <p:txBody>
          <a:bodyPr wrap="square" lIns="0" tIns="0" rIns="0" bIns="0" rtlCol="0" anchor="ctr">
            <a:normAutofit/>
          </a:bodyPr>
          <a:lstStyle/>
          <a:p>
            <a:pPr marL="0" indent="0">
              <a:buNone/>
            </a:pPr>
            <a:r>
              <a:rPr lang="en-US" sz="1650" b="1" dirty="0">
                <a:solidFill>
                  <a:srgbClr val="1F2937"/>
                </a:solidFill>
              </a:rPr>
              <a:t>Package naming</a:t>
            </a:r>
            <a:endParaRPr lang="en-US" sz="1650" dirty="0"/>
          </a:p>
        </p:txBody>
      </p:sp>
      <p:sp>
        <p:nvSpPr>
          <p:cNvPr id="23" name="Text 21"/>
          <p:cNvSpPr/>
          <p:nvPr/>
        </p:nvSpPr>
        <p:spPr>
          <a:xfrm>
            <a:off x="7269480" y="5276088"/>
            <a:ext cx="3931920" cy="246888"/>
          </a:xfrm>
          <a:prstGeom prst="rect">
            <a:avLst/>
          </a:prstGeom>
          <a:noFill/>
          <a:ln/>
        </p:spPr>
        <p:txBody>
          <a:bodyPr wrap="square" lIns="254" tIns="254" rIns="254" bIns="254" rtlCol="0" anchor="t">
            <a:normAutofit/>
          </a:bodyPr>
          <a:lstStyle/>
          <a:p>
            <a:pPr marL="0" indent="0">
              <a:buNone/>
            </a:pPr>
            <a:r>
              <a:rPr lang="en-US" sz="1280" dirty="0">
                <a:solidFill>
                  <a:srgbClr val="64748B"/>
                </a:solidFill>
              </a:rPr>
              <a:t>Use normal Java package naming conventions such as com.example.project.</a:t>
            </a:r>
            <a:endParaRPr lang="en-US" sz="1280" dirty="0"/>
          </a:p>
        </p:txBody>
      </p:sp>
      <p:sp>
        <p:nvSpPr>
          <p:cNvPr id="24" name="Text 22"/>
          <p:cNvSpPr/>
          <p:nvPr/>
        </p:nvSpPr>
        <p:spPr>
          <a:xfrm>
            <a:off x="530352" y="6208776"/>
            <a:ext cx="10881360" cy="182880"/>
          </a:xfrm>
          <a:prstGeom prst="rect">
            <a:avLst/>
          </a:prstGeom>
          <a:noFill/>
          <a:ln/>
        </p:spPr>
        <p:txBody>
          <a:bodyPr wrap="square" lIns="0" tIns="0" rIns="0" bIns="0" rtlCol="0" anchor="ctr">
            <a:normAutofit/>
          </a:bodyPr>
          <a:lstStyle/>
          <a:p>
            <a:pPr marL="0" indent="0">
              <a:buNone/>
            </a:pPr>
            <a:r>
              <a:rPr lang="en-US" sz="780" i="1" dirty="0">
                <a:solidFill>
                  <a:srgbClr val="7B8794"/>
                </a:solidFill>
                <a:latin typeface="Arial" pitchFamily="34" charset="0"/>
                <a:ea typeface="Arial" pitchFamily="34" charset="-122"/>
                <a:cs typeface="Arial" pitchFamily="34" charset="-120"/>
              </a:rPr>
              <a:t>Official source: Spring Boot Reference — Structuring Your Code. Tree redrawn from the official example.</a:t>
            </a:r>
            <a:endParaRPr lang="en-US" sz="780" dirty="0"/>
          </a:p>
        </p:txBody>
      </p:sp>
      <p:sp>
        <p:nvSpPr>
          <p:cNvPr id="25" name="Slide Number Placeholder 0"/>
          <p:cNvSpPr>
            <a:spLocks noGrp="1"/>
          </p:cNvSpPr>
          <p:nvPr>
            <p:ph type="sldNum" sz="quarter" idx="4294967295"/>
          </p:nvPr>
        </p:nvSpPr>
        <p:spPr>
          <a:xfrm>
            <a:off x="11384280" y="6473952"/>
            <a:ext cx="384048"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latin typeface="Arial"/>
                <a:ea typeface="Arial"/>
                <a:cs typeface="Aria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02920" y="310896"/>
            <a:ext cx="11064240" cy="475488"/>
          </a:xfrm>
          <a:prstGeom prst="rect">
            <a:avLst/>
          </a:prstGeom>
          <a:noFill/>
          <a:ln/>
        </p:spPr>
        <p:txBody>
          <a:bodyPr wrap="square" lIns="0" tIns="0" rIns="0" bIns="0" rtlCol="0" anchor="ctr">
            <a:normAutofit/>
          </a:bodyPr>
          <a:lstStyle/>
          <a:p>
            <a:pPr marL="0" indent="0">
              <a:buNone/>
            </a:pPr>
            <a:r>
              <a:rPr lang="en-US" sz="2700" b="1" dirty="0">
                <a:solidFill>
                  <a:srgbClr val="1F2937"/>
                </a:solidFill>
                <a:latin typeface="Arial" pitchFamily="34" charset="0"/>
                <a:ea typeface="Arial" pitchFamily="34" charset="-122"/>
                <a:cs typeface="Arial" pitchFamily="34" charset="-120"/>
              </a:rPr>
              <a:t>Expanded Spring Boot production structure</a:t>
            </a:r>
            <a:endParaRPr lang="en-US" sz="2700" dirty="0"/>
          </a:p>
        </p:txBody>
      </p:sp>
      <p:sp>
        <p:nvSpPr>
          <p:cNvPr id="3" name="Text 1"/>
          <p:cNvSpPr/>
          <p:nvPr/>
        </p:nvSpPr>
        <p:spPr>
          <a:xfrm>
            <a:off x="530352" y="804672"/>
            <a:ext cx="10881360" cy="310896"/>
          </a:xfrm>
          <a:prstGeom prst="rect">
            <a:avLst/>
          </a:prstGeom>
          <a:noFill/>
          <a:ln/>
        </p:spPr>
        <p:txBody>
          <a:bodyPr wrap="square" lIns="0" tIns="0" rIns="0" bIns="0" rtlCol="0" anchor="ctr">
            <a:normAutofit/>
          </a:bodyPr>
          <a:lstStyle/>
          <a:p>
            <a:pPr marL="0" indent="0">
              <a:buNone/>
            </a:pPr>
            <a:r>
              <a:rPr lang="en-US" sz="1250" dirty="0">
                <a:solidFill>
                  <a:srgbClr val="64748B"/>
                </a:solidFill>
                <a:latin typeface="Arial" pitchFamily="34" charset="0"/>
                <a:ea typeface="Arial" pitchFamily="34" charset="-122"/>
                <a:cs typeface="Arial" pitchFamily="34" charset="-120"/>
              </a:rPr>
              <a:t>A beginner-friendly layered layout for a REST + JPA application</a:t>
            </a:r>
            <a:endParaRPr lang="en-US" sz="1250" dirty="0"/>
          </a:p>
        </p:txBody>
      </p:sp>
      <p:sp>
        <p:nvSpPr>
          <p:cNvPr id="4" name="Shape 2"/>
          <p:cNvSpPr/>
          <p:nvPr/>
        </p:nvSpPr>
        <p:spPr>
          <a:xfrm>
            <a:off x="566928" y="1243584"/>
            <a:ext cx="6720840" cy="4983480"/>
          </a:xfrm>
          <a:prstGeom prst="roundRect">
            <a:avLst>
              <a:gd name="adj" fmla="val 734"/>
            </a:avLst>
          </a:prstGeom>
          <a:solidFill>
            <a:srgbClr val="FBFDF9"/>
          </a:solidFill>
          <a:ln w="12700">
            <a:solidFill>
              <a:srgbClr val="D5E4CE"/>
            </a:solidFill>
            <a:prstDash val="solid"/>
          </a:ln>
        </p:spPr>
      </p:sp>
      <p:sp>
        <p:nvSpPr>
          <p:cNvPr id="5" name="Text 3"/>
          <p:cNvSpPr/>
          <p:nvPr/>
        </p:nvSpPr>
        <p:spPr>
          <a:xfrm>
            <a:off x="731520" y="1371600"/>
            <a:ext cx="6391656" cy="4727448"/>
          </a:xfrm>
          <a:prstGeom prst="rect">
            <a:avLst/>
          </a:prstGeom>
          <a:noFill/>
          <a:ln/>
        </p:spPr>
        <p:txBody>
          <a:bodyPr wrap="square" lIns="254" tIns="254" rIns="254" bIns="254" rtlCol="0" anchor="t">
            <a:normAutofit/>
          </a:bodyPr>
          <a:lstStyle/>
          <a:p>
            <a:pPr marL="0" indent="0">
              <a:buNone/>
            </a:pPr>
            <a:r>
              <a:rPr lang="en-US" sz="1270" dirty="0">
                <a:solidFill>
                  <a:srgbClr val="1F2937"/>
                </a:solidFill>
                <a:latin typeface="Courier New" pitchFamily="34" charset="0"/>
                <a:ea typeface="Courier New" pitchFamily="34" charset="-122"/>
                <a:cs typeface="Courier New" pitchFamily="34" charset="-120"/>
              </a:rPr>
              <a:t>src/main/java/com/example/employee/</a:t>
            </a:r>
            <a:endParaRPr lang="en-US" sz="1270" dirty="0"/>
          </a:p>
          <a:p>
            <a:pPr marL="0" indent="0">
              <a:buNone/>
            </a:pPr>
            <a:r>
              <a:rPr lang="en-US" sz="1270" dirty="0">
                <a:solidFill>
                  <a:srgbClr val="1F2937"/>
                </a:solidFill>
                <a:latin typeface="Courier New" pitchFamily="34" charset="0"/>
                <a:ea typeface="Courier New" pitchFamily="34" charset="-122"/>
                <a:cs typeface="Courier New" pitchFamily="34" charset="-120"/>
              </a:rPr>
              <a:t>├─ EmployeeApplication.java</a:t>
            </a:r>
            <a:endParaRPr lang="en-US" sz="1270" dirty="0"/>
          </a:p>
          <a:p>
            <a:pPr marL="0" indent="0">
              <a:buNone/>
            </a:pPr>
            <a:r>
              <a:rPr lang="en-US" sz="1270" dirty="0">
                <a:solidFill>
                  <a:srgbClr val="1F2937"/>
                </a:solidFill>
                <a:latin typeface="Courier New" pitchFamily="34" charset="0"/>
                <a:ea typeface="Courier New" pitchFamily="34" charset="-122"/>
                <a:cs typeface="Courier New" pitchFamily="34" charset="-120"/>
              </a:rPr>
              <a:t>├─ controller/</a:t>
            </a:r>
            <a:endParaRPr lang="en-US" sz="1270" dirty="0"/>
          </a:p>
          <a:p>
            <a:pPr marL="0" indent="0">
              <a:buNone/>
            </a:pPr>
            <a:r>
              <a:rPr lang="en-US" sz="1270" dirty="0">
                <a:solidFill>
                  <a:srgbClr val="1F2937"/>
                </a:solidFill>
                <a:latin typeface="Courier New" pitchFamily="34" charset="0"/>
                <a:ea typeface="Courier New" pitchFamily="34" charset="-122"/>
                <a:cs typeface="Courier New" pitchFamily="34" charset="-120"/>
              </a:rPr>
              <a:t>│  └─ EmployeeController.java</a:t>
            </a:r>
            <a:endParaRPr lang="en-US" sz="1270" dirty="0"/>
          </a:p>
          <a:p>
            <a:pPr marL="0" indent="0">
              <a:buNone/>
            </a:pPr>
            <a:r>
              <a:rPr lang="en-US" sz="1270" dirty="0">
                <a:solidFill>
                  <a:srgbClr val="1F2937"/>
                </a:solidFill>
                <a:latin typeface="Courier New" pitchFamily="34" charset="0"/>
                <a:ea typeface="Courier New" pitchFamily="34" charset="-122"/>
                <a:cs typeface="Courier New" pitchFamily="34" charset="-120"/>
              </a:rPr>
              <a:t>├─ service/</a:t>
            </a:r>
            <a:endParaRPr lang="en-US" sz="1270" dirty="0"/>
          </a:p>
          <a:p>
            <a:pPr marL="0" indent="0">
              <a:buNone/>
            </a:pPr>
            <a:r>
              <a:rPr lang="en-US" sz="1270" dirty="0">
                <a:solidFill>
                  <a:srgbClr val="1F2937"/>
                </a:solidFill>
                <a:latin typeface="Courier New" pitchFamily="34" charset="0"/>
                <a:ea typeface="Courier New" pitchFamily="34" charset="-122"/>
                <a:cs typeface="Courier New" pitchFamily="34" charset="-120"/>
              </a:rPr>
              <a:t>│  ├─ EmployeeService.java</a:t>
            </a:r>
            <a:endParaRPr lang="en-US" sz="1270" dirty="0"/>
          </a:p>
          <a:p>
            <a:pPr marL="0" indent="0">
              <a:buNone/>
            </a:pPr>
            <a:r>
              <a:rPr lang="en-US" sz="1270" dirty="0">
                <a:solidFill>
                  <a:srgbClr val="1F2937"/>
                </a:solidFill>
                <a:latin typeface="Courier New" pitchFamily="34" charset="0"/>
                <a:ea typeface="Courier New" pitchFamily="34" charset="-122"/>
                <a:cs typeface="Courier New" pitchFamily="34" charset="-120"/>
              </a:rPr>
              <a:t>│  └─ EmployeeServiceImpl.java      (optional pattern)</a:t>
            </a:r>
            <a:endParaRPr lang="en-US" sz="1270" dirty="0"/>
          </a:p>
          <a:p>
            <a:pPr marL="0" indent="0">
              <a:buNone/>
            </a:pPr>
            <a:r>
              <a:rPr lang="en-US" sz="1270" dirty="0">
                <a:solidFill>
                  <a:srgbClr val="1F2937"/>
                </a:solidFill>
                <a:latin typeface="Courier New" pitchFamily="34" charset="0"/>
                <a:ea typeface="Courier New" pitchFamily="34" charset="-122"/>
                <a:cs typeface="Courier New" pitchFamily="34" charset="-120"/>
              </a:rPr>
              <a:t>├─ repository/</a:t>
            </a:r>
            <a:endParaRPr lang="en-US" sz="1270" dirty="0"/>
          </a:p>
          <a:p>
            <a:pPr marL="0" indent="0">
              <a:buNone/>
            </a:pPr>
            <a:r>
              <a:rPr lang="en-US" sz="1270" dirty="0">
                <a:solidFill>
                  <a:srgbClr val="1F2937"/>
                </a:solidFill>
                <a:latin typeface="Courier New" pitchFamily="34" charset="0"/>
                <a:ea typeface="Courier New" pitchFamily="34" charset="-122"/>
                <a:cs typeface="Courier New" pitchFamily="34" charset="-120"/>
              </a:rPr>
              <a:t>│  └─ EmployeeRepository.java</a:t>
            </a:r>
            <a:endParaRPr lang="en-US" sz="1270" dirty="0"/>
          </a:p>
          <a:p>
            <a:pPr marL="0" indent="0">
              <a:buNone/>
            </a:pPr>
            <a:r>
              <a:rPr lang="en-US" sz="1270" dirty="0">
                <a:solidFill>
                  <a:srgbClr val="1F2937"/>
                </a:solidFill>
                <a:latin typeface="Courier New" pitchFamily="34" charset="0"/>
                <a:ea typeface="Courier New" pitchFamily="34" charset="-122"/>
                <a:cs typeface="Courier New" pitchFamily="34" charset="-120"/>
              </a:rPr>
              <a:t>├─ entity/</a:t>
            </a:r>
            <a:endParaRPr lang="en-US" sz="1270" dirty="0"/>
          </a:p>
          <a:p>
            <a:pPr marL="0" indent="0">
              <a:buNone/>
            </a:pPr>
            <a:r>
              <a:rPr lang="en-US" sz="1270" dirty="0">
                <a:solidFill>
                  <a:srgbClr val="1F2937"/>
                </a:solidFill>
                <a:latin typeface="Courier New" pitchFamily="34" charset="0"/>
                <a:ea typeface="Courier New" pitchFamily="34" charset="-122"/>
                <a:cs typeface="Courier New" pitchFamily="34" charset="-120"/>
              </a:rPr>
              <a:t>│  └─ Employee.java</a:t>
            </a:r>
            <a:endParaRPr lang="en-US" sz="1270" dirty="0"/>
          </a:p>
          <a:p>
            <a:pPr marL="0" indent="0">
              <a:buNone/>
            </a:pPr>
            <a:r>
              <a:rPr lang="en-US" sz="1270" dirty="0">
                <a:solidFill>
                  <a:srgbClr val="1F2937"/>
                </a:solidFill>
                <a:latin typeface="Courier New" pitchFamily="34" charset="0"/>
                <a:ea typeface="Courier New" pitchFamily="34" charset="-122"/>
                <a:cs typeface="Courier New" pitchFamily="34" charset="-120"/>
              </a:rPr>
              <a:t>├─ dto/</a:t>
            </a:r>
            <a:endParaRPr lang="en-US" sz="1270" dirty="0"/>
          </a:p>
          <a:p>
            <a:pPr marL="0" indent="0">
              <a:buNone/>
            </a:pPr>
            <a:r>
              <a:rPr lang="en-US" sz="1270" dirty="0">
                <a:solidFill>
                  <a:srgbClr val="1F2937"/>
                </a:solidFill>
                <a:latin typeface="Courier New" pitchFamily="34" charset="0"/>
                <a:ea typeface="Courier New" pitchFamily="34" charset="-122"/>
                <a:cs typeface="Courier New" pitchFamily="34" charset="-120"/>
              </a:rPr>
              <a:t>│  ├─ EmployeeRequest.java</a:t>
            </a:r>
            <a:endParaRPr lang="en-US" sz="1270" dirty="0"/>
          </a:p>
          <a:p>
            <a:pPr marL="0" indent="0">
              <a:buNone/>
            </a:pPr>
            <a:r>
              <a:rPr lang="en-US" sz="1270" dirty="0">
                <a:solidFill>
                  <a:srgbClr val="1F2937"/>
                </a:solidFill>
                <a:latin typeface="Courier New" pitchFamily="34" charset="0"/>
                <a:ea typeface="Courier New" pitchFamily="34" charset="-122"/>
                <a:cs typeface="Courier New" pitchFamily="34" charset="-120"/>
              </a:rPr>
              <a:t>│  └─ EmployeeResponse.java</a:t>
            </a:r>
            <a:endParaRPr lang="en-US" sz="1270" dirty="0"/>
          </a:p>
          <a:p>
            <a:pPr marL="0" indent="0">
              <a:buNone/>
            </a:pPr>
            <a:r>
              <a:rPr lang="en-US" sz="1270" dirty="0">
                <a:solidFill>
                  <a:srgbClr val="1F2937"/>
                </a:solidFill>
                <a:latin typeface="Courier New" pitchFamily="34" charset="0"/>
                <a:ea typeface="Courier New" pitchFamily="34" charset="-122"/>
                <a:cs typeface="Courier New" pitchFamily="34" charset="-120"/>
              </a:rPr>
              <a:t>├─ config/</a:t>
            </a:r>
            <a:endParaRPr lang="en-US" sz="1270" dirty="0"/>
          </a:p>
          <a:p>
            <a:pPr marL="0" indent="0">
              <a:buNone/>
            </a:pPr>
            <a:r>
              <a:rPr lang="en-US" sz="1270" dirty="0">
                <a:solidFill>
                  <a:srgbClr val="1F2937"/>
                </a:solidFill>
                <a:latin typeface="Courier New" pitchFamily="34" charset="0"/>
                <a:ea typeface="Courier New" pitchFamily="34" charset="-122"/>
                <a:cs typeface="Courier New" pitchFamily="34" charset="-120"/>
              </a:rPr>
              <a:t>│  └─ AppConfig.java</a:t>
            </a:r>
            <a:endParaRPr lang="en-US" sz="1270" dirty="0"/>
          </a:p>
          <a:p>
            <a:pPr marL="0" indent="0">
              <a:buNone/>
            </a:pPr>
            <a:r>
              <a:rPr lang="en-US" sz="1270" dirty="0">
                <a:solidFill>
                  <a:srgbClr val="1F2937"/>
                </a:solidFill>
                <a:latin typeface="Courier New" pitchFamily="34" charset="0"/>
                <a:ea typeface="Courier New" pitchFamily="34" charset="-122"/>
                <a:cs typeface="Courier New" pitchFamily="34" charset="-120"/>
              </a:rPr>
              <a:t>├─ exception/</a:t>
            </a:r>
            <a:endParaRPr lang="en-US" sz="1270" dirty="0"/>
          </a:p>
          <a:p>
            <a:pPr marL="0" indent="0">
              <a:buNone/>
            </a:pPr>
            <a:r>
              <a:rPr lang="en-US" sz="1270" dirty="0">
                <a:solidFill>
                  <a:srgbClr val="1F2937"/>
                </a:solidFill>
                <a:latin typeface="Courier New" pitchFamily="34" charset="0"/>
                <a:ea typeface="Courier New" pitchFamily="34" charset="-122"/>
                <a:cs typeface="Courier New" pitchFamily="34" charset="-120"/>
              </a:rPr>
              <a:t>│  ├─ EmployeeNotFoundException.java</a:t>
            </a:r>
            <a:endParaRPr lang="en-US" sz="1270" dirty="0"/>
          </a:p>
          <a:p>
            <a:pPr marL="0" indent="0">
              <a:buNone/>
            </a:pPr>
            <a:r>
              <a:rPr lang="en-US" sz="1270" dirty="0">
                <a:solidFill>
                  <a:srgbClr val="1F2937"/>
                </a:solidFill>
                <a:latin typeface="Courier New" pitchFamily="34" charset="0"/>
                <a:ea typeface="Courier New" pitchFamily="34" charset="-122"/>
                <a:cs typeface="Courier New" pitchFamily="34" charset="-120"/>
              </a:rPr>
              <a:t>│  └─ GlobalExceptionHandler.java</a:t>
            </a:r>
            <a:endParaRPr lang="en-US" sz="1270" dirty="0"/>
          </a:p>
          <a:p>
            <a:pPr marL="0" indent="0">
              <a:buNone/>
            </a:pPr>
            <a:r>
              <a:rPr lang="en-US" sz="1270" dirty="0">
                <a:solidFill>
                  <a:srgbClr val="1F2937"/>
                </a:solidFill>
                <a:latin typeface="Courier New" pitchFamily="34" charset="0"/>
                <a:ea typeface="Courier New" pitchFamily="34" charset="-122"/>
                <a:cs typeface="Courier New" pitchFamily="34" charset="-120"/>
              </a:rPr>
              <a:t>└─ util/                            (only when truly useful)</a:t>
            </a:r>
            <a:endParaRPr lang="en-US" sz="1270" dirty="0"/>
          </a:p>
        </p:txBody>
      </p:sp>
      <p:sp>
        <p:nvSpPr>
          <p:cNvPr id="6" name="Shape 4"/>
          <p:cNvSpPr/>
          <p:nvPr/>
        </p:nvSpPr>
        <p:spPr>
          <a:xfrm>
            <a:off x="7589520" y="1389888"/>
            <a:ext cx="3931920" cy="1097280"/>
          </a:xfrm>
          <a:prstGeom prst="roundRect">
            <a:avLst>
              <a:gd name="adj" fmla="val 6667"/>
            </a:avLst>
          </a:prstGeom>
          <a:solidFill>
            <a:srgbClr val="EEF7E8"/>
          </a:solidFill>
          <a:ln w="12700">
            <a:solidFill>
              <a:srgbClr val="D8E2D2"/>
            </a:solidFill>
            <a:prstDash val="solid"/>
          </a:ln>
          <a:effectLst>
            <a:outerShdw blurRad="19050" dist="50800" dir="2700000" algn="bl" rotWithShape="0">
              <a:srgbClr val="D1D5DB">
                <a:alpha val="12000"/>
              </a:srgbClr>
            </a:outerShdw>
          </a:effectLst>
        </p:spPr>
      </p:sp>
      <p:sp>
        <p:nvSpPr>
          <p:cNvPr id="7" name="Shape 5"/>
          <p:cNvSpPr/>
          <p:nvPr/>
        </p:nvSpPr>
        <p:spPr>
          <a:xfrm>
            <a:off x="7589520" y="1389888"/>
            <a:ext cx="73152" cy="1097280"/>
          </a:xfrm>
          <a:prstGeom prst="rect">
            <a:avLst/>
          </a:prstGeom>
          <a:solidFill>
            <a:srgbClr val="6DB33F"/>
          </a:solidFill>
          <a:ln w="12700">
            <a:solidFill>
              <a:srgbClr val="6DB33F"/>
            </a:solidFill>
            <a:prstDash val="solid"/>
          </a:ln>
        </p:spPr>
      </p:sp>
      <p:sp>
        <p:nvSpPr>
          <p:cNvPr id="8" name="Shape 6"/>
          <p:cNvSpPr/>
          <p:nvPr/>
        </p:nvSpPr>
        <p:spPr>
          <a:xfrm>
            <a:off x="7754112" y="1554480"/>
            <a:ext cx="438912" cy="438912"/>
          </a:xfrm>
          <a:prstGeom prst="ellipse">
            <a:avLst/>
          </a:prstGeom>
          <a:solidFill>
            <a:srgbClr val="6DB33F"/>
          </a:solidFill>
          <a:ln w="12700">
            <a:solidFill>
              <a:srgbClr val="6DB33F"/>
            </a:solidFill>
            <a:prstDash val="solid"/>
          </a:ln>
        </p:spPr>
      </p:sp>
      <p:sp>
        <p:nvSpPr>
          <p:cNvPr id="9" name="Text 7"/>
          <p:cNvSpPr/>
          <p:nvPr/>
        </p:nvSpPr>
        <p:spPr>
          <a:xfrm>
            <a:off x="7754112" y="1591056"/>
            <a:ext cx="438912" cy="292608"/>
          </a:xfrm>
          <a:prstGeom prst="rect">
            <a:avLst/>
          </a:prstGeom>
          <a:noFill/>
          <a:ln/>
        </p:spPr>
        <p:txBody>
          <a:bodyPr wrap="square" lIns="0" tIns="0" rIns="0" bIns="0" rtlCol="0" anchor="ctr"/>
          <a:lstStyle/>
          <a:p>
            <a:pPr marL="0" indent="0" algn="ctr">
              <a:buNone/>
            </a:pPr>
            <a:r>
              <a:rPr lang="en-US" sz="1500" b="1" dirty="0">
                <a:solidFill>
                  <a:srgbClr val="FFFFFF"/>
                </a:solidFill>
              </a:rPr>
              <a:t>M</a:t>
            </a:r>
            <a:endParaRPr lang="en-US" sz="1500" dirty="0"/>
          </a:p>
        </p:txBody>
      </p:sp>
      <p:sp>
        <p:nvSpPr>
          <p:cNvPr id="10" name="Text 8"/>
          <p:cNvSpPr/>
          <p:nvPr/>
        </p:nvSpPr>
        <p:spPr>
          <a:xfrm>
            <a:off x="8302752" y="1536192"/>
            <a:ext cx="3054096" cy="310896"/>
          </a:xfrm>
          <a:prstGeom prst="rect">
            <a:avLst/>
          </a:prstGeom>
          <a:noFill/>
          <a:ln/>
        </p:spPr>
        <p:txBody>
          <a:bodyPr wrap="square" lIns="0" tIns="0" rIns="0" bIns="0" rtlCol="0" anchor="ctr">
            <a:normAutofit/>
          </a:bodyPr>
          <a:lstStyle/>
          <a:p>
            <a:pPr marL="0" indent="0">
              <a:buNone/>
            </a:pPr>
            <a:r>
              <a:rPr lang="en-US" sz="1650" b="1" dirty="0">
                <a:solidFill>
                  <a:srgbClr val="1F2937"/>
                </a:solidFill>
              </a:rPr>
              <a:t>Minimum beginner set</a:t>
            </a:r>
            <a:endParaRPr lang="en-US" sz="1650" dirty="0"/>
          </a:p>
        </p:txBody>
      </p:sp>
      <p:sp>
        <p:nvSpPr>
          <p:cNvPr id="11" name="Text 9"/>
          <p:cNvSpPr/>
          <p:nvPr/>
        </p:nvSpPr>
        <p:spPr>
          <a:xfrm>
            <a:off x="7772400" y="2048256"/>
            <a:ext cx="3566160" cy="292608"/>
          </a:xfrm>
          <a:prstGeom prst="rect">
            <a:avLst/>
          </a:prstGeom>
          <a:noFill/>
          <a:ln/>
        </p:spPr>
        <p:txBody>
          <a:bodyPr wrap="square" lIns="254" tIns="254" rIns="254" bIns="254" rtlCol="0" anchor="t">
            <a:normAutofit/>
          </a:bodyPr>
          <a:lstStyle/>
          <a:p>
            <a:pPr marL="0" indent="0">
              <a:buNone/>
            </a:pPr>
            <a:r>
              <a:rPr lang="en-US" sz="1280" dirty="0">
                <a:solidFill>
                  <a:srgbClr val="64748B"/>
                </a:solidFill>
              </a:rPr>
              <a:t>Application + Controller + Service + Repository + Entity.</a:t>
            </a:r>
            <a:endParaRPr lang="en-US" sz="1280" dirty="0"/>
          </a:p>
        </p:txBody>
      </p:sp>
      <p:sp>
        <p:nvSpPr>
          <p:cNvPr id="12" name="Shape 10"/>
          <p:cNvSpPr/>
          <p:nvPr/>
        </p:nvSpPr>
        <p:spPr>
          <a:xfrm>
            <a:off x="7589520" y="2743200"/>
            <a:ext cx="3931920" cy="1097280"/>
          </a:xfrm>
          <a:prstGeom prst="roundRect">
            <a:avLst>
              <a:gd name="adj" fmla="val 6667"/>
            </a:avLst>
          </a:prstGeom>
          <a:solidFill>
            <a:srgbClr val="EAF2FF"/>
          </a:solidFill>
          <a:ln w="12700">
            <a:solidFill>
              <a:srgbClr val="D8E2D2"/>
            </a:solidFill>
            <a:prstDash val="solid"/>
          </a:ln>
          <a:effectLst>
            <a:outerShdw blurRad="19050" dist="50800" dir="2700000" algn="bl" rotWithShape="0">
              <a:srgbClr val="D1D5DB">
                <a:alpha val="12000"/>
              </a:srgbClr>
            </a:outerShdw>
          </a:effectLst>
        </p:spPr>
      </p:sp>
      <p:sp>
        <p:nvSpPr>
          <p:cNvPr id="13" name="Shape 11"/>
          <p:cNvSpPr/>
          <p:nvPr/>
        </p:nvSpPr>
        <p:spPr>
          <a:xfrm>
            <a:off x="7589520" y="2743200"/>
            <a:ext cx="73152" cy="1097280"/>
          </a:xfrm>
          <a:prstGeom prst="rect">
            <a:avLst/>
          </a:prstGeom>
          <a:solidFill>
            <a:srgbClr val="2563EB"/>
          </a:solidFill>
          <a:ln w="12700">
            <a:solidFill>
              <a:srgbClr val="2563EB"/>
            </a:solidFill>
            <a:prstDash val="solid"/>
          </a:ln>
        </p:spPr>
      </p:sp>
      <p:sp>
        <p:nvSpPr>
          <p:cNvPr id="14" name="Shape 12"/>
          <p:cNvSpPr/>
          <p:nvPr/>
        </p:nvSpPr>
        <p:spPr>
          <a:xfrm>
            <a:off x="7754112" y="2907792"/>
            <a:ext cx="438912" cy="438912"/>
          </a:xfrm>
          <a:prstGeom prst="ellipse">
            <a:avLst/>
          </a:prstGeom>
          <a:solidFill>
            <a:srgbClr val="2563EB"/>
          </a:solidFill>
          <a:ln w="12700">
            <a:solidFill>
              <a:srgbClr val="2563EB"/>
            </a:solidFill>
            <a:prstDash val="solid"/>
          </a:ln>
        </p:spPr>
      </p:sp>
      <p:sp>
        <p:nvSpPr>
          <p:cNvPr id="15" name="Text 13"/>
          <p:cNvSpPr/>
          <p:nvPr/>
        </p:nvSpPr>
        <p:spPr>
          <a:xfrm>
            <a:off x="7754112" y="2944368"/>
            <a:ext cx="438912" cy="292608"/>
          </a:xfrm>
          <a:prstGeom prst="rect">
            <a:avLst/>
          </a:prstGeom>
          <a:noFill/>
          <a:ln/>
        </p:spPr>
        <p:txBody>
          <a:bodyPr wrap="square" lIns="0" tIns="0" rIns="0" bIns="0" rtlCol="0" anchor="ctr"/>
          <a:lstStyle/>
          <a:p>
            <a:pPr marL="0" indent="0" algn="ctr">
              <a:buNone/>
            </a:pPr>
            <a:r>
              <a:rPr lang="en-US" sz="1500" b="1" dirty="0">
                <a:solidFill>
                  <a:srgbClr val="FFFFFF"/>
                </a:solidFill>
              </a:rPr>
              <a:t>+</a:t>
            </a:r>
            <a:endParaRPr lang="en-US" sz="1500" dirty="0"/>
          </a:p>
        </p:txBody>
      </p:sp>
      <p:sp>
        <p:nvSpPr>
          <p:cNvPr id="16" name="Text 14"/>
          <p:cNvSpPr/>
          <p:nvPr/>
        </p:nvSpPr>
        <p:spPr>
          <a:xfrm>
            <a:off x="8302752" y="2889504"/>
            <a:ext cx="3054096" cy="310896"/>
          </a:xfrm>
          <a:prstGeom prst="rect">
            <a:avLst/>
          </a:prstGeom>
          <a:noFill/>
          <a:ln/>
        </p:spPr>
        <p:txBody>
          <a:bodyPr wrap="square" lIns="0" tIns="0" rIns="0" bIns="0" rtlCol="0" anchor="ctr">
            <a:normAutofit/>
          </a:bodyPr>
          <a:lstStyle/>
          <a:p>
            <a:pPr marL="0" indent="0">
              <a:buNone/>
            </a:pPr>
            <a:r>
              <a:rPr lang="en-US" sz="1650" b="1" dirty="0">
                <a:solidFill>
                  <a:srgbClr val="1F2937"/>
                </a:solidFill>
              </a:rPr>
              <a:t>Add when needed</a:t>
            </a:r>
            <a:endParaRPr lang="en-US" sz="1650" dirty="0"/>
          </a:p>
        </p:txBody>
      </p:sp>
      <p:sp>
        <p:nvSpPr>
          <p:cNvPr id="17" name="Text 15"/>
          <p:cNvSpPr/>
          <p:nvPr/>
        </p:nvSpPr>
        <p:spPr>
          <a:xfrm>
            <a:off x="7772400" y="3401568"/>
            <a:ext cx="3566160" cy="292608"/>
          </a:xfrm>
          <a:prstGeom prst="rect">
            <a:avLst/>
          </a:prstGeom>
          <a:noFill/>
          <a:ln/>
        </p:spPr>
        <p:txBody>
          <a:bodyPr wrap="square" lIns="254" tIns="254" rIns="254" bIns="254" rtlCol="0" anchor="t">
            <a:normAutofit/>
          </a:bodyPr>
          <a:lstStyle/>
          <a:p>
            <a:pPr marL="0" indent="0">
              <a:buNone/>
            </a:pPr>
            <a:r>
              <a:rPr lang="en-US" sz="1280" dirty="0">
                <a:solidFill>
                  <a:srgbClr val="64748B"/>
                </a:solidFill>
              </a:rPr>
              <a:t>DTO, exception handling, configuration, validation and mapping helpers.</a:t>
            </a:r>
            <a:endParaRPr lang="en-US" sz="1280" dirty="0"/>
          </a:p>
        </p:txBody>
      </p:sp>
      <p:sp>
        <p:nvSpPr>
          <p:cNvPr id="18" name="Shape 16"/>
          <p:cNvSpPr/>
          <p:nvPr/>
        </p:nvSpPr>
        <p:spPr>
          <a:xfrm>
            <a:off x="7589520" y="4096512"/>
            <a:ext cx="3931920" cy="1417320"/>
          </a:xfrm>
          <a:prstGeom prst="roundRect">
            <a:avLst>
              <a:gd name="adj" fmla="val 5161"/>
            </a:avLst>
          </a:prstGeom>
          <a:solidFill>
            <a:srgbClr val="FFF4DB"/>
          </a:solidFill>
          <a:ln w="12700">
            <a:solidFill>
              <a:srgbClr val="D8E2D2"/>
            </a:solidFill>
            <a:prstDash val="solid"/>
          </a:ln>
          <a:effectLst>
            <a:outerShdw blurRad="19050" dist="50800" dir="2700000" algn="bl" rotWithShape="0">
              <a:srgbClr val="D1D5DB">
                <a:alpha val="12000"/>
              </a:srgbClr>
            </a:outerShdw>
          </a:effectLst>
        </p:spPr>
      </p:sp>
      <p:sp>
        <p:nvSpPr>
          <p:cNvPr id="19" name="Shape 17"/>
          <p:cNvSpPr/>
          <p:nvPr/>
        </p:nvSpPr>
        <p:spPr>
          <a:xfrm>
            <a:off x="7589520" y="4096512"/>
            <a:ext cx="73152" cy="1417320"/>
          </a:xfrm>
          <a:prstGeom prst="rect">
            <a:avLst/>
          </a:prstGeom>
          <a:solidFill>
            <a:srgbClr val="F59E0B"/>
          </a:solidFill>
          <a:ln w="12700">
            <a:solidFill>
              <a:srgbClr val="F59E0B"/>
            </a:solidFill>
            <a:prstDash val="solid"/>
          </a:ln>
        </p:spPr>
      </p:sp>
      <p:sp>
        <p:nvSpPr>
          <p:cNvPr id="20" name="Shape 18"/>
          <p:cNvSpPr/>
          <p:nvPr/>
        </p:nvSpPr>
        <p:spPr>
          <a:xfrm>
            <a:off x="7754112" y="4261104"/>
            <a:ext cx="438912" cy="438912"/>
          </a:xfrm>
          <a:prstGeom prst="ellipse">
            <a:avLst/>
          </a:prstGeom>
          <a:solidFill>
            <a:srgbClr val="F59E0B"/>
          </a:solidFill>
          <a:ln w="12700">
            <a:solidFill>
              <a:srgbClr val="F59E0B"/>
            </a:solidFill>
            <a:prstDash val="solid"/>
          </a:ln>
        </p:spPr>
      </p:sp>
      <p:sp>
        <p:nvSpPr>
          <p:cNvPr id="21" name="Text 19"/>
          <p:cNvSpPr/>
          <p:nvPr/>
        </p:nvSpPr>
        <p:spPr>
          <a:xfrm>
            <a:off x="7754112" y="4297680"/>
            <a:ext cx="438912" cy="292608"/>
          </a:xfrm>
          <a:prstGeom prst="rect">
            <a:avLst/>
          </a:prstGeom>
          <a:noFill/>
          <a:ln/>
        </p:spPr>
        <p:txBody>
          <a:bodyPr wrap="square" lIns="0" tIns="0" rIns="0" bIns="0" rtlCol="0" anchor="ctr"/>
          <a:lstStyle/>
          <a:p>
            <a:pPr marL="0" indent="0" algn="ctr">
              <a:buNone/>
            </a:pPr>
            <a:r>
              <a:rPr lang="en-US" sz="1500" b="1" dirty="0">
                <a:solidFill>
                  <a:srgbClr val="FFFFFF"/>
                </a:solidFill>
              </a:rPr>
              <a:t>!</a:t>
            </a:r>
            <a:endParaRPr lang="en-US" sz="1500" dirty="0"/>
          </a:p>
        </p:txBody>
      </p:sp>
      <p:sp>
        <p:nvSpPr>
          <p:cNvPr id="22" name="Text 20"/>
          <p:cNvSpPr/>
          <p:nvPr/>
        </p:nvSpPr>
        <p:spPr>
          <a:xfrm>
            <a:off x="8302752" y="4242816"/>
            <a:ext cx="3054096" cy="310896"/>
          </a:xfrm>
          <a:prstGeom prst="rect">
            <a:avLst/>
          </a:prstGeom>
          <a:noFill/>
          <a:ln/>
        </p:spPr>
        <p:txBody>
          <a:bodyPr wrap="square" lIns="0" tIns="0" rIns="0" bIns="0" rtlCol="0" anchor="ctr">
            <a:normAutofit/>
          </a:bodyPr>
          <a:lstStyle/>
          <a:p>
            <a:pPr marL="0" indent="0">
              <a:buNone/>
            </a:pPr>
            <a:r>
              <a:rPr lang="en-US" sz="1650" b="1" dirty="0">
                <a:solidFill>
                  <a:srgbClr val="1F2937"/>
                </a:solidFill>
              </a:rPr>
              <a:t>Avoid “folder for everything”</a:t>
            </a:r>
            <a:endParaRPr lang="en-US" sz="1650" dirty="0"/>
          </a:p>
        </p:txBody>
      </p:sp>
      <p:sp>
        <p:nvSpPr>
          <p:cNvPr id="23" name="Text 21"/>
          <p:cNvSpPr/>
          <p:nvPr/>
        </p:nvSpPr>
        <p:spPr>
          <a:xfrm>
            <a:off x="7772400" y="4754880"/>
            <a:ext cx="3566160" cy="612648"/>
          </a:xfrm>
          <a:prstGeom prst="rect">
            <a:avLst/>
          </a:prstGeom>
          <a:noFill/>
          <a:ln/>
        </p:spPr>
        <p:txBody>
          <a:bodyPr wrap="square" lIns="254" tIns="254" rIns="254" bIns="254" rtlCol="0" anchor="t">
            <a:normAutofit/>
          </a:bodyPr>
          <a:lstStyle/>
          <a:p>
            <a:pPr marL="0" indent="0">
              <a:buNone/>
            </a:pPr>
            <a:r>
              <a:rPr lang="en-US" sz="1280" dirty="0">
                <a:solidFill>
                  <a:srgbClr val="64748B"/>
                </a:solidFill>
              </a:rPr>
              <a:t>Create a package because it has a clear responsibility—not because a tutorial listed it.</a:t>
            </a:r>
            <a:endParaRPr lang="en-US" sz="1280" dirty="0"/>
          </a:p>
        </p:txBody>
      </p:sp>
      <p:sp>
        <p:nvSpPr>
          <p:cNvPr id="25" name="Slide Number Placeholder 0"/>
          <p:cNvSpPr>
            <a:spLocks noGrp="1"/>
          </p:cNvSpPr>
          <p:nvPr>
            <p:ph type="sldNum" sz="quarter" idx="4294967295"/>
          </p:nvPr>
        </p:nvSpPr>
        <p:spPr>
          <a:xfrm>
            <a:off x="11384280" y="6473952"/>
            <a:ext cx="384048"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latin typeface="Arial"/>
                <a:ea typeface="Arial"/>
                <a:cs typeface="Aria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02920" y="310896"/>
            <a:ext cx="11064240" cy="475488"/>
          </a:xfrm>
          <a:prstGeom prst="rect">
            <a:avLst/>
          </a:prstGeom>
          <a:noFill/>
          <a:ln/>
        </p:spPr>
        <p:txBody>
          <a:bodyPr wrap="square" lIns="0" tIns="0" rIns="0" bIns="0" rtlCol="0" anchor="ctr">
            <a:normAutofit/>
          </a:bodyPr>
          <a:lstStyle/>
          <a:p>
            <a:pPr marL="0" indent="0">
              <a:buNone/>
            </a:pPr>
            <a:r>
              <a:rPr lang="en-US" sz="2700" b="1" dirty="0">
                <a:solidFill>
                  <a:srgbClr val="1F2937"/>
                </a:solidFill>
                <a:latin typeface="Arial" pitchFamily="34" charset="0"/>
                <a:ea typeface="Arial" pitchFamily="34" charset="-122"/>
                <a:cs typeface="Arial" pitchFamily="34" charset="-120"/>
              </a:rPr>
              <a:t>pom.xml — the Maven control file</a:t>
            </a:r>
            <a:endParaRPr lang="en-US" sz="2700" dirty="0"/>
          </a:p>
        </p:txBody>
      </p:sp>
      <p:sp>
        <p:nvSpPr>
          <p:cNvPr id="3" name="Text 1"/>
          <p:cNvSpPr/>
          <p:nvPr/>
        </p:nvSpPr>
        <p:spPr>
          <a:xfrm>
            <a:off x="530352" y="804672"/>
            <a:ext cx="10881360" cy="310896"/>
          </a:xfrm>
          <a:prstGeom prst="rect">
            <a:avLst/>
          </a:prstGeom>
          <a:noFill/>
          <a:ln/>
        </p:spPr>
        <p:txBody>
          <a:bodyPr wrap="square" lIns="0" tIns="0" rIns="0" bIns="0" rtlCol="0" anchor="ctr">
            <a:normAutofit/>
          </a:bodyPr>
          <a:lstStyle/>
          <a:p>
            <a:pPr marL="0" indent="0">
              <a:buNone/>
            </a:pPr>
            <a:r>
              <a:rPr lang="en-US" sz="1250" dirty="0">
                <a:solidFill>
                  <a:srgbClr val="64748B"/>
                </a:solidFill>
                <a:latin typeface="Arial" pitchFamily="34" charset="0"/>
                <a:ea typeface="Arial" pitchFamily="34" charset="-122"/>
                <a:cs typeface="Arial" pitchFamily="34" charset="-120"/>
              </a:rPr>
              <a:t>Project identity, dependencies, plugins and build behavior live here</a:t>
            </a:r>
            <a:endParaRPr lang="en-US" sz="1250" dirty="0"/>
          </a:p>
        </p:txBody>
      </p:sp>
      <p:sp>
        <p:nvSpPr>
          <p:cNvPr id="4" name="Shape 2"/>
          <p:cNvSpPr/>
          <p:nvPr/>
        </p:nvSpPr>
        <p:spPr>
          <a:xfrm>
            <a:off x="594360" y="1261872"/>
            <a:ext cx="5852160" cy="4754880"/>
          </a:xfrm>
          <a:prstGeom prst="roundRect">
            <a:avLst>
              <a:gd name="adj" fmla="val 962"/>
            </a:avLst>
          </a:prstGeom>
          <a:solidFill>
            <a:srgbClr val="111827"/>
          </a:solidFill>
          <a:ln w="12700">
            <a:solidFill>
              <a:srgbClr val="111827"/>
            </a:solidFill>
            <a:prstDash val="solid"/>
          </a:ln>
        </p:spPr>
      </p:sp>
      <p:sp>
        <p:nvSpPr>
          <p:cNvPr id="5" name="Text 3"/>
          <p:cNvSpPr/>
          <p:nvPr/>
        </p:nvSpPr>
        <p:spPr>
          <a:xfrm>
            <a:off x="758952" y="1389888"/>
            <a:ext cx="5522976" cy="4498848"/>
          </a:xfrm>
          <a:prstGeom prst="rect">
            <a:avLst/>
          </a:prstGeom>
          <a:noFill/>
          <a:ln/>
        </p:spPr>
        <p:txBody>
          <a:bodyPr wrap="square" lIns="254" tIns="254" rIns="254" bIns="254" rtlCol="0" anchor="t">
            <a:normAutofit/>
          </a:bodyPr>
          <a:lstStyle/>
          <a:p>
            <a:pPr marL="0" indent="0">
              <a:buNone/>
            </a:pPr>
            <a:r>
              <a:rPr lang="en-US" sz="1210" dirty="0">
                <a:solidFill>
                  <a:srgbClr val="E5E7EB"/>
                </a:solidFill>
                <a:latin typeface="Courier New" pitchFamily="34" charset="0"/>
                <a:ea typeface="Courier New" pitchFamily="34" charset="-122"/>
                <a:cs typeface="Courier New" pitchFamily="34" charset="-120"/>
              </a:rPr>
              <a:t>&lt;parent&gt; ... spring-boot-starter-parent ... &lt;/parent&gt;</a:t>
            </a:r>
            <a:endParaRPr lang="en-US" sz="1210" dirty="0"/>
          </a:p>
          <a:p>
            <a:pPr marL="0" indent="0">
              <a:buNone/>
            </a:pPr>
            <a:endParaRPr lang="en-US" sz="1210" dirty="0"/>
          </a:p>
          <a:p>
            <a:pPr marL="0" indent="0">
              <a:buNone/>
            </a:pPr>
            <a:r>
              <a:rPr lang="en-US" sz="1210" dirty="0">
                <a:solidFill>
                  <a:srgbClr val="E5E7EB"/>
                </a:solidFill>
                <a:latin typeface="Courier New" pitchFamily="34" charset="0"/>
                <a:ea typeface="Courier New" pitchFamily="34" charset="-122"/>
                <a:cs typeface="Courier New" pitchFamily="34" charset="-120"/>
              </a:rPr>
              <a:t>&lt;groupId&gt;com.example&lt;/groupId&gt;</a:t>
            </a:r>
            <a:endParaRPr lang="en-US" sz="1210" dirty="0"/>
          </a:p>
          <a:p>
            <a:pPr marL="0" indent="0">
              <a:buNone/>
            </a:pPr>
            <a:r>
              <a:rPr lang="en-US" sz="1210" dirty="0">
                <a:solidFill>
                  <a:srgbClr val="E5E7EB"/>
                </a:solidFill>
                <a:latin typeface="Courier New" pitchFamily="34" charset="0"/>
                <a:ea typeface="Courier New" pitchFamily="34" charset="-122"/>
                <a:cs typeface="Courier New" pitchFamily="34" charset="-120"/>
              </a:rPr>
              <a:t>&lt;artifactId&gt;employee-demo&lt;/artifactId&gt;</a:t>
            </a:r>
            <a:endParaRPr lang="en-US" sz="1210" dirty="0"/>
          </a:p>
          <a:p>
            <a:pPr marL="0" indent="0">
              <a:buNone/>
            </a:pPr>
            <a:r>
              <a:rPr lang="en-US" sz="1210" dirty="0">
                <a:solidFill>
                  <a:srgbClr val="E5E7EB"/>
                </a:solidFill>
                <a:latin typeface="Courier New" pitchFamily="34" charset="0"/>
                <a:ea typeface="Courier New" pitchFamily="34" charset="-122"/>
                <a:cs typeface="Courier New" pitchFamily="34" charset="-120"/>
              </a:rPr>
              <a:t>&lt;version&gt;0.0.1-SNAPSHOT&lt;/version&gt;</a:t>
            </a:r>
            <a:endParaRPr lang="en-US" sz="1210" dirty="0"/>
          </a:p>
          <a:p>
            <a:pPr marL="0" indent="0">
              <a:buNone/>
            </a:pPr>
            <a:endParaRPr lang="en-US" sz="1210" dirty="0"/>
          </a:p>
          <a:p>
            <a:pPr marL="0" indent="0">
              <a:buNone/>
            </a:pPr>
            <a:r>
              <a:rPr lang="en-US" sz="1210" dirty="0">
                <a:solidFill>
                  <a:srgbClr val="E5E7EB"/>
                </a:solidFill>
                <a:latin typeface="Courier New" pitchFamily="34" charset="0"/>
                <a:ea typeface="Courier New" pitchFamily="34" charset="-122"/>
                <a:cs typeface="Courier New" pitchFamily="34" charset="-120"/>
              </a:rPr>
              <a:t>&lt;properties&gt;</a:t>
            </a:r>
            <a:endParaRPr lang="en-US" sz="1210" dirty="0"/>
          </a:p>
          <a:p>
            <a:pPr marL="0" indent="0">
              <a:buNone/>
            </a:pPr>
            <a:r>
              <a:rPr lang="en-US" sz="1210" dirty="0">
                <a:solidFill>
                  <a:srgbClr val="E5E7EB"/>
                </a:solidFill>
                <a:latin typeface="Courier New" pitchFamily="34" charset="0"/>
                <a:ea typeface="Courier New" pitchFamily="34" charset="-122"/>
                <a:cs typeface="Courier New" pitchFamily="34" charset="-120"/>
              </a:rPr>
              <a:t>  &lt;java.version&gt;21&lt;/java.version&gt;</a:t>
            </a:r>
            <a:endParaRPr lang="en-US" sz="1210" dirty="0"/>
          </a:p>
          <a:p>
            <a:pPr marL="0" indent="0">
              <a:buNone/>
            </a:pPr>
            <a:r>
              <a:rPr lang="en-US" sz="1210" dirty="0">
                <a:solidFill>
                  <a:srgbClr val="E5E7EB"/>
                </a:solidFill>
                <a:latin typeface="Courier New" pitchFamily="34" charset="0"/>
                <a:ea typeface="Courier New" pitchFamily="34" charset="-122"/>
                <a:cs typeface="Courier New" pitchFamily="34" charset="-120"/>
              </a:rPr>
              <a:t>&lt;/properties&gt;</a:t>
            </a:r>
            <a:endParaRPr lang="en-US" sz="1210" dirty="0"/>
          </a:p>
          <a:p>
            <a:pPr marL="0" indent="0">
              <a:buNone/>
            </a:pPr>
            <a:endParaRPr lang="en-US" sz="1210" dirty="0"/>
          </a:p>
          <a:p>
            <a:pPr marL="0" indent="0">
              <a:buNone/>
            </a:pPr>
            <a:r>
              <a:rPr lang="en-US" sz="1210" dirty="0">
                <a:solidFill>
                  <a:srgbClr val="E5E7EB"/>
                </a:solidFill>
                <a:latin typeface="Courier New" pitchFamily="34" charset="0"/>
                <a:ea typeface="Courier New" pitchFamily="34" charset="-122"/>
                <a:cs typeface="Courier New" pitchFamily="34" charset="-120"/>
              </a:rPr>
              <a:t>&lt;dependencies&gt;</a:t>
            </a:r>
            <a:endParaRPr lang="en-US" sz="1210" dirty="0"/>
          </a:p>
          <a:p>
            <a:pPr marL="0" indent="0">
              <a:buNone/>
            </a:pPr>
            <a:r>
              <a:rPr lang="en-US" sz="1210" dirty="0">
                <a:solidFill>
                  <a:srgbClr val="E5E7EB"/>
                </a:solidFill>
                <a:latin typeface="Courier New" pitchFamily="34" charset="0"/>
                <a:ea typeface="Courier New" pitchFamily="34" charset="-122"/>
                <a:cs typeface="Courier New" pitchFamily="34" charset="-120"/>
              </a:rPr>
              <a:t>  ... starters + drivers + test libraries ...</a:t>
            </a:r>
            <a:endParaRPr lang="en-US" sz="1210" dirty="0"/>
          </a:p>
          <a:p>
            <a:pPr marL="0" indent="0">
              <a:buNone/>
            </a:pPr>
            <a:r>
              <a:rPr lang="en-US" sz="1210" dirty="0">
                <a:solidFill>
                  <a:srgbClr val="E5E7EB"/>
                </a:solidFill>
                <a:latin typeface="Courier New" pitchFamily="34" charset="0"/>
                <a:ea typeface="Courier New" pitchFamily="34" charset="-122"/>
                <a:cs typeface="Courier New" pitchFamily="34" charset="-120"/>
              </a:rPr>
              <a:t>&lt;/dependencies&gt;</a:t>
            </a:r>
            <a:endParaRPr lang="en-US" sz="1210" dirty="0"/>
          </a:p>
          <a:p>
            <a:pPr marL="0" indent="0">
              <a:buNone/>
            </a:pPr>
            <a:endParaRPr lang="en-US" sz="1210" dirty="0"/>
          </a:p>
          <a:p>
            <a:pPr marL="0" indent="0">
              <a:buNone/>
            </a:pPr>
            <a:r>
              <a:rPr lang="en-US" sz="1210" dirty="0">
                <a:solidFill>
                  <a:srgbClr val="E5E7EB"/>
                </a:solidFill>
                <a:latin typeface="Courier New" pitchFamily="34" charset="0"/>
                <a:ea typeface="Courier New" pitchFamily="34" charset="-122"/>
                <a:cs typeface="Courier New" pitchFamily="34" charset="-120"/>
              </a:rPr>
              <a:t>&lt;build&gt;</a:t>
            </a:r>
            <a:endParaRPr lang="en-US" sz="1210" dirty="0"/>
          </a:p>
          <a:p>
            <a:pPr marL="0" indent="0">
              <a:buNone/>
            </a:pPr>
            <a:r>
              <a:rPr lang="en-US" sz="1210" dirty="0">
                <a:solidFill>
                  <a:srgbClr val="E5E7EB"/>
                </a:solidFill>
                <a:latin typeface="Courier New" pitchFamily="34" charset="0"/>
                <a:ea typeface="Courier New" pitchFamily="34" charset="-122"/>
                <a:cs typeface="Courier New" pitchFamily="34" charset="-120"/>
              </a:rPr>
              <a:t>  &lt;plugins&gt; ... spring-boot-maven-plugin ... &lt;/plugins&gt;</a:t>
            </a:r>
            <a:endParaRPr lang="en-US" sz="1210" dirty="0"/>
          </a:p>
          <a:p>
            <a:pPr marL="0" indent="0">
              <a:buNone/>
            </a:pPr>
            <a:r>
              <a:rPr lang="en-US" sz="1210" dirty="0">
                <a:solidFill>
                  <a:srgbClr val="E5E7EB"/>
                </a:solidFill>
                <a:latin typeface="Courier New" pitchFamily="34" charset="0"/>
                <a:ea typeface="Courier New" pitchFamily="34" charset="-122"/>
                <a:cs typeface="Courier New" pitchFamily="34" charset="-120"/>
              </a:rPr>
              <a:t>&lt;/build&gt;</a:t>
            </a:r>
            <a:endParaRPr lang="en-US" sz="1210" dirty="0"/>
          </a:p>
        </p:txBody>
      </p:sp>
      <p:sp>
        <p:nvSpPr>
          <p:cNvPr id="6" name="Shape 4"/>
          <p:cNvSpPr/>
          <p:nvPr/>
        </p:nvSpPr>
        <p:spPr>
          <a:xfrm>
            <a:off x="6720840" y="1325880"/>
            <a:ext cx="4572000" cy="960120"/>
          </a:xfrm>
          <a:prstGeom prst="roundRect">
            <a:avLst>
              <a:gd name="adj" fmla="val 7619"/>
            </a:avLst>
          </a:prstGeom>
          <a:solidFill>
            <a:srgbClr val="EAF2FF"/>
          </a:solidFill>
          <a:ln w="12700">
            <a:solidFill>
              <a:srgbClr val="D8E2D2"/>
            </a:solidFill>
            <a:prstDash val="solid"/>
          </a:ln>
          <a:effectLst>
            <a:outerShdw blurRad="19050" dist="50800" dir="2700000" algn="bl" rotWithShape="0">
              <a:srgbClr val="D1D5DB">
                <a:alpha val="12000"/>
              </a:srgbClr>
            </a:outerShdw>
          </a:effectLst>
        </p:spPr>
      </p:sp>
      <p:sp>
        <p:nvSpPr>
          <p:cNvPr id="7" name="Shape 5"/>
          <p:cNvSpPr/>
          <p:nvPr/>
        </p:nvSpPr>
        <p:spPr>
          <a:xfrm>
            <a:off x="6720840" y="1325880"/>
            <a:ext cx="73152" cy="960120"/>
          </a:xfrm>
          <a:prstGeom prst="rect">
            <a:avLst/>
          </a:prstGeom>
          <a:solidFill>
            <a:srgbClr val="2563EB"/>
          </a:solidFill>
          <a:ln w="12700">
            <a:solidFill>
              <a:srgbClr val="2563EB"/>
            </a:solidFill>
            <a:prstDash val="solid"/>
          </a:ln>
        </p:spPr>
      </p:sp>
      <p:sp>
        <p:nvSpPr>
          <p:cNvPr id="8" name="Text 6"/>
          <p:cNvSpPr/>
          <p:nvPr/>
        </p:nvSpPr>
        <p:spPr>
          <a:xfrm>
            <a:off x="6922008" y="1472184"/>
            <a:ext cx="4169664" cy="310896"/>
          </a:xfrm>
          <a:prstGeom prst="rect">
            <a:avLst/>
          </a:prstGeom>
          <a:noFill/>
          <a:ln/>
        </p:spPr>
        <p:txBody>
          <a:bodyPr wrap="square" lIns="0" tIns="0" rIns="0" bIns="0" rtlCol="0" anchor="ctr">
            <a:normAutofit/>
          </a:bodyPr>
          <a:lstStyle/>
          <a:p>
            <a:pPr marL="0" indent="0">
              <a:buNone/>
            </a:pPr>
            <a:r>
              <a:rPr lang="en-US" sz="1650" b="1" dirty="0">
                <a:solidFill>
                  <a:srgbClr val="1F2937"/>
                </a:solidFill>
              </a:rPr>
              <a:t>Coordinates</a:t>
            </a:r>
            <a:endParaRPr lang="en-US" sz="1650" dirty="0"/>
          </a:p>
        </p:txBody>
      </p:sp>
      <p:sp>
        <p:nvSpPr>
          <p:cNvPr id="9" name="Text 7"/>
          <p:cNvSpPr/>
          <p:nvPr/>
        </p:nvSpPr>
        <p:spPr>
          <a:xfrm>
            <a:off x="6922008" y="1892808"/>
            <a:ext cx="4169664" cy="246888"/>
          </a:xfrm>
          <a:prstGeom prst="rect">
            <a:avLst/>
          </a:prstGeom>
          <a:noFill/>
          <a:ln/>
        </p:spPr>
        <p:txBody>
          <a:bodyPr wrap="square" lIns="254" tIns="254" rIns="254" bIns="254" rtlCol="0" anchor="t">
            <a:normAutofit/>
          </a:bodyPr>
          <a:lstStyle/>
          <a:p>
            <a:pPr marL="0" indent="0">
              <a:buNone/>
            </a:pPr>
            <a:r>
              <a:rPr lang="en-US" sz="1280" dirty="0">
                <a:solidFill>
                  <a:srgbClr val="64748B"/>
                </a:solidFill>
              </a:rPr>
              <a:t>groupId + artifactId + version identify the project artifact.</a:t>
            </a:r>
            <a:endParaRPr lang="en-US" sz="1280" dirty="0"/>
          </a:p>
        </p:txBody>
      </p:sp>
      <p:sp>
        <p:nvSpPr>
          <p:cNvPr id="10" name="Shape 8"/>
          <p:cNvSpPr/>
          <p:nvPr/>
        </p:nvSpPr>
        <p:spPr>
          <a:xfrm>
            <a:off x="6720840" y="2487168"/>
            <a:ext cx="4572000" cy="960120"/>
          </a:xfrm>
          <a:prstGeom prst="roundRect">
            <a:avLst>
              <a:gd name="adj" fmla="val 7619"/>
            </a:avLst>
          </a:prstGeom>
          <a:solidFill>
            <a:srgbClr val="EEF7E8"/>
          </a:solidFill>
          <a:ln w="12700">
            <a:solidFill>
              <a:srgbClr val="D8E2D2"/>
            </a:solidFill>
            <a:prstDash val="solid"/>
          </a:ln>
          <a:effectLst>
            <a:outerShdw blurRad="19050" dist="50800" dir="2700000" algn="bl" rotWithShape="0">
              <a:srgbClr val="D1D5DB">
                <a:alpha val="12000"/>
              </a:srgbClr>
            </a:outerShdw>
          </a:effectLst>
        </p:spPr>
      </p:sp>
      <p:sp>
        <p:nvSpPr>
          <p:cNvPr id="11" name="Shape 9"/>
          <p:cNvSpPr/>
          <p:nvPr/>
        </p:nvSpPr>
        <p:spPr>
          <a:xfrm>
            <a:off x="6720840" y="2487168"/>
            <a:ext cx="73152" cy="960120"/>
          </a:xfrm>
          <a:prstGeom prst="rect">
            <a:avLst/>
          </a:prstGeom>
          <a:solidFill>
            <a:srgbClr val="6DB33F"/>
          </a:solidFill>
          <a:ln w="12700">
            <a:solidFill>
              <a:srgbClr val="6DB33F"/>
            </a:solidFill>
            <a:prstDash val="solid"/>
          </a:ln>
        </p:spPr>
      </p:sp>
      <p:sp>
        <p:nvSpPr>
          <p:cNvPr id="12" name="Text 10"/>
          <p:cNvSpPr/>
          <p:nvPr/>
        </p:nvSpPr>
        <p:spPr>
          <a:xfrm>
            <a:off x="6922008" y="2633472"/>
            <a:ext cx="4169664" cy="310896"/>
          </a:xfrm>
          <a:prstGeom prst="rect">
            <a:avLst/>
          </a:prstGeom>
          <a:noFill/>
          <a:ln/>
        </p:spPr>
        <p:txBody>
          <a:bodyPr wrap="square" lIns="0" tIns="0" rIns="0" bIns="0" rtlCol="0" anchor="ctr">
            <a:normAutofit/>
          </a:bodyPr>
          <a:lstStyle/>
          <a:p>
            <a:pPr marL="0" indent="0">
              <a:buNone/>
            </a:pPr>
            <a:r>
              <a:rPr lang="en-US" sz="1650" b="1" dirty="0">
                <a:solidFill>
                  <a:srgbClr val="1F2937"/>
                </a:solidFill>
              </a:rPr>
              <a:t>Dependencies</a:t>
            </a:r>
            <a:endParaRPr lang="en-US" sz="1650" dirty="0"/>
          </a:p>
        </p:txBody>
      </p:sp>
      <p:sp>
        <p:nvSpPr>
          <p:cNvPr id="13" name="Text 11"/>
          <p:cNvSpPr/>
          <p:nvPr/>
        </p:nvSpPr>
        <p:spPr>
          <a:xfrm>
            <a:off x="6922008" y="3054096"/>
            <a:ext cx="4169664" cy="246888"/>
          </a:xfrm>
          <a:prstGeom prst="rect">
            <a:avLst/>
          </a:prstGeom>
          <a:noFill/>
          <a:ln/>
        </p:spPr>
        <p:txBody>
          <a:bodyPr wrap="square" lIns="254" tIns="254" rIns="254" bIns="254" rtlCol="0" anchor="t">
            <a:normAutofit/>
          </a:bodyPr>
          <a:lstStyle/>
          <a:p>
            <a:pPr marL="0" indent="0">
              <a:buNone/>
            </a:pPr>
            <a:r>
              <a:rPr lang="en-US" sz="1280" dirty="0">
                <a:solidFill>
                  <a:srgbClr val="64748B"/>
                </a:solidFill>
              </a:rPr>
              <a:t>Libraries required to compile/run/test the application.</a:t>
            </a:r>
            <a:endParaRPr lang="en-US" sz="1280" dirty="0"/>
          </a:p>
        </p:txBody>
      </p:sp>
      <p:sp>
        <p:nvSpPr>
          <p:cNvPr id="14" name="Shape 12"/>
          <p:cNvSpPr/>
          <p:nvPr/>
        </p:nvSpPr>
        <p:spPr>
          <a:xfrm>
            <a:off x="6720840" y="3648456"/>
            <a:ext cx="4572000" cy="960120"/>
          </a:xfrm>
          <a:prstGeom prst="roundRect">
            <a:avLst>
              <a:gd name="adj" fmla="val 7619"/>
            </a:avLst>
          </a:prstGeom>
          <a:solidFill>
            <a:srgbClr val="F2EBFF"/>
          </a:solidFill>
          <a:ln w="12700">
            <a:solidFill>
              <a:srgbClr val="D8E2D2"/>
            </a:solidFill>
            <a:prstDash val="solid"/>
          </a:ln>
          <a:effectLst>
            <a:outerShdw blurRad="19050" dist="50800" dir="2700000" algn="bl" rotWithShape="0">
              <a:srgbClr val="D1D5DB">
                <a:alpha val="12000"/>
              </a:srgbClr>
            </a:outerShdw>
          </a:effectLst>
        </p:spPr>
      </p:sp>
      <p:sp>
        <p:nvSpPr>
          <p:cNvPr id="15" name="Shape 13"/>
          <p:cNvSpPr/>
          <p:nvPr/>
        </p:nvSpPr>
        <p:spPr>
          <a:xfrm>
            <a:off x="6720840" y="3648456"/>
            <a:ext cx="73152" cy="960120"/>
          </a:xfrm>
          <a:prstGeom prst="rect">
            <a:avLst/>
          </a:prstGeom>
          <a:solidFill>
            <a:srgbClr val="7C3AED"/>
          </a:solidFill>
          <a:ln w="12700">
            <a:solidFill>
              <a:srgbClr val="7C3AED"/>
            </a:solidFill>
            <a:prstDash val="solid"/>
          </a:ln>
        </p:spPr>
      </p:sp>
      <p:sp>
        <p:nvSpPr>
          <p:cNvPr id="16" name="Text 14"/>
          <p:cNvSpPr/>
          <p:nvPr/>
        </p:nvSpPr>
        <p:spPr>
          <a:xfrm>
            <a:off x="6922008" y="3794760"/>
            <a:ext cx="4169664" cy="310896"/>
          </a:xfrm>
          <a:prstGeom prst="rect">
            <a:avLst/>
          </a:prstGeom>
          <a:noFill/>
          <a:ln/>
        </p:spPr>
        <p:txBody>
          <a:bodyPr wrap="square" lIns="0" tIns="0" rIns="0" bIns="0" rtlCol="0" anchor="ctr">
            <a:normAutofit/>
          </a:bodyPr>
          <a:lstStyle/>
          <a:p>
            <a:pPr marL="0" indent="0">
              <a:buNone/>
            </a:pPr>
            <a:r>
              <a:rPr lang="en-US" sz="1650" b="1" dirty="0">
                <a:solidFill>
                  <a:srgbClr val="1F2937"/>
                </a:solidFill>
              </a:rPr>
              <a:t>Plugins</a:t>
            </a:r>
            <a:endParaRPr lang="en-US" sz="1650" dirty="0"/>
          </a:p>
        </p:txBody>
      </p:sp>
      <p:sp>
        <p:nvSpPr>
          <p:cNvPr id="17" name="Text 15"/>
          <p:cNvSpPr/>
          <p:nvPr/>
        </p:nvSpPr>
        <p:spPr>
          <a:xfrm>
            <a:off x="6922008" y="4215384"/>
            <a:ext cx="4169664" cy="246888"/>
          </a:xfrm>
          <a:prstGeom prst="rect">
            <a:avLst/>
          </a:prstGeom>
          <a:noFill/>
          <a:ln/>
        </p:spPr>
        <p:txBody>
          <a:bodyPr wrap="square" lIns="254" tIns="254" rIns="254" bIns="254" rtlCol="0" anchor="t">
            <a:normAutofit/>
          </a:bodyPr>
          <a:lstStyle/>
          <a:p>
            <a:pPr marL="0" indent="0">
              <a:buNone/>
            </a:pPr>
            <a:r>
              <a:rPr lang="en-US" sz="1280" dirty="0">
                <a:solidFill>
                  <a:srgbClr val="64748B"/>
                </a:solidFill>
              </a:rPr>
              <a:t>Build tasks such as creating executable Boot archives.</a:t>
            </a:r>
            <a:endParaRPr lang="en-US" sz="1280" dirty="0"/>
          </a:p>
        </p:txBody>
      </p:sp>
      <p:sp>
        <p:nvSpPr>
          <p:cNvPr id="18" name="Shape 16"/>
          <p:cNvSpPr/>
          <p:nvPr/>
        </p:nvSpPr>
        <p:spPr>
          <a:xfrm>
            <a:off x="6720840" y="4809744"/>
            <a:ext cx="4572000" cy="960120"/>
          </a:xfrm>
          <a:prstGeom prst="roundRect">
            <a:avLst>
              <a:gd name="adj" fmla="val 7619"/>
            </a:avLst>
          </a:prstGeom>
          <a:solidFill>
            <a:srgbClr val="FFF4DB"/>
          </a:solidFill>
          <a:ln w="12700">
            <a:solidFill>
              <a:srgbClr val="D8E2D2"/>
            </a:solidFill>
            <a:prstDash val="solid"/>
          </a:ln>
          <a:effectLst>
            <a:outerShdw blurRad="19050" dist="50800" dir="2700000" algn="bl" rotWithShape="0">
              <a:srgbClr val="D1D5DB">
                <a:alpha val="12000"/>
              </a:srgbClr>
            </a:outerShdw>
          </a:effectLst>
        </p:spPr>
      </p:sp>
      <p:sp>
        <p:nvSpPr>
          <p:cNvPr id="19" name="Shape 17"/>
          <p:cNvSpPr/>
          <p:nvPr/>
        </p:nvSpPr>
        <p:spPr>
          <a:xfrm>
            <a:off x="6720840" y="4809744"/>
            <a:ext cx="73152" cy="960120"/>
          </a:xfrm>
          <a:prstGeom prst="rect">
            <a:avLst/>
          </a:prstGeom>
          <a:solidFill>
            <a:srgbClr val="F59E0B"/>
          </a:solidFill>
          <a:ln w="12700">
            <a:solidFill>
              <a:srgbClr val="F59E0B"/>
            </a:solidFill>
            <a:prstDash val="solid"/>
          </a:ln>
        </p:spPr>
      </p:sp>
      <p:sp>
        <p:nvSpPr>
          <p:cNvPr id="20" name="Text 18"/>
          <p:cNvSpPr/>
          <p:nvPr/>
        </p:nvSpPr>
        <p:spPr>
          <a:xfrm>
            <a:off x="6922008" y="4956048"/>
            <a:ext cx="4169664" cy="310896"/>
          </a:xfrm>
          <a:prstGeom prst="rect">
            <a:avLst/>
          </a:prstGeom>
          <a:noFill/>
          <a:ln/>
        </p:spPr>
        <p:txBody>
          <a:bodyPr wrap="square" lIns="0" tIns="0" rIns="0" bIns="0" rtlCol="0" anchor="ctr">
            <a:normAutofit/>
          </a:bodyPr>
          <a:lstStyle/>
          <a:p>
            <a:pPr marL="0" indent="0">
              <a:buNone/>
            </a:pPr>
            <a:r>
              <a:rPr lang="en-US" sz="1650" b="1" dirty="0">
                <a:solidFill>
                  <a:srgbClr val="1F2937"/>
                </a:solidFill>
              </a:rPr>
              <a:t>Dependency Management</a:t>
            </a:r>
            <a:endParaRPr lang="en-US" sz="1650" dirty="0"/>
          </a:p>
        </p:txBody>
      </p:sp>
      <p:sp>
        <p:nvSpPr>
          <p:cNvPr id="21" name="Text 19"/>
          <p:cNvSpPr/>
          <p:nvPr/>
        </p:nvSpPr>
        <p:spPr>
          <a:xfrm>
            <a:off x="6922008" y="5376672"/>
            <a:ext cx="4169664" cy="246888"/>
          </a:xfrm>
          <a:prstGeom prst="rect">
            <a:avLst/>
          </a:prstGeom>
          <a:noFill/>
          <a:ln/>
        </p:spPr>
        <p:txBody>
          <a:bodyPr wrap="square" lIns="254" tIns="254" rIns="254" bIns="254" rtlCol="0" anchor="t">
            <a:normAutofit/>
          </a:bodyPr>
          <a:lstStyle/>
          <a:p>
            <a:pPr marL="0" indent="0">
              <a:buNone/>
            </a:pPr>
            <a:r>
              <a:rPr lang="en-US" sz="1280" dirty="0">
                <a:solidFill>
                  <a:srgbClr val="64748B"/>
                </a:solidFill>
              </a:rPr>
              <a:t>Boot provides a curated compatible dependency set; normally avoid manually versioning Spring modules.</a:t>
            </a:r>
            <a:endParaRPr lang="en-US" sz="1280" dirty="0"/>
          </a:p>
        </p:txBody>
      </p:sp>
      <p:sp>
        <p:nvSpPr>
          <p:cNvPr id="22" name="Text 20"/>
          <p:cNvSpPr/>
          <p:nvPr/>
        </p:nvSpPr>
        <p:spPr>
          <a:xfrm>
            <a:off x="530352" y="6208776"/>
            <a:ext cx="10881360" cy="182880"/>
          </a:xfrm>
          <a:prstGeom prst="rect">
            <a:avLst/>
          </a:prstGeom>
          <a:noFill/>
          <a:ln/>
        </p:spPr>
        <p:txBody>
          <a:bodyPr wrap="square" lIns="0" tIns="0" rIns="0" bIns="0" rtlCol="0" anchor="ctr">
            <a:normAutofit/>
          </a:bodyPr>
          <a:lstStyle/>
          <a:p>
            <a:pPr marL="0" indent="0">
              <a:buNone/>
            </a:pPr>
            <a:r>
              <a:rPr lang="en-US" sz="780" i="1" dirty="0">
                <a:solidFill>
                  <a:srgbClr val="7B8794"/>
                </a:solidFill>
                <a:latin typeface="Arial" pitchFamily="34" charset="0"/>
                <a:ea typeface="Arial" pitchFamily="34" charset="-122"/>
                <a:cs typeface="Arial" pitchFamily="34" charset="-120"/>
              </a:rPr>
              <a:t>Official basis: Apache Maven POM documentation + Spring Boot Build Systems.</a:t>
            </a:r>
            <a:endParaRPr lang="en-US" sz="780" dirty="0"/>
          </a:p>
        </p:txBody>
      </p:sp>
      <p:sp>
        <p:nvSpPr>
          <p:cNvPr id="25" name="Slide Number Placeholder 0"/>
          <p:cNvSpPr>
            <a:spLocks noGrp="1"/>
          </p:cNvSpPr>
          <p:nvPr>
            <p:ph type="sldNum" sz="quarter" idx="4294967295"/>
          </p:nvPr>
        </p:nvSpPr>
        <p:spPr>
          <a:xfrm>
            <a:off x="11384280" y="6473952"/>
            <a:ext cx="384048"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latin typeface="Arial"/>
                <a:ea typeface="Arial"/>
                <a:cs typeface="Aria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02920" y="310896"/>
            <a:ext cx="11064240" cy="475488"/>
          </a:xfrm>
          <a:prstGeom prst="rect">
            <a:avLst/>
          </a:prstGeom>
          <a:noFill/>
          <a:ln/>
        </p:spPr>
        <p:txBody>
          <a:bodyPr wrap="square" lIns="0" tIns="0" rIns="0" bIns="0" rtlCol="0" anchor="ctr">
            <a:normAutofit/>
          </a:bodyPr>
          <a:lstStyle/>
          <a:p>
            <a:pPr marL="0" indent="0">
              <a:buNone/>
            </a:pPr>
            <a:r>
              <a:rPr lang="en-US" sz="2700" b="1" dirty="0">
                <a:solidFill>
                  <a:srgbClr val="1F2937"/>
                </a:solidFill>
                <a:latin typeface="Arial" pitchFamily="34" charset="0"/>
                <a:ea typeface="Arial" pitchFamily="34" charset="-122"/>
                <a:cs typeface="Arial" pitchFamily="34" charset="-120"/>
              </a:rPr>
              <a:t>Common fresher mistakes — and the fix</a:t>
            </a:r>
            <a:endParaRPr lang="en-US" sz="2700" dirty="0"/>
          </a:p>
        </p:txBody>
      </p:sp>
      <p:sp>
        <p:nvSpPr>
          <p:cNvPr id="3" name="Text 1"/>
          <p:cNvSpPr/>
          <p:nvPr/>
        </p:nvSpPr>
        <p:spPr>
          <a:xfrm>
            <a:off x="530352" y="804672"/>
            <a:ext cx="10881360" cy="310896"/>
          </a:xfrm>
          <a:prstGeom prst="rect">
            <a:avLst/>
          </a:prstGeom>
          <a:noFill/>
          <a:ln/>
        </p:spPr>
        <p:txBody>
          <a:bodyPr wrap="square" lIns="0" tIns="0" rIns="0" bIns="0" rtlCol="0" anchor="ctr">
            <a:normAutofit/>
          </a:bodyPr>
          <a:lstStyle/>
          <a:p>
            <a:pPr marL="0" indent="0">
              <a:buNone/>
            </a:pPr>
            <a:r>
              <a:rPr lang="en-US" sz="1250" dirty="0">
                <a:solidFill>
                  <a:srgbClr val="64748B"/>
                </a:solidFill>
                <a:latin typeface="Arial" pitchFamily="34" charset="0"/>
                <a:ea typeface="Arial" pitchFamily="34" charset="-122"/>
                <a:cs typeface="Arial" pitchFamily="34" charset="-120"/>
              </a:rPr>
              <a:t>Most early Spring problems come from package placement, dependency setup or responsibility mixing</a:t>
            </a:r>
            <a:endParaRPr lang="en-US" sz="1250" dirty="0"/>
          </a:p>
        </p:txBody>
      </p:sp>
      <p:sp>
        <p:nvSpPr>
          <p:cNvPr id="4" name="Shape 2"/>
          <p:cNvSpPr/>
          <p:nvPr/>
        </p:nvSpPr>
        <p:spPr>
          <a:xfrm>
            <a:off x="640080" y="1234440"/>
            <a:ext cx="4754880" cy="530352"/>
          </a:xfrm>
          <a:prstGeom prst="roundRect">
            <a:avLst/>
          </a:prstGeom>
          <a:solidFill>
            <a:srgbClr val="FEECEC"/>
          </a:solidFill>
          <a:ln w="10160">
            <a:solidFill>
              <a:srgbClr val="FECACA"/>
            </a:solidFill>
            <a:prstDash val="solid"/>
          </a:ln>
        </p:spPr>
      </p:sp>
      <p:sp>
        <p:nvSpPr>
          <p:cNvPr id="5" name="Text 3"/>
          <p:cNvSpPr/>
          <p:nvPr/>
        </p:nvSpPr>
        <p:spPr>
          <a:xfrm>
            <a:off x="822960" y="1344168"/>
            <a:ext cx="4389120" cy="274320"/>
          </a:xfrm>
          <a:prstGeom prst="rect">
            <a:avLst/>
          </a:prstGeom>
          <a:noFill/>
          <a:ln/>
        </p:spPr>
        <p:txBody>
          <a:bodyPr wrap="square" lIns="0" tIns="0" rIns="0" bIns="0" rtlCol="0" anchor="ctr">
            <a:normAutofit/>
          </a:bodyPr>
          <a:lstStyle/>
          <a:p>
            <a:pPr marL="0" indent="0">
              <a:buNone/>
            </a:pPr>
            <a:r>
              <a:rPr lang="en-US" sz="1290" b="1" dirty="0">
                <a:solidFill>
                  <a:srgbClr val="DC2626"/>
                </a:solidFill>
              </a:rPr>
              <a:t>✗ Main class inside a subpackage</a:t>
            </a:r>
            <a:endParaRPr lang="en-US" sz="1290" dirty="0"/>
          </a:p>
        </p:txBody>
      </p:sp>
      <p:sp>
        <p:nvSpPr>
          <p:cNvPr id="6" name="Shape 4"/>
          <p:cNvSpPr/>
          <p:nvPr/>
        </p:nvSpPr>
        <p:spPr>
          <a:xfrm>
            <a:off x="5669280" y="1234440"/>
            <a:ext cx="5806440" cy="530352"/>
          </a:xfrm>
          <a:prstGeom prst="roundRect">
            <a:avLst/>
          </a:prstGeom>
          <a:solidFill>
            <a:srgbClr val="EEF7E8"/>
          </a:solidFill>
          <a:ln w="10160">
            <a:solidFill>
              <a:srgbClr val="CDE9BD"/>
            </a:solidFill>
            <a:prstDash val="solid"/>
          </a:ln>
        </p:spPr>
      </p:sp>
      <p:sp>
        <p:nvSpPr>
          <p:cNvPr id="7" name="Text 5"/>
          <p:cNvSpPr/>
          <p:nvPr/>
        </p:nvSpPr>
        <p:spPr>
          <a:xfrm>
            <a:off x="5852160" y="1335024"/>
            <a:ext cx="5440680" cy="292608"/>
          </a:xfrm>
          <a:prstGeom prst="rect">
            <a:avLst/>
          </a:prstGeom>
          <a:noFill/>
          <a:ln/>
        </p:spPr>
        <p:txBody>
          <a:bodyPr wrap="square" lIns="0" tIns="0" rIns="0" bIns="0" rtlCol="0" anchor="ctr">
            <a:normAutofit/>
          </a:bodyPr>
          <a:lstStyle/>
          <a:p>
            <a:pPr marL="0" indent="0">
              <a:buNone/>
            </a:pPr>
            <a:r>
              <a:rPr lang="en-US" sz="1280" dirty="0">
                <a:solidFill>
                  <a:srgbClr val="3E7D20"/>
                </a:solidFill>
              </a:rPr>
              <a:t>✓ Put @SpringBootApplication in the root package above controllers/services/repositories.</a:t>
            </a:r>
            <a:endParaRPr lang="en-US" sz="1280" dirty="0"/>
          </a:p>
        </p:txBody>
      </p:sp>
      <p:sp>
        <p:nvSpPr>
          <p:cNvPr id="8" name="Shape 6"/>
          <p:cNvSpPr/>
          <p:nvPr/>
        </p:nvSpPr>
        <p:spPr>
          <a:xfrm>
            <a:off x="640080" y="1828800"/>
            <a:ext cx="4754880" cy="530352"/>
          </a:xfrm>
          <a:prstGeom prst="roundRect">
            <a:avLst/>
          </a:prstGeom>
          <a:solidFill>
            <a:srgbClr val="FFF7F7"/>
          </a:solidFill>
          <a:ln w="10160">
            <a:solidFill>
              <a:srgbClr val="FECACA"/>
            </a:solidFill>
            <a:prstDash val="solid"/>
          </a:ln>
        </p:spPr>
      </p:sp>
      <p:sp>
        <p:nvSpPr>
          <p:cNvPr id="9" name="Text 7"/>
          <p:cNvSpPr/>
          <p:nvPr/>
        </p:nvSpPr>
        <p:spPr>
          <a:xfrm>
            <a:off x="822960" y="1938528"/>
            <a:ext cx="4389120" cy="274320"/>
          </a:xfrm>
          <a:prstGeom prst="rect">
            <a:avLst/>
          </a:prstGeom>
          <a:noFill/>
          <a:ln/>
        </p:spPr>
        <p:txBody>
          <a:bodyPr wrap="square" lIns="0" tIns="0" rIns="0" bIns="0" rtlCol="0" anchor="ctr">
            <a:normAutofit/>
          </a:bodyPr>
          <a:lstStyle/>
          <a:p>
            <a:pPr marL="0" indent="0">
              <a:buNone/>
            </a:pPr>
            <a:r>
              <a:rPr lang="en-US" sz="1290" b="1" dirty="0">
                <a:solidFill>
                  <a:srgbClr val="DC2626"/>
                </a:solidFill>
              </a:rPr>
              <a:t>✗ No package declaration / default package</a:t>
            </a:r>
            <a:endParaRPr lang="en-US" sz="1290" dirty="0"/>
          </a:p>
        </p:txBody>
      </p:sp>
      <p:sp>
        <p:nvSpPr>
          <p:cNvPr id="10" name="Shape 8"/>
          <p:cNvSpPr/>
          <p:nvPr/>
        </p:nvSpPr>
        <p:spPr>
          <a:xfrm>
            <a:off x="5669280" y="1828800"/>
            <a:ext cx="5806440" cy="530352"/>
          </a:xfrm>
          <a:prstGeom prst="roundRect">
            <a:avLst/>
          </a:prstGeom>
          <a:solidFill>
            <a:srgbClr val="F8FDF5"/>
          </a:solidFill>
          <a:ln w="10160">
            <a:solidFill>
              <a:srgbClr val="CDE9BD"/>
            </a:solidFill>
            <a:prstDash val="solid"/>
          </a:ln>
        </p:spPr>
      </p:sp>
      <p:sp>
        <p:nvSpPr>
          <p:cNvPr id="11" name="Text 9"/>
          <p:cNvSpPr/>
          <p:nvPr/>
        </p:nvSpPr>
        <p:spPr>
          <a:xfrm>
            <a:off x="5852160" y="1929384"/>
            <a:ext cx="5440680" cy="292608"/>
          </a:xfrm>
          <a:prstGeom prst="rect">
            <a:avLst/>
          </a:prstGeom>
          <a:noFill/>
          <a:ln/>
        </p:spPr>
        <p:txBody>
          <a:bodyPr wrap="square" lIns="0" tIns="0" rIns="0" bIns="0" rtlCol="0" anchor="ctr">
            <a:normAutofit/>
          </a:bodyPr>
          <a:lstStyle/>
          <a:p>
            <a:pPr marL="0" indent="0">
              <a:buNone/>
            </a:pPr>
            <a:r>
              <a:rPr lang="en-US" sz="1280" dirty="0">
                <a:solidFill>
                  <a:srgbClr val="3E7D20"/>
                </a:solidFill>
              </a:rPr>
              <a:t>✓ Use a normal reverse-domain package such as com.example.project.</a:t>
            </a:r>
            <a:endParaRPr lang="en-US" sz="1280" dirty="0"/>
          </a:p>
        </p:txBody>
      </p:sp>
      <p:sp>
        <p:nvSpPr>
          <p:cNvPr id="12" name="Shape 10"/>
          <p:cNvSpPr/>
          <p:nvPr/>
        </p:nvSpPr>
        <p:spPr>
          <a:xfrm>
            <a:off x="640080" y="2423160"/>
            <a:ext cx="4754880" cy="530352"/>
          </a:xfrm>
          <a:prstGeom prst="roundRect">
            <a:avLst/>
          </a:prstGeom>
          <a:solidFill>
            <a:srgbClr val="FEECEC"/>
          </a:solidFill>
          <a:ln w="10160">
            <a:solidFill>
              <a:srgbClr val="FECACA"/>
            </a:solidFill>
            <a:prstDash val="solid"/>
          </a:ln>
        </p:spPr>
      </p:sp>
      <p:sp>
        <p:nvSpPr>
          <p:cNvPr id="13" name="Text 11"/>
          <p:cNvSpPr/>
          <p:nvPr/>
        </p:nvSpPr>
        <p:spPr>
          <a:xfrm>
            <a:off x="822960" y="2532888"/>
            <a:ext cx="4389120" cy="274320"/>
          </a:xfrm>
          <a:prstGeom prst="rect">
            <a:avLst/>
          </a:prstGeom>
          <a:noFill/>
          <a:ln/>
        </p:spPr>
        <p:txBody>
          <a:bodyPr wrap="square" lIns="0" tIns="0" rIns="0" bIns="0" rtlCol="0" anchor="ctr">
            <a:normAutofit/>
          </a:bodyPr>
          <a:lstStyle/>
          <a:p>
            <a:pPr marL="0" indent="0">
              <a:buNone/>
            </a:pPr>
            <a:r>
              <a:rPr lang="en-US" sz="1290" b="1" dirty="0">
                <a:solidFill>
                  <a:srgbClr val="DC2626"/>
                </a:solidFill>
              </a:rPr>
              <a:t>✗ Business logic in controller</a:t>
            </a:r>
            <a:endParaRPr lang="en-US" sz="1290" dirty="0"/>
          </a:p>
        </p:txBody>
      </p:sp>
      <p:sp>
        <p:nvSpPr>
          <p:cNvPr id="14" name="Shape 12"/>
          <p:cNvSpPr/>
          <p:nvPr/>
        </p:nvSpPr>
        <p:spPr>
          <a:xfrm>
            <a:off x="5669280" y="2423160"/>
            <a:ext cx="5806440" cy="530352"/>
          </a:xfrm>
          <a:prstGeom prst="roundRect">
            <a:avLst/>
          </a:prstGeom>
          <a:solidFill>
            <a:srgbClr val="EEF7E8"/>
          </a:solidFill>
          <a:ln w="10160">
            <a:solidFill>
              <a:srgbClr val="CDE9BD"/>
            </a:solidFill>
            <a:prstDash val="solid"/>
          </a:ln>
        </p:spPr>
      </p:sp>
      <p:sp>
        <p:nvSpPr>
          <p:cNvPr id="15" name="Text 13"/>
          <p:cNvSpPr/>
          <p:nvPr/>
        </p:nvSpPr>
        <p:spPr>
          <a:xfrm>
            <a:off x="5852160" y="2523744"/>
            <a:ext cx="5440680" cy="292608"/>
          </a:xfrm>
          <a:prstGeom prst="rect">
            <a:avLst/>
          </a:prstGeom>
          <a:noFill/>
          <a:ln/>
        </p:spPr>
        <p:txBody>
          <a:bodyPr wrap="square" lIns="0" tIns="0" rIns="0" bIns="0" rtlCol="0" anchor="ctr">
            <a:normAutofit/>
          </a:bodyPr>
          <a:lstStyle/>
          <a:p>
            <a:pPr marL="0" indent="0">
              <a:buNone/>
            </a:pPr>
            <a:r>
              <a:rPr lang="en-US" sz="1280" dirty="0">
                <a:solidFill>
                  <a:srgbClr val="3E7D20"/>
                </a:solidFill>
              </a:rPr>
              <a:t>✓ Move rules to a @Service.</a:t>
            </a:r>
            <a:endParaRPr lang="en-US" sz="1280" dirty="0"/>
          </a:p>
        </p:txBody>
      </p:sp>
      <p:sp>
        <p:nvSpPr>
          <p:cNvPr id="16" name="Shape 14"/>
          <p:cNvSpPr/>
          <p:nvPr/>
        </p:nvSpPr>
        <p:spPr>
          <a:xfrm>
            <a:off x="640080" y="3017520"/>
            <a:ext cx="4754880" cy="530352"/>
          </a:xfrm>
          <a:prstGeom prst="roundRect">
            <a:avLst/>
          </a:prstGeom>
          <a:solidFill>
            <a:srgbClr val="FFF7F7"/>
          </a:solidFill>
          <a:ln w="10160">
            <a:solidFill>
              <a:srgbClr val="FECACA"/>
            </a:solidFill>
            <a:prstDash val="solid"/>
          </a:ln>
        </p:spPr>
      </p:sp>
      <p:sp>
        <p:nvSpPr>
          <p:cNvPr id="17" name="Text 15"/>
          <p:cNvSpPr/>
          <p:nvPr/>
        </p:nvSpPr>
        <p:spPr>
          <a:xfrm>
            <a:off x="822960" y="3127248"/>
            <a:ext cx="4389120" cy="274320"/>
          </a:xfrm>
          <a:prstGeom prst="rect">
            <a:avLst/>
          </a:prstGeom>
          <a:noFill/>
          <a:ln/>
        </p:spPr>
        <p:txBody>
          <a:bodyPr wrap="square" lIns="0" tIns="0" rIns="0" bIns="0" rtlCol="0" anchor="ctr">
            <a:normAutofit/>
          </a:bodyPr>
          <a:lstStyle/>
          <a:p>
            <a:pPr marL="0" indent="0">
              <a:buNone/>
            </a:pPr>
            <a:r>
              <a:rPr lang="en-US" sz="1290" b="1" dirty="0">
                <a:solidFill>
                  <a:srgbClr val="DC2626"/>
                </a:solidFill>
              </a:rPr>
              <a:t>✗ Calling employee.save(employee)</a:t>
            </a:r>
            <a:endParaRPr lang="en-US" sz="1290" dirty="0"/>
          </a:p>
        </p:txBody>
      </p:sp>
      <p:sp>
        <p:nvSpPr>
          <p:cNvPr id="18" name="Shape 16"/>
          <p:cNvSpPr/>
          <p:nvPr/>
        </p:nvSpPr>
        <p:spPr>
          <a:xfrm>
            <a:off x="5669280" y="3017520"/>
            <a:ext cx="5806440" cy="530352"/>
          </a:xfrm>
          <a:prstGeom prst="roundRect">
            <a:avLst/>
          </a:prstGeom>
          <a:solidFill>
            <a:srgbClr val="F8FDF5"/>
          </a:solidFill>
          <a:ln w="10160">
            <a:solidFill>
              <a:srgbClr val="CDE9BD"/>
            </a:solidFill>
            <a:prstDash val="solid"/>
          </a:ln>
        </p:spPr>
      </p:sp>
      <p:sp>
        <p:nvSpPr>
          <p:cNvPr id="19" name="Text 17"/>
          <p:cNvSpPr/>
          <p:nvPr/>
        </p:nvSpPr>
        <p:spPr>
          <a:xfrm>
            <a:off x="5852160" y="3118104"/>
            <a:ext cx="5440680" cy="292608"/>
          </a:xfrm>
          <a:prstGeom prst="rect">
            <a:avLst/>
          </a:prstGeom>
          <a:noFill/>
          <a:ln/>
        </p:spPr>
        <p:txBody>
          <a:bodyPr wrap="square" lIns="0" tIns="0" rIns="0" bIns="0" rtlCol="0" anchor="ctr">
            <a:normAutofit/>
          </a:bodyPr>
          <a:lstStyle/>
          <a:p>
            <a:pPr marL="0" indent="0">
              <a:buNone/>
            </a:pPr>
            <a:r>
              <a:rPr lang="en-US" sz="1280" dirty="0">
                <a:solidFill>
                  <a:srgbClr val="3E7D20"/>
                </a:solidFill>
              </a:rPr>
              <a:t>✓ Call employeeRepository.save(employee).</a:t>
            </a:r>
            <a:endParaRPr lang="en-US" sz="1280" dirty="0"/>
          </a:p>
        </p:txBody>
      </p:sp>
      <p:sp>
        <p:nvSpPr>
          <p:cNvPr id="20" name="Shape 18"/>
          <p:cNvSpPr/>
          <p:nvPr/>
        </p:nvSpPr>
        <p:spPr>
          <a:xfrm>
            <a:off x="640080" y="3611880"/>
            <a:ext cx="4754880" cy="530352"/>
          </a:xfrm>
          <a:prstGeom prst="roundRect">
            <a:avLst/>
          </a:prstGeom>
          <a:solidFill>
            <a:srgbClr val="FEECEC"/>
          </a:solidFill>
          <a:ln w="10160">
            <a:solidFill>
              <a:srgbClr val="FECACA"/>
            </a:solidFill>
            <a:prstDash val="solid"/>
          </a:ln>
        </p:spPr>
      </p:sp>
      <p:sp>
        <p:nvSpPr>
          <p:cNvPr id="21" name="Text 19"/>
          <p:cNvSpPr/>
          <p:nvPr/>
        </p:nvSpPr>
        <p:spPr>
          <a:xfrm>
            <a:off x="822960" y="3721608"/>
            <a:ext cx="4389120" cy="274320"/>
          </a:xfrm>
          <a:prstGeom prst="rect">
            <a:avLst/>
          </a:prstGeom>
          <a:noFill/>
          <a:ln/>
        </p:spPr>
        <p:txBody>
          <a:bodyPr wrap="square" lIns="0" tIns="0" rIns="0" bIns="0" rtlCol="0" anchor="ctr">
            <a:normAutofit/>
          </a:bodyPr>
          <a:lstStyle/>
          <a:p>
            <a:pPr marL="0" indent="0">
              <a:buNone/>
            </a:pPr>
            <a:r>
              <a:rPr lang="en-US" sz="1290" b="1" dirty="0">
                <a:solidFill>
                  <a:srgbClr val="DC2626"/>
                </a:solidFill>
              </a:rPr>
              <a:t>✗ Repository ID type mismatch</a:t>
            </a:r>
            <a:endParaRPr lang="en-US" sz="1290" dirty="0"/>
          </a:p>
        </p:txBody>
      </p:sp>
      <p:sp>
        <p:nvSpPr>
          <p:cNvPr id="22" name="Shape 20"/>
          <p:cNvSpPr/>
          <p:nvPr/>
        </p:nvSpPr>
        <p:spPr>
          <a:xfrm>
            <a:off x="5669280" y="3611880"/>
            <a:ext cx="5806440" cy="530352"/>
          </a:xfrm>
          <a:prstGeom prst="roundRect">
            <a:avLst/>
          </a:prstGeom>
          <a:solidFill>
            <a:srgbClr val="EEF7E8"/>
          </a:solidFill>
          <a:ln w="10160">
            <a:solidFill>
              <a:srgbClr val="CDE9BD"/>
            </a:solidFill>
            <a:prstDash val="solid"/>
          </a:ln>
        </p:spPr>
      </p:sp>
      <p:sp>
        <p:nvSpPr>
          <p:cNvPr id="23" name="Text 21"/>
          <p:cNvSpPr/>
          <p:nvPr/>
        </p:nvSpPr>
        <p:spPr>
          <a:xfrm>
            <a:off x="5852160" y="3712464"/>
            <a:ext cx="5440680" cy="292608"/>
          </a:xfrm>
          <a:prstGeom prst="rect">
            <a:avLst/>
          </a:prstGeom>
          <a:noFill/>
          <a:ln/>
        </p:spPr>
        <p:txBody>
          <a:bodyPr wrap="square" lIns="0" tIns="0" rIns="0" bIns="0" rtlCol="0" anchor="ctr">
            <a:normAutofit/>
          </a:bodyPr>
          <a:lstStyle/>
          <a:p>
            <a:pPr marL="0" indent="0">
              <a:buNone/>
            </a:pPr>
            <a:r>
              <a:rPr lang="en-US" sz="1280" dirty="0">
                <a:solidFill>
                  <a:srgbClr val="3E7D20"/>
                </a:solidFill>
              </a:rPr>
              <a:t>✓ JpaRepository&lt;Employee, Long&gt; must match the @Id field type.</a:t>
            </a:r>
            <a:endParaRPr lang="en-US" sz="1280" dirty="0"/>
          </a:p>
        </p:txBody>
      </p:sp>
      <p:sp>
        <p:nvSpPr>
          <p:cNvPr id="24" name="Shape 22"/>
          <p:cNvSpPr/>
          <p:nvPr/>
        </p:nvSpPr>
        <p:spPr>
          <a:xfrm>
            <a:off x="640080" y="4206240"/>
            <a:ext cx="4754880" cy="530352"/>
          </a:xfrm>
          <a:prstGeom prst="roundRect">
            <a:avLst/>
          </a:prstGeom>
          <a:solidFill>
            <a:srgbClr val="FFF7F7"/>
          </a:solidFill>
          <a:ln w="10160">
            <a:solidFill>
              <a:srgbClr val="FECACA"/>
            </a:solidFill>
            <a:prstDash val="solid"/>
          </a:ln>
        </p:spPr>
      </p:sp>
      <p:sp>
        <p:nvSpPr>
          <p:cNvPr id="25" name="Text 23"/>
          <p:cNvSpPr/>
          <p:nvPr/>
        </p:nvSpPr>
        <p:spPr>
          <a:xfrm>
            <a:off x="822960" y="4315968"/>
            <a:ext cx="4389120" cy="274320"/>
          </a:xfrm>
          <a:prstGeom prst="rect">
            <a:avLst/>
          </a:prstGeom>
          <a:noFill/>
          <a:ln/>
        </p:spPr>
        <p:txBody>
          <a:bodyPr wrap="square" lIns="0" tIns="0" rIns="0" bIns="0" rtlCol="0" anchor="ctr">
            <a:normAutofit/>
          </a:bodyPr>
          <a:lstStyle/>
          <a:p>
            <a:pPr marL="0" indent="0">
              <a:buNone/>
            </a:pPr>
            <a:r>
              <a:rPr lang="en-US" sz="1290" b="1" dirty="0">
                <a:solidFill>
                  <a:srgbClr val="DC2626"/>
                </a:solidFill>
              </a:rPr>
              <a:t>✗ Missing starter/driver in pom.xml</a:t>
            </a:r>
            <a:endParaRPr lang="en-US" sz="1290" dirty="0"/>
          </a:p>
        </p:txBody>
      </p:sp>
      <p:sp>
        <p:nvSpPr>
          <p:cNvPr id="26" name="Shape 24"/>
          <p:cNvSpPr/>
          <p:nvPr/>
        </p:nvSpPr>
        <p:spPr>
          <a:xfrm>
            <a:off x="5669280" y="4206240"/>
            <a:ext cx="5806440" cy="530352"/>
          </a:xfrm>
          <a:prstGeom prst="roundRect">
            <a:avLst/>
          </a:prstGeom>
          <a:solidFill>
            <a:srgbClr val="F8FDF5"/>
          </a:solidFill>
          <a:ln w="10160">
            <a:solidFill>
              <a:srgbClr val="CDE9BD"/>
            </a:solidFill>
            <a:prstDash val="solid"/>
          </a:ln>
        </p:spPr>
      </p:sp>
      <p:sp>
        <p:nvSpPr>
          <p:cNvPr id="27" name="Text 25"/>
          <p:cNvSpPr/>
          <p:nvPr/>
        </p:nvSpPr>
        <p:spPr>
          <a:xfrm>
            <a:off x="5852160" y="4306824"/>
            <a:ext cx="5440680" cy="292608"/>
          </a:xfrm>
          <a:prstGeom prst="rect">
            <a:avLst/>
          </a:prstGeom>
          <a:noFill/>
          <a:ln/>
        </p:spPr>
        <p:txBody>
          <a:bodyPr wrap="square" lIns="0" tIns="0" rIns="0" bIns="0" rtlCol="0" anchor="ctr">
            <a:normAutofit/>
          </a:bodyPr>
          <a:lstStyle/>
          <a:p>
            <a:pPr marL="0" indent="0">
              <a:buNone/>
            </a:pPr>
            <a:r>
              <a:rPr lang="en-US" sz="1280" dirty="0">
                <a:solidFill>
                  <a:srgbClr val="3E7D20"/>
                </a:solidFill>
              </a:rPr>
              <a:t>✓ Add the correct starter/driver and reload Maven.</a:t>
            </a:r>
            <a:endParaRPr lang="en-US" sz="1280" dirty="0"/>
          </a:p>
        </p:txBody>
      </p:sp>
      <p:sp>
        <p:nvSpPr>
          <p:cNvPr id="28" name="Shape 26"/>
          <p:cNvSpPr/>
          <p:nvPr/>
        </p:nvSpPr>
        <p:spPr>
          <a:xfrm>
            <a:off x="640080" y="4800600"/>
            <a:ext cx="4754880" cy="530352"/>
          </a:xfrm>
          <a:prstGeom prst="roundRect">
            <a:avLst/>
          </a:prstGeom>
          <a:solidFill>
            <a:srgbClr val="FEECEC"/>
          </a:solidFill>
          <a:ln w="10160">
            <a:solidFill>
              <a:srgbClr val="FECACA"/>
            </a:solidFill>
            <a:prstDash val="solid"/>
          </a:ln>
        </p:spPr>
      </p:sp>
      <p:sp>
        <p:nvSpPr>
          <p:cNvPr id="29" name="Text 27"/>
          <p:cNvSpPr/>
          <p:nvPr/>
        </p:nvSpPr>
        <p:spPr>
          <a:xfrm>
            <a:off x="822960" y="4910328"/>
            <a:ext cx="4389120" cy="274320"/>
          </a:xfrm>
          <a:prstGeom prst="rect">
            <a:avLst/>
          </a:prstGeom>
          <a:noFill/>
          <a:ln/>
        </p:spPr>
        <p:txBody>
          <a:bodyPr wrap="square" lIns="0" tIns="0" rIns="0" bIns="0" rtlCol="0" anchor="ctr">
            <a:normAutofit/>
          </a:bodyPr>
          <a:lstStyle/>
          <a:p>
            <a:pPr marL="0" indent="0">
              <a:buNone/>
            </a:pPr>
            <a:r>
              <a:rPr lang="en-US" sz="1290" b="1" dirty="0">
                <a:solidFill>
                  <a:srgbClr val="DC2626"/>
                </a:solidFill>
              </a:rPr>
              <a:t>✗ Password committed in application.properties</a:t>
            </a:r>
            <a:endParaRPr lang="en-US" sz="1290" dirty="0"/>
          </a:p>
        </p:txBody>
      </p:sp>
      <p:sp>
        <p:nvSpPr>
          <p:cNvPr id="30" name="Shape 28"/>
          <p:cNvSpPr/>
          <p:nvPr/>
        </p:nvSpPr>
        <p:spPr>
          <a:xfrm>
            <a:off x="5669280" y="4800600"/>
            <a:ext cx="5806440" cy="530352"/>
          </a:xfrm>
          <a:prstGeom prst="roundRect">
            <a:avLst/>
          </a:prstGeom>
          <a:solidFill>
            <a:srgbClr val="EEF7E8"/>
          </a:solidFill>
          <a:ln w="10160">
            <a:solidFill>
              <a:srgbClr val="CDE9BD"/>
            </a:solidFill>
            <a:prstDash val="solid"/>
          </a:ln>
        </p:spPr>
      </p:sp>
      <p:sp>
        <p:nvSpPr>
          <p:cNvPr id="31" name="Text 29"/>
          <p:cNvSpPr/>
          <p:nvPr/>
        </p:nvSpPr>
        <p:spPr>
          <a:xfrm>
            <a:off x="5852160" y="4901184"/>
            <a:ext cx="5440680" cy="292608"/>
          </a:xfrm>
          <a:prstGeom prst="rect">
            <a:avLst/>
          </a:prstGeom>
          <a:noFill/>
          <a:ln/>
        </p:spPr>
        <p:txBody>
          <a:bodyPr wrap="square" lIns="0" tIns="0" rIns="0" bIns="0" rtlCol="0" anchor="ctr">
            <a:normAutofit/>
          </a:bodyPr>
          <a:lstStyle/>
          <a:p>
            <a:pPr marL="0" indent="0">
              <a:buNone/>
            </a:pPr>
            <a:r>
              <a:rPr lang="en-US" sz="1280" dirty="0">
                <a:solidFill>
                  <a:srgbClr val="3E7D20"/>
                </a:solidFill>
              </a:rPr>
              <a:t>✓ Use environment variables/secrets for real credentials.</a:t>
            </a:r>
            <a:endParaRPr lang="en-US" sz="1280" dirty="0"/>
          </a:p>
        </p:txBody>
      </p:sp>
      <p:sp>
        <p:nvSpPr>
          <p:cNvPr id="32" name="Shape 30"/>
          <p:cNvSpPr/>
          <p:nvPr/>
        </p:nvSpPr>
        <p:spPr>
          <a:xfrm>
            <a:off x="640080" y="5394960"/>
            <a:ext cx="4754880" cy="530352"/>
          </a:xfrm>
          <a:prstGeom prst="roundRect">
            <a:avLst/>
          </a:prstGeom>
          <a:solidFill>
            <a:srgbClr val="FFF7F7"/>
          </a:solidFill>
          <a:ln w="10160">
            <a:solidFill>
              <a:srgbClr val="FECACA"/>
            </a:solidFill>
            <a:prstDash val="solid"/>
          </a:ln>
        </p:spPr>
      </p:sp>
      <p:sp>
        <p:nvSpPr>
          <p:cNvPr id="33" name="Text 31"/>
          <p:cNvSpPr/>
          <p:nvPr/>
        </p:nvSpPr>
        <p:spPr>
          <a:xfrm>
            <a:off x="822960" y="5504688"/>
            <a:ext cx="4389120" cy="274320"/>
          </a:xfrm>
          <a:prstGeom prst="rect">
            <a:avLst/>
          </a:prstGeom>
          <a:noFill/>
          <a:ln/>
        </p:spPr>
        <p:txBody>
          <a:bodyPr wrap="square" lIns="0" tIns="0" rIns="0" bIns="0" rtlCol="0" anchor="ctr">
            <a:normAutofit/>
          </a:bodyPr>
          <a:lstStyle/>
          <a:p>
            <a:pPr marL="0" indent="0">
              <a:buNone/>
            </a:pPr>
            <a:r>
              <a:rPr lang="en-US" sz="1290" b="1" dirty="0">
                <a:solidFill>
                  <a:srgbClr val="DC2626"/>
                </a:solidFill>
              </a:rPr>
              <a:t>✗ Editing target/ or generated files</a:t>
            </a:r>
            <a:endParaRPr lang="en-US" sz="1290" dirty="0"/>
          </a:p>
        </p:txBody>
      </p:sp>
      <p:sp>
        <p:nvSpPr>
          <p:cNvPr id="34" name="Shape 32"/>
          <p:cNvSpPr/>
          <p:nvPr/>
        </p:nvSpPr>
        <p:spPr>
          <a:xfrm>
            <a:off x="5669280" y="5394960"/>
            <a:ext cx="5806440" cy="530352"/>
          </a:xfrm>
          <a:prstGeom prst="roundRect">
            <a:avLst/>
          </a:prstGeom>
          <a:solidFill>
            <a:srgbClr val="F8FDF5"/>
          </a:solidFill>
          <a:ln w="10160">
            <a:solidFill>
              <a:srgbClr val="CDE9BD"/>
            </a:solidFill>
            <a:prstDash val="solid"/>
          </a:ln>
        </p:spPr>
      </p:sp>
      <p:sp>
        <p:nvSpPr>
          <p:cNvPr id="35" name="Text 33"/>
          <p:cNvSpPr/>
          <p:nvPr/>
        </p:nvSpPr>
        <p:spPr>
          <a:xfrm>
            <a:off x="5852160" y="5495544"/>
            <a:ext cx="5440680" cy="292608"/>
          </a:xfrm>
          <a:prstGeom prst="rect">
            <a:avLst/>
          </a:prstGeom>
          <a:noFill/>
          <a:ln/>
        </p:spPr>
        <p:txBody>
          <a:bodyPr wrap="square" lIns="0" tIns="0" rIns="0" bIns="0" rtlCol="0" anchor="ctr">
            <a:normAutofit/>
          </a:bodyPr>
          <a:lstStyle/>
          <a:p>
            <a:pPr marL="0" indent="0">
              <a:buNone/>
            </a:pPr>
            <a:r>
              <a:rPr lang="en-US" sz="1280" dirty="0">
                <a:solidFill>
                  <a:srgbClr val="3E7D20"/>
                </a:solidFill>
              </a:rPr>
              <a:t>✓ Edit source files; regenerate build output.</a:t>
            </a:r>
            <a:endParaRPr lang="en-US" sz="1280" dirty="0"/>
          </a:p>
        </p:txBody>
      </p:sp>
      <p:sp>
        <p:nvSpPr>
          <p:cNvPr id="36" name="Slide Number Placeholder 0"/>
          <p:cNvSpPr>
            <a:spLocks noGrp="1"/>
          </p:cNvSpPr>
          <p:nvPr>
            <p:ph type="sldNum" sz="quarter" idx="4294967295"/>
          </p:nvPr>
        </p:nvSpPr>
        <p:spPr>
          <a:xfrm>
            <a:off x="11384280" y="6473952"/>
            <a:ext cx="384048"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latin typeface="Arial"/>
                <a:ea typeface="Arial"/>
                <a:cs typeface="Aria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02920" y="310896"/>
            <a:ext cx="11064240" cy="475488"/>
          </a:xfrm>
          <a:prstGeom prst="rect">
            <a:avLst/>
          </a:prstGeom>
          <a:noFill/>
          <a:ln/>
        </p:spPr>
        <p:txBody>
          <a:bodyPr wrap="square" lIns="0" tIns="0" rIns="0" bIns="0" rtlCol="0" anchor="ctr">
            <a:normAutofit/>
          </a:bodyPr>
          <a:lstStyle/>
          <a:p>
            <a:pPr marL="0" indent="0">
              <a:buNone/>
            </a:pPr>
            <a:r>
              <a:rPr lang="en-US" sz="2700" b="1" dirty="0">
                <a:solidFill>
                  <a:srgbClr val="1F2937"/>
                </a:solidFill>
                <a:latin typeface="Arial" pitchFamily="34" charset="0"/>
                <a:ea typeface="Arial" pitchFamily="34" charset="-122"/>
                <a:cs typeface="Arial" pitchFamily="34" charset="-120"/>
              </a:rPr>
              <a:t>“Where should this code go?” — quick decision map</a:t>
            </a:r>
            <a:endParaRPr lang="en-US" sz="2700" dirty="0"/>
          </a:p>
        </p:txBody>
      </p:sp>
      <p:sp>
        <p:nvSpPr>
          <p:cNvPr id="3" name="Text 1"/>
          <p:cNvSpPr/>
          <p:nvPr/>
        </p:nvSpPr>
        <p:spPr>
          <a:xfrm>
            <a:off x="530352" y="804672"/>
            <a:ext cx="10881360" cy="310896"/>
          </a:xfrm>
          <a:prstGeom prst="rect">
            <a:avLst/>
          </a:prstGeom>
          <a:noFill/>
          <a:ln/>
        </p:spPr>
        <p:txBody>
          <a:bodyPr wrap="square" lIns="0" tIns="0" rIns="0" bIns="0" rtlCol="0" anchor="ctr">
            <a:normAutofit/>
          </a:bodyPr>
          <a:lstStyle/>
          <a:p>
            <a:pPr marL="0" indent="0">
              <a:buNone/>
            </a:pPr>
            <a:r>
              <a:rPr lang="en-US" sz="1250" dirty="0">
                <a:solidFill>
                  <a:srgbClr val="64748B"/>
                </a:solidFill>
                <a:latin typeface="Arial" pitchFamily="34" charset="0"/>
                <a:ea typeface="Arial" pitchFamily="34" charset="-122"/>
                <a:cs typeface="Arial" pitchFamily="34" charset="-120"/>
              </a:rPr>
              <a:t>Use responsibility, not file size, to decide package placement</a:t>
            </a:r>
            <a:endParaRPr lang="en-US" sz="1250" dirty="0"/>
          </a:p>
        </p:txBody>
      </p:sp>
      <p:sp>
        <p:nvSpPr>
          <p:cNvPr id="4" name="Shape 2"/>
          <p:cNvSpPr/>
          <p:nvPr/>
        </p:nvSpPr>
        <p:spPr>
          <a:xfrm>
            <a:off x="4434840" y="1234440"/>
            <a:ext cx="3291840" cy="603504"/>
          </a:xfrm>
          <a:prstGeom prst="roundRect">
            <a:avLst>
              <a:gd name="adj" fmla="val 7576"/>
            </a:avLst>
          </a:prstGeom>
          <a:solidFill>
            <a:srgbClr val="F4F8F1"/>
          </a:solidFill>
          <a:ln w="12700">
            <a:solidFill>
              <a:srgbClr val="CBD5E1"/>
            </a:solidFill>
            <a:prstDash val="solid"/>
          </a:ln>
        </p:spPr>
      </p:sp>
      <p:sp>
        <p:nvSpPr>
          <p:cNvPr id="5" name="Text 3"/>
          <p:cNvSpPr/>
          <p:nvPr/>
        </p:nvSpPr>
        <p:spPr>
          <a:xfrm>
            <a:off x="4498848" y="1280160"/>
            <a:ext cx="3163824" cy="512064"/>
          </a:xfrm>
          <a:prstGeom prst="rect">
            <a:avLst/>
          </a:prstGeom>
          <a:noFill/>
          <a:ln/>
        </p:spPr>
        <p:txBody>
          <a:bodyPr wrap="square" lIns="254" tIns="254" rIns="254" bIns="254" rtlCol="0" anchor="ctr">
            <a:normAutofit/>
          </a:bodyPr>
          <a:lstStyle/>
          <a:p>
            <a:pPr marL="0" indent="0" algn="ctr">
              <a:buNone/>
            </a:pPr>
            <a:r>
              <a:rPr lang="en-US" sz="1700" b="1" dirty="0">
                <a:solidFill>
                  <a:srgbClr val="1F2937"/>
                </a:solidFill>
                <a:latin typeface="Arial" pitchFamily="34" charset="0"/>
                <a:ea typeface="Arial" pitchFamily="34" charset="-122"/>
                <a:cs typeface="Arial" pitchFamily="34" charset="-120"/>
              </a:rPr>
              <a:t>What is this code responsible for?</a:t>
            </a:r>
            <a:endParaRPr lang="en-US" sz="1700" dirty="0"/>
          </a:p>
        </p:txBody>
      </p:sp>
      <p:sp>
        <p:nvSpPr>
          <p:cNvPr id="6" name="Shape 4"/>
          <p:cNvSpPr/>
          <p:nvPr/>
        </p:nvSpPr>
        <p:spPr>
          <a:xfrm>
            <a:off x="502920" y="2423160"/>
            <a:ext cx="1828800" cy="640080"/>
          </a:xfrm>
          <a:prstGeom prst="roundRect">
            <a:avLst>
              <a:gd name="adj" fmla="val 7143"/>
            </a:avLst>
          </a:prstGeom>
          <a:solidFill>
            <a:srgbClr val="EAF2FF"/>
          </a:solidFill>
          <a:ln w="12700">
            <a:solidFill>
              <a:srgbClr val="D1D5DB"/>
            </a:solidFill>
            <a:prstDash val="solid"/>
          </a:ln>
        </p:spPr>
      </p:sp>
      <p:sp>
        <p:nvSpPr>
          <p:cNvPr id="7" name="Text 5"/>
          <p:cNvSpPr/>
          <p:nvPr/>
        </p:nvSpPr>
        <p:spPr>
          <a:xfrm>
            <a:off x="566928" y="2468880"/>
            <a:ext cx="1700784" cy="548640"/>
          </a:xfrm>
          <a:prstGeom prst="rect">
            <a:avLst/>
          </a:prstGeom>
          <a:noFill/>
          <a:ln/>
        </p:spPr>
        <p:txBody>
          <a:bodyPr wrap="square" lIns="254" tIns="254" rIns="254" bIns="254" rtlCol="0" anchor="ctr">
            <a:normAutofit/>
          </a:bodyPr>
          <a:lstStyle/>
          <a:p>
            <a:pPr marL="0" indent="0" algn="ctr">
              <a:buNone/>
            </a:pPr>
            <a:r>
              <a:rPr lang="en-US" sz="1230" b="1" dirty="0">
                <a:solidFill>
                  <a:srgbClr val="2563EB"/>
                </a:solidFill>
                <a:latin typeface="Arial" pitchFamily="34" charset="0"/>
                <a:ea typeface="Arial" pitchFamily="34" charset="-122"/>
                <a:cs typeface="Arial" pitchFamily="34" charset="-120"/>
              </a:rPr>
              <a:t>HTTP URL / request / response?</a:t>
            </a:r>
            <a:endParaRPr lang="en-US" sz="1230" dirty="0"/>
          </a:p>
        </p:txBody>
      </p:sp>
      <p:sp>
        <p:nvSpPr>
          <p:cNvPr id="8" name="Text 6"/>
          <p:cNvSpPr/>
          <p:nvPr/>
        </p:nvSpPr>
        <p:spPr>
          <a:xfrm>
            <a:off x="685800" y="3227832"/>
            <a:ext cx="1463040" cy="320040"/>
          </a:xfrm>
          <a:prstGeom prst="rect">
            <a:avLst/>
          </a:prstGeom>
          <a:noFill/>
          <a:ln/>
        </p:spPr>
        <p:txBody>
          <a:bodyPr wrap="square" lIns="0" tIns="0" rIns="0" bIns="0" rtlCol="0" anchor="ctr"/>
          <a:lstStyle/>
          <a:p>
            <a:pPr marL="0" indent="0" algn="ctr">
              <a:buNone/>
            </a:pPr>
            <a:r>
              <a:rPr lang="en-US" sz="1400" b="1" dirty="0">
                <a:solidFill>
                  <a:srgbClr val="2563EB"/>
                </a:solidFill>
                <a:latin typeface="Courier New" pitchFamily="34" charset="0"/>
                <a:ea typeface="Courier New" pitchFamily="34" charset="-122"/>
                <a:cs typeface="Courier New" pitchFamily="34" charset="-120"/>
              </a:rPr>
              <a:t>controller/</a:t>
            </a:r>
            <a:endParaRPr lang="en-US" sz="1400" dirty="0"/>
          </a:p>
        </p:txBody>
      </p:sp>
      <p:sp>
        <p:nvSpPr>
          <p:cNvPr id="9" name="Shape 7"/>
          <p:cNvSpPr/>
          <p:nvPr/>
        </p:nvSpPr>
        <p:spPr>
          <a:xfrm>
            <a:off x="6080760" y="1828800"/>
            <a:ext cx="0" cy="521208"/>
          </a:xfrm>
          <a:prstGeom prst="line">
            <a:avLst/>
          </a:prstGeom>
          <a:noFill/>
          <a:ln w="19050">
            <a:solidFill>
              <a:srgbClr val="64748B"/>
            </a:solidFill>
            <a:prstDash val="solid"/>
            <a:tailEnd type="triangle"/>
          </a:ln>
        </p:spPr>
      </p:sp>
      <p:sp>
        <p:nvSpPr>
          <p:cNvPr id="10" name="Shape 8"/>
          <p:cNvSpPr/>
          <p:nvPr/>
        </p:nvSpPr>
        <p:spPr>
          <a:xfrm>
            <a:off x="2834640" y="3611880"/>
            <a:ext cx="1828800" cy="640080"/>
          </a:xfrm>
          <a:prstGeom prst="roundRect">
            <a:avLst>
              <a:gd name="adj" fmla="val 7143"/>
            </a:avLst>
          </a:prstGeom>
          <a:solidFill>
            <a:srgbClr val="EEF7E8"/>
          </a:solidFill>
          <a:ln w="12700">
            <a:solidFill>
              <a:srgbClr val="D1D5DB"/>
            </a:solidFill>
            <a:prstDash val="solid"/>
          </a:ln>
        </p:spPr>
      </p:sp>
      <p:sp>
        <p:nvSpPr>
          <p:cNvPr id="11" name="Text 9"/>
          <p:cNvSpPr/>
          <p:nvPr/>
        </p:nvSpPr>
        <p:spPr>
          <a:xfrm>
            <a:off x="2898648" y="3657600"/>
            <a:ext cx="1700784" cy="548640"/>
          </a:xfrm>
          <a:prstGeom prst="rect">
            <a:avLst/>
          </a:prstGeom>
          <a:noFill/>
          <a:ln/>
        </p:spPr>
        <p:txBody>
          <a:bodyPr wrap="square" lIns="254" tIns="254" rIns="254" bIns="254" rtlCol="0" anchor="ctr">
            <a:normAutofit/>
          </a:bodyPr>
          <a:lstStyle/>
          <a:p>
            <a:pPr marL="0" indent="0" algn="ctr">
              <a:buNone/>
            </a:pPr>
            <a:r>
              <a:rPr lang="en-US" sz="1230" b="1" dirty="0">
                <a:solidFill>
                  <a:srgbClr val="3E7D20"/>
                </a:solidFill>
                <a:latin typeface="Arial" pitchFamily="34" charset="0"/>
                <a:ea typeface="Arial" pitchFamily="34" charset="-122"/>
                <a:cs typeface="Arial" pitchFamily="34" charset="-120"/>
              </a:rPr>
              <a:t>Business rule / use case?</a:t>
            </a:r>
            <a:endParaRPr lang="en-US" sz="1230" dirty="0"/>
          </a:p>
        </p:txBody>
      </p:sp>
      <p:sp>
        <p:nvSpPr>
          <p:cNvPr id="12" name="Text 10"/>
          <p:cNvSpPr/>
          <p:nvPr/>
        </p:nvSpPr>
        <p:spPr>
          <a:xfrm>
            <a:off x="3017520" y="4416552"/>
            <a:ext cx="1463040" cy="320040"/>
          </a:xfrm>
          <a:prstGeom prst="rect">
            <a:avLst/>
          </a:prstGeom>
          <a:noFill/>
          <a:ln/>
        </p:spPr>
        <p:txBody>
          <a:bodyPr wrap="square" lIns="0" tIns="0" rIns="0" bIns="0" rtlCol="0" anchor="ctr"/>
          <a:lstStyle/>
          <a:p>
            <a:pPr marL="0" indent="0" algn="ctr">
              <a:buNone/>
            </a:pPr>
            <a:r>
              <a:rPr lang="en-US" sz="1400" b="1" dirty="0">
                <a:solidFill>
                  <a:srgbClr val="3E7D20"/>
                </a:solidFill>
                <a:latin typeface="Courier New" pitchFamily="34" charset="0"/>
                <a:ea typeface="Courier New" pitchFamily="34" charset="-122"/>
                <a:cs typeface="Courier New" pitchFamily="34" charset="-120"/>
              </a:rPr>
              <a:t>service/</a:t>
            </a:r>
            <a:endParaRPr lang="en-US" sz="1400" dirty="0"/>
          </a:p>
        </p:txBody>
      </p:sp>
      <p:sp>
        <p:nvSpPr>
          <p:cNvPr id="13" name="Shape 11"/>
          <p:cNvSpPr/>
          <p:nvPr/>
        </p:nvSpPr>
        <p:spPr>
          <a:xfrm>
            <a:off x="6080760" y="1828800"/>
            <a:ext cx="0" cy="1709928"/>
          </a:xfrm>
          <a:prstGeom prst="line">
            <a:avLst/>
          </a:prstGeom>
          <a:noFill/>
          <a:ln w="19050">
            <a:solidFill>
              <a:srgbClr val="64748B"/>
            </a:solidFill>
            <a:prstDash val="solid"/>
            <a:tailEnd type="triangle"/>
          </a:ln>
        </p:spPr>
      </p:sp>
      <p:sp>
        <p:nvSpPr>
          <p:cNvPr id="14" name="Shape 12"/>
          <p:cNvSpPr/>
          <p:nvPr/>
        </p:nvSpPr>
        <p:spPr>
          <a:xfrm>
            <a:off x="5166360" y="2423160"/>
            <a:ext cx="1828800" cy="640080"/>
          </a:xfrm>
          <a:prstGeom prst="roundRect">
            <a:avLst>
              <a:gd name="adj" fmla="val 7143"/>
            </a:avLst>
          </a:prstGeom>
          <a:solidFill>
            <a:srgbClr val="E6F7F4"/>
          </a:solidFill>
          <a:ln w="12700">
            <a:solidFill>
              <a:srgbClr val="D1D5DB"/>
            </a:solidFill>
            <a:prstDash val="solid"/>
          </a:ln>
        </p:spPr>
      </p:sp>
      <p:sp>
        <p:nvSpPr>
          <p:cNvPr id="15" name="Text 13"/>
          <p:cNvSpPr/>
          <p:nvPr/>
        </p:nvSpPr>
        <p:spPr>
          <a:xfrm>
            <a:off x="5230368" y="2468880"/>
            <a:ext cx="1700784" cy="548640"/>
          </a:xfrm>
          <a:prstGeom prst="rect">
            <a:avLst/>
          </a:prstGeom>
          <a:noFill/>
          <a:ln/>
        </p:spPr>
        <p:txBody>
          <a:bodyPr wrap="square" lIns="254" tIns="254" rIns="254" bIns="254" rtlCol="0" anchor="ctr">
            <a:normAutofit/>
          </a:bodyPr>
          <a:lstStyle/>
          <a:p>
            <a:pPr marL="0" indent="0" algn="ctr">
              <a:buNone/>
            </a:pPr>
            <a:r>
              <a:rPr lang="en-US" sz="1230" b="1" dirty="0">
                <a:solidFill>
                  <a:srgbClr val="0F766E"/>
                </a:solidFill>
                <a:latin typeface="Arial" pitchFamily="34" charset="0"/>
                <a:ea typeface="Arial" pitchFamily="34" charset="-122"/>
                <a:cs typeface="Arial" pitchFamily="34" charset="-120"/>
              </a:rPr>
              <a:t>Database access / query?</a:t>
            </a:r>
            <a:endParaRPr lang="en-US" sz="1230" dirty="0"/>
          </a:p>
        </p:txBody>
      </p:sp>
      <p:sp>
        <p:nvSpPr>
          <p:cNvPr id="16" name="Text 14"/>
          <p:cNvSpPr/>
          <p:nvPr/>
        </p:nvSpPr>
        <p:spPr>
          <a:xfrm>
            <a:off x="5349240" y="3227832"/>
            <a:ext cx="1463040" cy="320040"/>
          </a:xfrm>
          <a:prstGeom prst="rect">
            <a:avLst/>
          </a:prstGeom>
          <a:noFill/>
          <a:ln/>
        </p:spPr>
        <p:txBody>
          <a:bodyPr wrap="square" lIns="0" tIns="0" rIns="0" bIns="0" rtlCol="0" anchor="ctr"/>
          <a:lstStyle/>
          <a:p>
            <a:pPr marL="0" indent="0" algn="ctr">
              <a:buNone/>
            </a:pPr>
            <a:r>
              <a:rPr lang="en-US" sz="1400" b="1" dirty="0">
                <a:solidFill>
                  <a:srgbClr val="0F766E"/>
                </a:solidFill>
                <a:latin typeface="Courier New" pitchFamily="34" charset="0"/>
                <a:ea typeface="Courier New" pitchFamily="34" charset="-122"/>
                <a:cs typeface="Courier New" pitchFamily="34" charset="-120"/>
              </a:rPr>
              <a:t>repository/</a:t>
            </a:r>
            <a:endParaRPr lang="en-US" sz="1400" dirty="0"/>
          </a:p>
        </p:txBody>
      </p:sp>
      <p:sp>
        <p:nvSpPr>
          <p:cNvPr id="17" name="Shape 15"/>
          <p:cNvSpPr/>
          <p:nvPr/>
        </p:nvSpPr>
        <p:spPr>
          <a:xfrm>
            <a:off x="6080760" y="1828800"/>
            <a:ext cx="0" cy="521208"/>
          </a:xfrm>
          <a:prstGeom prst="line">
            <a:avLst/>
          </a:prstGeom>
          <a:noFill/>
          <a:ln w="19050">
            <a:solidFill>
              <a:srgbClr val="64748B"/>
            </a:solidFill>
            <a:prstDash val="solid"/>
            <a:tailEnd type="triangle"/>
          </a:ln>
        </p:spPr>
      </p:sp>
      <p:sp>
        <p:nvSpPr>
          <p:cNvPr id="18" name="Shape 16"/>
          <p:cNvSpPr/>
          <p:nvPr/>
        </p:nvSpPr>
        <p:spPr>
          <a:xfrm>
            <a:off x="7498080" y="3611880"/>
            <a:ext cx="1828800" cy="640080"/>
          </a:xfrm>
          <a:prstGeom prst="roundRect">
            <a:avLst>
              <a:gd name="adj" fmla="val 7143"/>
            </a:avLst>
          </a:prstGeom>
          <a:solidFill>
            <a:srgbClr val="FFF4DB"/>
          </a:solidFill>
          <a:ln w="12700">
            <a:solidFill>
              <a:srgbClr val="D1D5DB"/>
            </a:solidFill>
            <a:prstDash val="solid"/>
          </a:ln>
        </p:spPr>
      </p:sp>
      <p:sp>
        <p:nvSpPr>
          <p:cNvPr id="19" name="Text 17"/>
          <p:cNvSpPr/>
          <p:nvPr/>
        </p:nvSpPr>
        <p:spPr>
          <a:xfrm>
            <a:off x="7562088" y="3657600"/>
            <a:ext cx="1700784" cy="548640"/>
          </a:xfrm>
          <a:prstGeom prst="rect">
            <a:avLst/>
          </a:prstGeom>
          <a:noFill/>
          <a:ln/>
        </p:spPr>
        <p:txBody>
          <a:bodyPr wrap="square" lIns="254" tIns="254" rIns="254" bIns="254" rtlCol="0" anchor="ctr">
            <a:normAutofit/>
          </a:bodyPr>
          <a:lstStyle/>
          <a:p>
            <a:pPr marL="0" indent="0" algn="ctr">
              <a:buNone/>
            </a:pPr>
            <a:r>
              <a:rPr lang="en-US" sz="1230" b="1" dirty="0">
                <a:solidFill>
                  <a:srgbClr val="A16207"/>
                </a:solidFill>
                <a:latin typeface="Arial" pitchFamily="34" charset="0"/>
                <a:ea typeface="Arial" pitchFamily="34" charset="-122"/>
                <a:cs typeface="Arial" pitchFamily="34" charset="-120"/>
              </a:rPr>
              <a:t>Persistent domain state?</a:t>
            </a:r>
            <a:endParaRPr lang="en-US" sz="1230" dirty="0"/>
          </a:p>
        </p:txBody>
      </p:sp>
      <p:sp>
        <p:nvSpPr>
          <p:cNvPr id="20" name="Text 18"/>
          <p:cNvSpPr/>
          <p:nvPr/>
        </p:nvSpPr>
        <p:spPr>
          <a:xfrm>
            <a:off x="7680960" y="4416552"/>
            <a:ext cx="1463040" cy="320040"/>
          </a:xfrm>
          <a:prstGeom prst="rect">
            <a:avLst/>
          </a:prstGeom>
          <a:noFill/>
          <a:ln/>
        </p:spPr>
        <p:txBody>
          <a:bodyPr wrap="square" lIns="0" tIns="0" rIns="0" bIns="0" rtlCol="0" anchor="ctr"/>
          <a:lstStyle/>
          <a:p>
            <a:pPr marL="0" indent="0" algn="ctr">
              <a:buNone/>
            </a:pPr>
            <a:r>
              <a:rPr lang="en-US" sz="1400" b="1" dirty="0">
                <a:solidFill>
                  <a:srgbClr val="A16207"/>
                </a:solidFill>
                <a:latin typeface="Courier New" pitchFamily="34" charset="0"/>
                <a:ea typeface="Courier New" pitchFamily="34" charset="-122"/>
                <a:cs typeface="Courier New" pitchFamily="34" charset="-120"/>
              </a:rPr>
              <a:t>entity/</a:t>
            </a:r>
            <a:endParaRPr lang="en-US" sz="1400" dirty="0"/>
          </a:p>
        </p:txBody>
      </p:sp>
      <p:sp>
        <p:nvSpPr>
          <p:cNvPr id="21" name="Shape 19"/>
          <p:cNvSpPr/>
          <p:nvPr/>
        </p:nvSpPr>
        <p:spPr>
          <a:xfrm>
            <a:off x="6080760" y="1828800"/>
            <a:ext cx="2331720" cy="1709928"/>
          </a:xfrm>
          <a:prstGeom prst="line">
            <a:avLst/>
          </a:prstGeom>
          <a:noFill/>
          <a:ln w="19050">
            <a:solidFill>
              <a:srgbClr val="64748B"/>
            </a:solidFill>
            <a:prstDash val="solid"/>
            <a:tailEnd type="triangle"/>
          </a:ln>
        </p:spPr>
      </p:sp>
      <p:sp>
        <p:nvSpPr>
          <p:cNvPr id="22" name="Shape 20"/>
          <p:cNvSpPr/>
          <p:nvPr/>
        </p:nvSpPr>
        <p:spPr>
          <a:xfrm>
            <a:off x="9829800" y="2423160"/>
            <a:ext cx="1828800" cy="640080"/>
          </a:xfrm>
          <a:prstGeom prst="roundRect">
            <a:avLst>
              <a:gd name="adj" fmla="val 7143"/>
            </a:avLst>
          </a:prstGeom>
          <a:solidFill>
            <a:srgbClr val="F2EBFF"/>
          </a:solidFill>
          <a:ln w="12700">
            <a:solidFill>
              <a:srgbClr val="D1D5DB"/>
            </a:solidFill>
            <a:prstDash val="solid"/>
          </a:ln>
        </p:spPr>
      </p:sp>
      <p:sp>
        <p:nvSpPr>
          <p:cNvPr id="23" name="Text 21"/>
          <p:cNvSpPr/>
          <p:nvPr/>
        </p:nvSpPr>
        <p:spPr>
          <a:xfrm>
            <a:off x="9893808" y="2468880"/>
            <a:ext cx="1700784" cy="548640"/>
          </a:xfrm>
          <a:prstGeom prst="rect">
            <a:avLst/>
          </a:prstGeom>
          <a:noFill/>
          <a:ln/>
        </p:spPr>
        <p:txBody>
          <a:bodyPr wrap="square" lIns="254" tIns="254" rIns="254" bIns="254" rtlCol="0" anchor="ctr">
            <a:normAutofit/>
          </a:bodyPr>
          <a:lstStyle/>
          <a:p>
            <a:pPr marL="0" indent="0" algn="ctr">
              <a:buNone/>
            </a:pPr>
            <a:r>
              <a:rPr lang="en-US" sz="1230" b="1" dirty="0">
                <a:solidFill>
                  <a:srgbClr val="7C3AED"/>
                </a:solidFill>
                <a:latin typeface="Arial" pitchFamily="34" charset="0"/>
                <a:ea typeface="Arial" pitchFamily="34" charset="-122"/>
                <a:cs typeface="Arial" pitchFamily="34" charset="-120"/>
              </a:rPr>
              <a:t>API request/response shape?</a:t>
            </a:r>
            <a:endParaRPr lang="en-US" sz="1230" dirty="0"/>
          </a:p>
        </p:txBody>
      </p:sp>
      <p:sp>
        <p:nvSpPr>
          <p:cNvPr id="24" name="Text 22"/>
          <p:cNvSpPr/>
          <p:nvPr/>
        </p:nvSpPr>
        <p:spPr>
          <a:xfrm>
            <a:off x="10012680" y="3227832"/>
            <a:ext cx="1463040" cy="320040"/>
          </a:xfrm>
          <a:prstGeom prst="rect">
            <a:avLst/>
          </a:prstGeom>
          <a:noFill/>
          <a:ln/>
        </p:spPr>
        <p:txBody>
          <a:bodyPr wrap="square" lIns="0" tIns="0" rIns="0" bIns="0" rtlCol="0" anchor="ctr"/>
          <a:lstStyle/>
          <a:p>
            <a:pPr marL="0" indent="0" algn="ctr">
              <a:buNone/>
            </a:pPr>
            <a:r>
              <a:rPr lang="en-US" sz="1400" b="1" dirty="0">
                <a:solidFill>
                  <a:srgbClr val="7C3AED"/>
                </a:solidFill>
                <a:latin typeface="Courier New" pitchFamily="34" charset="0"/>
                <a:ea typeface="Courier New" pitchFamily="34" charset="-122"/>
                <a:cs typeface="Courier New" pitchFamily="34" charset="-120"/>
              </a:rPr>
              <a:t>dto/</a:t>
            </a:r>
            <a:endParaRPr lang="en-US" sz="1400" dirty="0"/>
          </a:p>
        </p:txBody>
      </p:sp>
      <p:sp>
        <p:nvSpPr>
          <p:cNvPr id="25" name="Shape 23"/>
          <p:cNvSpPr/>
          <p:nvPr/>
        </p:nvSpPr>
        <p:spPr>
          <a:xfrm>
            <a:off x="6080760" y="1828800"/>
            <a:ext cx="4663440" cy="521208"/>
          </a:xfrm>
          <a:prstGeom prst="line">
            <a:avLst/>
          </a:prstGeom>
          <a:noFill/>
          <a:ln w="19050">
            <a:solidFill>
              <a:srgbClr val="64748B"/>
            </a:solidFill>
            <a:prstDash val="solid"/>
            <a:tailEnd type="triangle"/>
          </a:ln>
        </p:spPr>
      </p:sp>
      <p:sp>
        <p:nvSpPr>
          <p:cNvPr id="26" name="Shape 24"/>
          <p:cNvSpPr/>
          <p:nvPr/>
        </p:nvSpPr>
        <p:spPr>
          <a:xfrm>
            <a:off x="2880360" y="5166360"/>
            <a:ext cx="2560320" cy="548640"/>
          </a:xfrm>
          <a:prstGeom prst="roundRect">
            <a:avLst>
              <a:gd name="adj" fmla="val 8333"/>
            </a:avLst>
          </a:prstGeom>
          <a:solidFill>
            <a:srgbClr val="EAF2FF"/>
          </a:solidFill>
          <a:ln w="12700">
            <a:solidFill>
              <a:srgbClr val="B9D1FF"/>
            </a:solidFill>
            <a:prstDash val="solid"/>
          </a:ln>
        </p:spPr>
      </p:sp>
      <p:sp>
        <p:nvSpPr>
          <p:cNvPr id="27" name="Text 25"/>
          <p:cNvSpPr/>
          <p:nvPr/>
        </p:nvSpPr>
        <p:spPr>
          <a:xfrm>
            <a:off x="2944368" y="5212080"/>
            <a:ext cx="2432304" cy="457200"/>
          </a:xfrm>
          <a:prstGeom prst="rect">
            <a:avLst/>
          </a:prstGeom>
          <a:noFill/>
          <a:ln/>
        </p:spPr>
        <p:txBody>
          <a:bodyPr wrap="square" lIns="254" tIns="254" rIns="254" bIns="254" rtlCol="0" anchor="ctr">
            <a:normAutofit/>
          </a:bodyPr>
          <a:lstStyle/>
          <a:p>
            <a:pPr marL="0" indent="0" algn="ctr">
              <a:buNone/>
            </a:pPr>
            <a:r>
              <a:rPr lang="en-US" sz="1280" b="1" dirty="0">
                <a:solidFill>
                  <a:srgbClr val="2563EB"/>
                </a:solidFill>
                <a:latin typeface="Arial" pitchFamily="34" charset="0"/>
                <a:ea typeface="Arial" pitchFamily="34" charset="-122"/>
                <a:cs typeface="Arial" pitchFamily="34" charset="-120"/>
              </a:rPr>
              <a:t>Cross-cutting configuration?</a:t>
            </a:r>
            <a:endParaRPr lang="en-US" sz="1280" dirty="0"/>
          </a:p>
        </p:txBody>
      </p:sp>
      <p:sp>
        <p:nvSpPr>
          <p:cNvPr id="28" name="Text 26"/>
          <p:cNvSpPr/>
          <p:nvPr/>
        </p:nvSpPr>
        <p:spPr>
          <a:xfrm>
            <a:off x="3520440" y="5806440"/>
            <a:ext cx="1280160" cy="274320"/>
          </a:xfrm>
          <a:prstGeom prst="rect">
            <a:avLst/>
          </a:prstGeom>
          <a:noFill/>
          <a:ln/>
        </p:spPr>
        <p:txBody>
          <a:bodyPr wrap="square" lIns="0" tIns="0" rIns="0" bIns="0" rtlCol="0" anchor="ctr"/>
          <a:lstStyle/>
          <a:p>
            <a:pPr marL="0" indent="0" algn="ctr">
              <a:buNone/>
            </a:pPr>
            <a:r>
              <a:rPr lang="en-US" sz="1400" b="1" dirty="0">
                <a:solidFill>
                  <a:srgbClr val="2563EB"/>
                </a:solidFill>
                <a:latin typeface="Courier New" pitchFamily="34" charset="0"/>
                <a:ea typeface="Courier New" pitchFamily="34" charset="-122"/>
                <a:cs typeface="Courier New" pitchFamily="34" charset="-120"/>
              </a:rPr>
              <a:t>config/</a:t>
            </a:r>
            <a:endParaRPr lang="en-US" sz="1400" dirty="0"/>
          </a:p>
        </p:txBody>
      </p:sp>
      <p:sp>
        <p:nvSpPr>
          <p:cNvPr id="29" name="Shape 27"/>
          <p:cNvSpPr/>
          <p:nvPr/>
        </p:nvSpPr>
        <p:spPr>
          <a:xfrm>
            <a:off x="6720840" y="5166360"/>
            <a:ext cx="2560320" cy="548640"/>
          </a:xfrm>
          <a:prstGeom prst="roundRect">
            <a:avLst>
              <a:gd name="adj" fmla="val 8333"/>
            </a:avLst>
          </a:prstGeom>
          <a:solidFill>
            <a:srgbClr val="FEECEC"/>
          </a:solidFill>
          <a:ln w="12700">
            <a:solidFill>
              <a:srgbClr val="FECACA"/>
            </a:solidFill>
            <a:prstDash val="solid"/>
          </a:ln>
        </p:spPr>
      </p:sp>
      <p:sp>
        <p:nvSpPr>
          <p:cNvPr id="30" name="Text 28"/>
          <p:cNvSpPr/>
          <p:nvPr/>
        </p:nvSpPr>
        <p:spPr>
          <a:xfrm>
            <a:off x="6784848" y="5212080"/>
            <a:ext cx="2432304" cy="457200"/>
          </a:xfrm>
          <a:prstGeom prst="rect">
            <a:avLst/>
          </a:prstGeom>
          <a:noFill/>
          <a:ln/>
        </p:spPr>
        <p:txBody>
          <a:bodyPr wrap="square" lIns="254" tIns="254" rIns="254" bIns="254" rtlCol="0" anchor="ctr">
            <a:normAutofit/>
          </a:bodyPr>
          <a:lstStyle/>
          <a:p>
            <a:pPr marL="0" indent="0" algn="ctr">
              <a:buNone/>
            </a:pPr>
            <a:r>
              <a:rPr lang="en-US" sz="1280" b="1" dirty="0">
                <a:solidFill>
                  <a:srgbClr val="DC2626"/>
                </a:solidFill>
                <a:latin typeface="Arial" pitchFamily="34" charset="0"/>
                <a:ea typeface="Arial" pitchFamily="34" charset="-122"/>
                <a:cs typeface="Arial" pitchFamily="34" charset="-120"/>
              </a:rPr>
              <a:t>Error handling?</a:t>
            </a:r>
            <a:endParaRPr lang="en-US" sz="1280" dirty="0"/>
          </a:p>
        </p:txBody>
      </p:sp>
      <p:sp>
        <p:nvSpPr>
          <p:cNvPr id="31" name="Text 29"/>
          <p:cNvSpPr/>
          <p:nvPr/>
        </p:nvSpPr>
        <p:spPr>
          <a:xfrm>
            <a:off x="7315200" y="5806440"/>
            <a:ext cx="1371600" cy="274320"/>
          </a:xfrm>
          <a:prstGeom prst="rect">
            <a:avLst/>
          </a:prstGeom>
          <a:noFill/>
          <a:ln/>
        </p:spPr>
        <p:txBody>
          <a:bodyPr wrap="square" lIns="0" tIns="0" rIns="0" bIns="0" rtlCol="0" anchor="ctr"/>
          <a:lstStyle/>
          <a:p>
            <a:pPr marL="0" indent="0" algn="ctr">
              <a:buNone/>
            </a:pPr>
            <a:r>
              <a:rPr lang="en-US" sz="1400" b="1" dirty="0">
                <a:solidFill>
                  <a:srgbClr val="DC2626"/>
                </a:solidFill>
                <a:latin typeface="Courier New" pitchFamily="34" charset="0"/>
                <a:ea typeface="Courier New" pitchFamily="34" charset="-122"/>
                <a:cs typeface="Courier New" pitchFamily="34" charset="-120"/>
              </a:rPr>
              <a:t>exception/</a:t>
            </a:r>
            <a:endParaRPr lang="en-US" sz="1400" dirty="0"/>
          </a:p>
        </p:txBody>
      </p:sp>
      <p:sp>
        <p:nvSpPr>
          <p:cNvPr id="32" name="Slide Number Placeholder 0"/>
          <p:cNvSpPr>
            <a:spLocks noGrp="1"/>
          </p:cNvSpPr>
          <p:nvPr>
            <p:ph type="sldNum" sz="quarter" idx="4294967295"/>
          </p:nvPr>
        </p:nvSpPr>
        <p:spPr>
          <a:xfrm>
            <a:off x="11384280" y="6473952"/>
            <a:ext cx="384048"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latin typeface="Arial"/>
                <a:ea typeface="Arial"/>
                <a:cs typeface="Aria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02920" y="310896"/>
            <a:ext cx="11064240" cy="475488"/>
          </a:xfrm>
          <a:prstGeom prst="rect">
            <a:avLst/>
          </a:prstGeom>
          <a:noFill/>
          <a:ln/>
        </p:spPr>
        <p:txBody>
          <a:bodyPr wrap="square" lIns="0" tIns="0" rIns="0" bIns="0" rtlCol="0" anchor="ctr">
            <a:normAutofit/>
          </a:bodyPr>
          <a:lstStyle/>
          <a:p>
            <a:pPr marL="0" indent="0">
              <a:buNone/>
            </a:pPr>
            <a:r>
              <a:rPr lang="en-US" sz="2700" b="1" dirty="0">
                <a:solidFill>
                  <a:srgbClr val="1F2937"/>
                </a:solidFill>
                <a:latin typeface="Arial" pitchFamily="34" charset="0"/>
                <a:ea typeface="Arial" pitchFamily="34" charset="-122"/>
                <a:cs typeface="Arial" pitchFamily="34" charset="-120"/>
              </a:rPr>
              <a:t>One-slide memory map</a:t>
            </a:r>
            <a:endParaRPr lang="en-US" sz="2700" dirty="0"/>
          </a:p>
        </p:txBody>
      </p:sp>
      <p:sp>
        <p:nvSpPr>
          <p:cNvPr id="3" name="Text 1"/>
          <p:cNvSpPr/>
          <p:nvPr/>
        </p:nvSpPr>
        <p:spPr>
          <a:xfrm>
            <a:off x="530352" y="804672"/>
            <a:ext cx="10881360" cy="310896"/>
          </a:xfrm>
          <a:prstGeom prst="rect">
            <a:avLst/>
          </a:prstGeom>
          <a:noFill/>
          <a:ln/>
        </p:spPr>
        <p:txBody>
          <a:bodyPr wrap="square" lIns="0" tIns="0" rIns="0" bIns="0" rtlCol="0" anchor="ctr">
            <a:normAutofit/>
          </a:bodyPr>
          <a:lstStyle/>
          <a:p>
            <a:pPr marL="0" indent="0">
              <a:buNone/>
            </a:pPr>
            <a:r>
              <a:rPr lang="en-US" sz="1250" dirty="0">
                <a:solidFill>
                  <a:srgbClr val="64748B"/>
                </a:solidFill>
                <a:latin typeface="Arial" pitchFamily="34" charset="0"/>
                <a:ea typeface="Arial" pitchFamily="34" charset="-122"/>
                <a:cs typeface="Arial" pitchFamily="34" charset="-120"/>
              </a:rPr>
              <a:t>The whole architecture reduced to the essentials</a:t>
            </a:r>
            <a:endParaRPr lang="en-US" sz="1250" dirty="0"/>
          </a:p>
        </p:txBody>
      </p:sp>
      <p:sp>
        <p:nvSpPr>
          <p:cNvPr id="4" name="Shape 2"/>
          <p:cNvSpPr/>
          <p:nvPr/>
        </p:nvSpPr>
        <p:spPr>
          <a:xfrm>
            <a:off x="548640" y="2148840"/>
            <a:ext cx="1508760" cy="658368"/>
          </a:xfrm>
          <a:prstGeom prst="roundRect">
            <a:avLst>
              <a:gd name="adj" fmla="val 6944"/>
            </a:avLst>
          </a:prstGeom>
          <a:solidFill>
            <a:srgbClr val="EAF2FF"/>
          </a:solidFill>
          <a:ln w="12700">
            <a:solidFill>
              <a:srgbClr val="B9D1FF"/>
            </a:solidFill>
            <a:prstDash val="solid"/>
          </a:ln>
        </p:spPr>
      </p:sp>
      <p:sp>
        <p:nvSpPr>
          <p:cNvPr id="5" name="Text 3"/>
          <p:cNvSpPr/>
          <p:nvPr/>
        </p:nvSpPr>
        <p:spPr>
          <a:xfrm>
            <a:off x="612648" y="2194560"/>
            <a:ext cx="1380744" cy="566928"/>
          </a:xfrm>
          <a:prstGeom prst="rect">
            <a:avLst/>
          </a:prstGeom>
          <a:noFill/>
          <a:ln/>
        </p:spPr>
        <p:txBody>
          <a:bodyPr wrap="square" lIns="254" tIns="254" rIns="254" bIns="254" rtlCol="0" anchor="ctr">
            <a:normAutofit/>
          </a:bodyPr>
          <a:lstStyle/>
          <a:p>
            <a:pPr marL="0" indent="0" algn="ctr">
              <a:buNone/>
            </a:pPr>
            <a:r>
              <a:rPr lang="en-US" sz="1400" b="1" dirty="0">
                <a:solidFill>
                  <a:srgbClr val="2563EB"/>
                </a:solidFill>
                <a:latin typeface="Arial" pitchFamily="34" charset="0"/>
                <a:ea typeface="Arial" pitchFamily="34" charset="-122"/>
                <a:cs typeface="Arial" pitchFamily="34" charset="-120"/>
              </a:rPr>
              <a:t>Client</a:t>
            </a:r>
            <a:endParaRPr lang="en-US" sz="1400" dirty="0"/>
          </a:p>
        </p:txBody>
      </p:sp>
      <p:sp>
        <p:nvSpPr>
          <p:cNvPr id="6" name="Shape 4"/>
          <p:cNvSpPr/>
          <p:nvPr/>
        </p:nvSpPr>
        <p:spPr>
          <a:xfrm>
            <a:off x="2103120" y="2487168"/>
            <a:ext cx="640080" cy="0"/>
          </a:xfrm>
          <a:prstGeom prst="line">
            <a:avLst/>
          </a:prstGeom>
          <a:noFill/>
          <a:ln w="22860">
            <a:solidFill>
              <a:srgbClr val="64748B"/>
            </a:solidFill>
            <a:prstDash val="solid"/>
            <a:tailEnd type="triangle"/>
          </a:ln>
        </p:spPr>
      </p:sp>
      <p:sp>
        <p:nvSpPr>
          <p:cNvPr id="7" name="Shape 5"/>
          <p:cNvSpPr/>
          <p:nvPr/>
        </p:nvSpPr>
        <p:spPr>
          <a:xfrm>
            <a:off x="2743200" y="2148840"/>
            <a:ext cx="1600200" cy="658368"/>
          </a:xfrm>
          <a:prstGeom prst="roundRect">
            <a:avLst>
              <a:gd name="adj" fmla="val 6944"/>
            </a:avLst>
          </a:prstGeom>
          <a:solidFill>
            <a:srgbClr val="EAF2FF"/>
          </a:solidFill>
          <a:ln w="12700">
            <a:solidFill>
              <a:srgbClr val="B9D1FF"/>
            </a:solidFill>
            <a:prstDash val="solid"/>
          </a:ln>
        </p:spPr>
      </p:sp>
      <p:sp>
        <p:nvSpPr>
          <p:cNvPr id="8" name="Text 6"/>
          <p:cNvSpPr/>
          <p:nvPr/>
        </p:nvSpPr>
        <p:spPr>
          <a:xfrm>
            <a:off x="2807208" y="2194560"/>
            <a:ext cx="1472184" cy="566928"/>
          </a:xfrm>
          <a:prstGeom prst="rect">
            <a:avLst/>
          </a:prstGeom>
          <a:noFill/>
          <a:ln/>
        </p:spPr>
        <p:txBody>
          <a:bodyPr wrap="square" lIns="254" tIns="254" rIns="254" bIns="254" rtlCol="0" anchor="ctr">
            <a:normAutofit/>
          </a:bodyPr>
          <a:lstStyle/>
          <a:p>
            <a:pPr marL="0" indent="0" algn="ctr">
              <a:buNone/>
            </a:pPr>
            <a:r>
              <a:rPr lang="en-US" sz="1400" b="1" dirty="0">
                <a:solidFill>
                  <a:srgbClr val="2563EB"/>
                </a:solidFill>
                <a:latin typeface="Arial" pitchFamily="34" charset="0"/>
                <a:ea typeface="Arial" pitchFamily="34" charset="-122"/>
                <a:cs typeface="Arial" pitchFamily="34" charset="-120"/>
              </a:rPr>
              <a:t>Controller</a:t>
            </a:r>
            <a:endParaRPr lang="en-US" sz="1400" dirty="0"/>
          </a:p>
        </p:txBody>
      </p:sp>
      <p:sp>
        <p:nvSpPr>
          <p:cNvPr id="9" name="Shape 7"/>
          <p:cNvSpPr/>
          <p:nvPr/>
        </p:nvSpPr>
        <p:spPr>
          <a:xfrm>
            <a:off x="4389120" y="2487168"/>
            <a:ext cx="640080" cy="0"/>
          </a:xfrm>
          <a:prstGeom prst="line">
            <a:avLst/>
          </a:prstGeom>
          <a:noFill/>
          <a:ln w="22860">
            <a:solidFill>
              <a:srgbClr val="64748B"/>
            </a:solidFill>
            <a:prstDash val="solid"/>
            <a:tailEnd type="triangle"/>
          </a:ln>
        </p:spPr>
      </p:sp>
      <p:sp>
        <p:nvSpPr>
          <p:cNvPr id="10" name="Shape 8"/>
          <p:cNvSpPr/>
          <p:nvPr/>
        </p:nvSpPr>
        <p:spPr>
          <a:xfrm>
            <a:off x="5029200" y="2148840"/>
            <a:ext cx="1600200" cy="658368"/>
          </a:xfrm>
          <a:prstGeom prst="roundRect">
            <a:avLst>
              <a:gd name="adj" fmla="val 6944"/>
            </a:avLst>
          </a:prstGeom>
          <a:solidFill>
            <a:srgbClr val="EEF7E8"/>
          </a:solidFill>
          <a:ln w="12700">
            <a:solidFill>
              <a:srgbClr val="A8D98E"/>
            </a:solidFill>
            <a:prstDash val="solid"/>
          </a:ln>
        </p:spPr>
      </p:sp>
      <p:sp>
        <p:nvSpPr>
          <p:cNvPr id="11" name="Text 9"/>
          <p:cNvSpPr/>
          <p:nvPr/>
        </p:nvSpPr>
        <p:spPr>
          <a:xfrm>
            <a:off x="5093208" y="2194560"/>
            <a:ext cx="1472184" cy="566928"/>
          </a:xfrm>
          <a:prstGeom prst="rect">
            <a:avLst/>
          </a:prstGeom>
          <a:noFill/>
          <a:ln/>
        </p:spPr>
        <p:txBody>
          <a:bodyPr wrap="square" lIns="254" tIns="254" rIns="254" bIns="254" rtlCol="0" anchor="ctr">
            <a:normAutofit/>
          </a:bodyPr>
          <a:lstStyle/>
          <a:p>
            <a:pPr marL="0" indent="0" algn="ctr">
              <a:buNone/>
            </a:pPr>
            <a:r>
              <a:rPr lang="en-US" sz="1400" b="1" dirty="0">
                <a:solidFill>
                  <a:srgbClr val="3E7D20"/>
                </a:solidFill>
                <a:latin typeface="Arial" pitchFamily="34" charset="0"/>
                <a:ea typeface="Arial" pitchFamily="34" charset="-122"/>
                <a:cs typeface="Arial" pitchFamily="34" charset="-120"/>
              </a:rPr>
              <a:t>Service</a:t>
            </a:r>
            <a:endParaRPr lang="en-US" sz="1400" dirty="0"/>
          </a:p>
        </p:txBody>
      </p:sp>
      <p:sp>
        <p:nvSpPr>
          <p:cNvPr id="12" name="Shape 10"/>
          <p:cNvSpPr/>
          <p:nvPr/>
        </p:nvSpPr>
        <p:spPr>
          <a:xfrm>
            <a:off x="6675120" y="2487168"/>
            <a:ext cx="640080" cy="0"/>
          </a:xfrm>
          <a:prstGeom prst="line">
            <a:avLst/>
          </a:prstGeom>
          <a:noFill/>
          <a:ln w="22860">
            <a:solidFill>
              <a:srgbClr val="64748B"/>
            </a:solidFill>
            <a:prstDash val="solid"/>
            <a:tailEnd type="triangle"/>
          </a:ln>
        </p:spPr>
      </p:sp>
      <p:sp>
        <p:nvSpPr>
          <p:cNvPr id="13" name="Shape 11"/>
          <p:cNvSpPr/>
          <p:nvPr/>
        </p:nvSpPr>
        <p:spPr>
          <a:xfrm>
            <a:off x="7315200" y="2148840"/>
            <a:ext cx="1600200" cy="658368"/>
          </a:xfrm>
          <a:prstGeom prst="roundRect">
            <a:avLst>
              <a:gd name="adj" fmla="val 6944"/>
            </a:avLst>
          </a:prstGeom>
          <a:solidFill>
            <a:srgbClr val="E6F7F4"/>
          </a:solidFill>
          <a:ln w="12700">
            <a:solidFill>
              <a:srgbClr val="B9E8DF"/>
            </a:solidFill>
            <a:prstDash val="solid"/>
          </a:ln>
        </p:spPr>
      </p:sp>
      <p:sp>
        <p:nvSpPr>
          <p:cNvPr id="14" name="Text 12"/>
          <p:cNvSpPr/>
          <p:nvPr/>
        </p:nvSpPr>
        <p:spPr>
          <a:xfrm>
            <a:off x="7379208" y="2194560"/>
            <a:ext cx="1472184" cy="566928"/>
          </a:xfrm>
          <a:prstGeom prst="rect">
            <a:avLst/>
          </a:prstGeom>
          <a:noFill/>
          <a:ln/>
        </p:spPr>
        <p:txBody>
          <a:bodyPr wrap="square" lIns="254" tIns="254" rIns="254" bIns="254" rtlCol="0" anchor="ctr">
            <a:normAutofit/>
          </a:bodyPr>
          <a:lstStyle/>
          <a:p>
            <a:pPr marL="0" indent="0" algn="ctr">
              <a:buNone/>
            </a:pPr>
            <a:r>
              <a:rPr lang="en-US" sz="1400" b="1" dirty="0">
                <a:solidFill>
                  <a:srgbClr val="0F766E"/>
                </a:solidFill>
                <a:latin typeface="Arial" pitchFamily="34" charset="0"/>
                <a:ea typeface="Arial" pitchFamily="34" charset="-122"/>
                <a:cs typeface="Arial" pitchFamily="34" charset="-120"/>
              </a:rPr>
              <a:t>Repository</a:t>
            </a:r>
            <a:endParaRPr lang="en-US" sz="1400" dirty="0"/>
          </a:p>
        </p:txBody>
      </p:sp>
      <p:sp>
        <p:nvSpPr>
          <p:cNvPr id="15" name="Shape 13"/>
          <p:cNvSpPr/>
          <p:nvPr/>
        </p:nvSpPr>
        <p:spPr>
          <a:xfrm>
            <a:off x="8961120" y="2487168"/>
            <a:ext cx="640080" cy="0"/>
          </a:xfrm>
          <a:prstGeom prst="line">
            <a:avLst/>
          </a:prstGeom>
          <a:noFill/>
          <a:ln w="22860">
            <a:solidFill>
              <a:srgbClr val="64748B"/>
            </a:solidFill>
            <a:prstDash val="solid"/>
            <a:tailEnd type="triangle"/>
          </a:ln>
        </p:spPr>
      </p:sp>
      <p:sp>
        <p:nvSpPr>
          <p:cNvPr id="16" name="Shape 14"/>
          <p:cNvSpPr/>
          <p:nvPr/>
        </p:nvSpPr>
        <p:spPr>
          <a:xfrm>
            <a:off x="9601200" y="2148840"/>
            <a:ext cx="1828800" cy="658368"/>
          </a:xfrm>
          <a:prstGeom prst="roundRect">
            <a:avLst>
              <a:gd name="adj" fmla="val 6944"/>
            </a:avLst>
          </a:prstGeom>
          <a:solidFill>
            <a:srgbClr val="FFF4DB"/>
          </a:solidFill>
          <a:ln w="12700">
            <a:solidFill>
              <a:srgbClr val="F0C36C"/>
            </a:solidFill>
            <a:prstDash val="solid"/>
          </a:ln>
        </p:spPr>
      </p:sp>
      <p:sp>
        <p:nvSpPr>
          <p:cNvPr id="17" name="Text 15"/>
          <p:cNvSpPr/>
          <p:nvPr/>
        </p:nvSpPr>
        <p:spPr>
          <a:xfrm>
            <a:off x="9665208" y="2194560"/>
            <a:ext cx="1700784" cy="566928"/>
          </a:xfrm>
          <a:prstGeom prst="rect">
            <a:avLst/>
          </a:prstGeom>
          <a:noFill/>
          <a:ln/>
        </p:spPr>
        <p:txBody>
          <a:bodyPr wrap="square" lIns="254" tIns="254" rIns="254" bIns="254" rtlCol="0" anchor="ctr">
            <a:normAutofit/>
          </a:bodyPr>
          <a:lstStyle/>
          <a:p>
            <a:pPr marL="0" indent="0" algn="ctr">
              <a:buNone/>
            </a:pPr>
            <a:r>
              <a:rPr lang="en-US" sz="1400" b="1" dirty="0">
                <a:solidFill>
                  <a:srgbClr val="A16207"/>
                </a:solidFill>
                <a:latin typeface="Arial" pitchFamily="34" charset="0"/>
                <a:ea typeface="Arial" pitchFamily="34" charset="-122"/>
                <a:cs typeface="Arial" pitchFamily="34" charset="-120"/>
              </a:rPr>
              <a:t>Database</a:t>
            </a:r>
            <a:endParaRPr lang="en-US" sz="1400" dirty="0"/>
          </a:p>
        </p:txBody>
      </p:sp>
      <p:sp>
        <p:nvSpPr>
          <p:cNvPr id="18" name="Shape 16"/>
          <p:cNvSpPr/>
          <p:nvPr/>
        </p:nvSpPr>
        <p:spPr>
          <a:xfrm>
            <a:off x="3886200" y="3749040"/>
            <a:ext cx="4480560" cy="640080"/>
          </a:xfrm>
          <a:prstGeom prst="roundRect">
            <a:avLst>
              <a:gd name="adj" fmla="val 7143"/>
            </a:avLst>
          </a:prstGeom>
          <a:solidFill>
            <a:srgbClr val="F4F8F1"/>
          </a:solidFill>
          <a:ln w="12700">
            <a:solidFill>
              <a:srgbClr val="A8D98E"/>
            </a:solidFill>
            <a:prstDash val="solid"/>
          </a:ln>
        </p:spPr>
      </p:sp>
      <p:sp>
        <p:nvSpPr>
          <p:cNvPr id="19" name="Text 17"/>
          <p:cNvSpPr/>
          <p:nvPr/>
        </p:nvSpPr>
        <p:spPr>
          <a:xfrm>
            <a:off x="3950208" y="3794760"/>
            <a:ext cx="4352544" cy="548640"/>
          </a:xfrm>
          <a:prstGeom prst="rect">
            <a:avLst/>
          </a:prstGeom>
          <a:noFill/>
          <a:ln/>
        </p:spPr>
        <p:txBody>
          <a:bodyPr wrap="square" lIns="254" tIns="254" rIns="254" bIns="254" rtlCol="0" anchor="ctr">
            <a:normAutofit/>
          </a:bodyPr>
          <a:lstStyle/>
          <a:p>
            <a:pPr marL="0" indent="0" algn="ctr">
              <a:buNone/>
            </a:pPr>
            <a:r>
              <a:rPr lang="en-US" sz="1700" b="1" dirty="0">
                <a:solidFill>
                  <a:srgbClr val="3E7D20"/>
                </a:solidFill>
                <a:latin typeface="Arial" pitchFamily="34" charset="0"/>
                <a:ea typeface="Arial" pitchFamily="34" charset="-122"/>
                <a:cs typeface="Arial" pitchFamily="34" charset="-120"/>
              </a:rPr>
              <a:t>Spring IoC Container / ApplicationContext</a:t>
            </a:r>
            <a:endParaRPr lang="en-US" sz="1700" dirty="0"/>
          </a:p>
        </p:txBody>
      </p:sp>
      <p:sp>
        <p:nvSpPr>
          <p:cNvPr id="20" name="Shape 18"/>
          <p:cNvSpPr/>
          <p:nvPr/>
        </p:nvSpPr>
        <p:spPr>
          <a:xfrm>
            <a:off x="6126480" y="3657600"/>
            <a:ext cx="0" cy="0"/>
          </a:xfrm>
          <a:prstGeom prst="line">
            <a:avLst/>
          </a:prstGeom>
          <a:noFill/>
          <a:ln w="25400">
            <a:solidFill>
              <a:srgbClr val="6DB33F"/>
            </a:solidFill>
            <a:prstDash val="solid"/>
            <a:tailEnd type="triangle"/>
          </a:ln>
        </p:spPr>
      </p:sp>
      <p:sp>
        <p:nvSpPr>
          <p:cNvPr id="21" name="Shape 19"/>
          <p:cNvSpPr/>
          <p:nvPr/>
        </p:nvSpPr>
        <p:spPr>
          <a:xfrm>
            <a:off x="2011680" y="4892040"/>
            <a:ext cx="2194560" cy="548640"/>
          </a:xfrm>
          <a:prstGeom prst="roundRect">
            <a:avLst>
              <a:gd name="adj" fmla="val 8333"/>
            </a:avLst>
          </a:prstGeom>
          <a:solidFill>
            <a:srgbClr val="F2EBFF"/>
          </a:solidFill>
          <a:ln w="12700">
            <a:solidFill>
              <a:srgbClr val="D8C4FF"/>
            </a:solidFill>
            <a:prstDash val="solid"/>
          </a:ln>
        </p:spPr>
      </p:sp>
      <p:sp>
        <p:nvSpPr>
          <p:cNvPr id="22" name="Text 20"/>
          <p:cNvSpPr/>
          <p:nvPr/>
        </p:nvSpPr>
        <p:spPr>
          <a:xfrm>
            <a:off x="2075688" y="4937760"/>
            <a:ext cx="2066544" cy="457200"/>
          </a:xfrm>
          <a:prstGeom prst="rect">
            <a:avLst/>
          </a:prstGeom>
          <a:noFill/>
          <a:ln/>
        </p:spPr>
        <p:txBody>
          <a:bodyPr wrap="square" lIns="254" tIns="254" rIns="254" bIns="254" rtlCol="0" anchor="ctr">
            <a:normAutofit/>
          </a:bodyPr>
          <a:lstStyle/>
          <a:p>
            <a:pPr marL="0" indent="0" algn="ctr">
              <a:buNone/>
            </a:pPr>
            <a:r>
              <a:rPr lang="en-US" sz="1300" b="1" dirty="0">
                <a:solidFill>
                  <a:srgbClr val="7C3AED"/>
                </a:solidFill>
                <a:latin typeface="Arial" pitchFamily="34" charset="0"/>
                <a:ea typeface="Arial" pitchFamily="34" charset="-122"/>
                <a:cs typeface="Arial" pitchFamily="34" charset="-120"/>
              </a:rPr>
              <a:t>pom.xml → dependencies</a:t>
            </a:r>
            <a:endParaRPr lang="en-US" sz="1300" dirty="0"/>
          </a:p>
        </p:txBody>
      </p:sp>
      <p:sp>
        <p:nvSpPr>
          <p:cNvPr id="23" name="Shape 21"/>
          <p:cNvSpPr/>
          <p:nvPr/>
        </p:nvSpPr>
        <p:spPr>
          <a:xfrm>
            <a:off x="4617720" y="4892040"/>
            <a:ext cx="2926080" cy="548640"/>
          </a:xfrm>
          <a:prstGeom prst="roundRect">
            <a:avLst>
              <a:gd name="adj" fmla="val 8333"/>
            </a:avLst>
          </a:prstGeom>
          <a:solidFill>
            <a:srgbClr val="EAF2FF"/>
          </a:solidFill>
          <a:ln w="12700">
            <a:solidFill>
              <a:srgbClr val="B9D1FF"/>
            </a:solidFill>
            <a:prstDash val="solid"/>
          </a:ln>
        </p:spPr>
      </p:sp>
      <p:sp>
        <p:nvSpPr>
          <p:cNvPr id="24" name="Text 22"/>
          <p:cNvSpPr/>
          <p:nvPr/>
        </p:nvSpPr>
        <p:spPr>
          <a:xfrm>
            <a:off x="4681728" y="4937760"/>
            <a:ext cx="2798064" cy="457200"/>
          </a:xfrm>
          <a:prstGeom prst="rect">
            <a:avLst/>
          </a:prstGeom>
          <a:noFill/>
          <a:ln/>
        </p:spPr>
        <p:txBody>
          <a:bodyPr wrap="square" lIns="254" tIns="254" rIns="254" bIns="254" rtlCol="0" anchor="ctr">
            <a:normAutofit/>
          </a:bodyPr>
          <a:lstStyle/>
          <a:p>
            <a:pPr marL="0" indent="0" algn="ctr">
              <a:buNone/>
            </a:pPr>
            <a:r>
              <a:rPr lang="en-US" sz="1300" b="1" dirty="0">
                <a:solidFill>
                  <a:srgbClr val="2563EB"/>
                </a:solidFill>
                <a:latin typeface="Arial" pitchFamily="34" charset="0"/>
                <a:ea typeface="Arial" pitchFamily="34" charset="-122"/>
                <a:cs typeface="Arial" pitchFamily="34" charset="-120"/>
              </a:rPr>
              <a:t>application.properties → config</a:t>
            </a:r>
            <a:endParaRPr lang="en-US" sz="1300" dirty="0"/>
          </a:p>
        </p:txBody>
      </p:sp>
      <p:sp>
        <p:nvSpPr>
          <p:cNvPr id="25" name="Shape 23"/>
          <p:cNvSpPr/>
          <p:nvPr/>
        </p:nvSpPr>
        <p:spPr>
          <a:xfrm>
            <a:off x="7955280" y="4892040"/>
            <a:ext cx="2194560" cy="548640"/>
          </a:xfrm>
          <a:prstGeom prst="roundRect">
            <a:avLst>
              <a:gd name="adj" fmla="val 8333"/>
            </a:avLst>
          </a:prstGeom>
          <a:solidFill>
            <a:srgbClr val="FFF4DB"/>
          </a:solidFill>
          <a:ln w="12700">
            <a:solidFill>
              <a:srgbClr val="F0C36C"/>
            </a:solidFill>
            <a:prstDash val="solid"/>
          </a:ln>
        </p:spPr>
      </p:sp>
      <p:sp>
        <p:nvSpPr>
          <p:cNvPr id="26" name="Text 24"/>
          <p:cNvSpPr/>
          <p:nvPr/>
        </p:nvSpPr>
        <p:spPr>
          <a:xfrm>
            <a:off x="8019288" y="4937760"/>
            <a:ext cx="2066544" cy="457200"/>
          </a:xfrm>
          <a:prstGeom prst="rect">
            <a:avLst/>
          </a:prstGeom>
          <a:noFill/>
          <a:ln/>
        </p:spPr>
        <p:txBody>
          <a:bodyPr wrap="square" lIns="254" tIns="254" rIns="254" bIns="254" rtlCol="0" anchor="ctr">
            <a:normAutofit/>
          </a:bodyPr>
          <a:lstStyle/>
          <a:p>
            <a:pPr marL="0" indent="0" algn="ctr">
              <a:buNone/>
            </a:pPr>
            <a:r>
              <a:rPr lang="en-US" sz="1300" b="1" dirty="0">
                <a:solidFill>
                  <a:srgbClr val="A16207"/>
                </a:solidFill>
                <a:latin typeface="Arial" pitchFamily="34" charset="0"/>
                <a:ea typeface="Arial" pitchFamily="34" charset="-122"/>
                <a:cs typeface="Arial" pitchFamily="34" charset="-120"/>
              </a:rPr>
              <a:t>resources/ → classpath</a:t>
            </a:r>
            <a:endParaRPr lang="en-US" sz="1300" dirty="0"/>
          </a:p>
        </p:txBody>
      </p:sp>
      <p:sp>
        <p:nvSpPr>
          <p:cNvPr id="27" name="Text 25"/>
          <p:cNvSpPr/>
          <p:nvPr/>
        </p:nvSpPr>
        <p:spPr>
          <a:xfrm>
            <a:off x="1097280" y="5806440"/>
            <a:ext cx="9966960" cy="420624"/>
          </a:xfrm>
          <a:prstGeom prst="rect">
            <a:avLst/>
          </a:prstGeom>
          <a:noFill/>
          <a:ln/>
        </p:spPr>
        <p:txBody>
          <a:bodyPr wrap="square" lIns="0" tIns="0" rIns="0" bIns="0" rtlCol="0" anchor="ctr">
            <a:normAutofit/>
          </a:bodyPr>
          <a:lstStyle/>
          <a:p>
            <a:pPr marL="0" indent="0" algn="ctr">
              <a:buNone/>
            </a:pPr>
            <a:r>
              <a:rPr lang="en-US" sz="1560" b="1" dirty="0">
                <a:solidFill>
                  <a:srgbClr val="1F2937"/>
                </a:solidFill>
              </a:rPr>
              <a:t>Main class starts Boot → Boot creates the Spring container → beans are discovered/wired → requests flow through the layers.</a:t>
            </a:r>
            <a:endParaRPr lang="en-US" sz="1560" dirty="0"/>
          </a:p>
        </p:txBody>
      </p:sp>
      <p:sp>
        <p:nvSpPr>
          <p:cNvPr id="28" name="Slide Number Placeholder 0"/>
          <p:cNvSpPr>
            <a:spLocks noGrp="1"/>
          </p:cNvSpPr>
          <p:nvPr>
            <p:ph type="sldNum" sz="quarter" idx="4294967295"/>
          </p:nvPr>
        </p:nvSpPr>
        <p:spPr>
          <a:xfrm>
            <a:off x="11384280" y="6473952"/>
            <a:ext cx="384048"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latin typeface="Arial"/>
                <a:ea typeface="Arial"/>
                <a:cs typeface="Arial"/>
              </a:defRPr>
            </a:lvl1pPr>
          </a:lstStyle>
          <a:p>
            <a:pPr algn="r"/>
            <a:fld id="{F7021451-1387-4CA6-816F-3879F97B5CBC}" type="slidenum">
              <a:rPr lang="en-US" b="0"/>
              <a:t>19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TotalTime>
  <Words>2469</Words>
  <Application>Microsoft Office PowerPoint</Application>
  <PresentationFormat>Widescreen</PresentationFormat>
  <Paragraphs>401</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Spring Framework &amp; Spring Boot — Architecture, Folder Structure &amp; File-by-File Guide</dc:title>
  <dc:subject>Spring Framework and Spring Boot architecture and folder structure</dc:subject>
  <dc:creator>OpenAI</dc:creator>
  <cp:lastModifiedBy>Geetha eswaramurthi</cp:lastModifiedBy>
  <cp:revision>6</cp:revision>
  <dcterms:created xsi:type="dcterms:W3CDTF">2026-09-15T10:46:38Z</dcterms:created>
  <dcterms:modified xsi:type="dcterms:W3CDTF">2026-09-15T11:27:55Z</dcterms:modified>
</cp:coreProperties>
</file>